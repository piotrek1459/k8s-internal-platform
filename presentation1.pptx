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and central idea</a:t>
            </a:r>
          </a:p>
          <a:p>
            <a:r>
              <a:t>Target speaking time: 35 seconds.</a:t>
            </a:r>
          </a:p>
          <a:p/>
          <a:p>
            <a:r>
              <a:t>This project concerns the design and implementation of a Kubernetes platform for containerized application deployment. Its central idea is to make applications easier to operate on infrastructure controlled by an administrator. That infrastructure could be a small Raspberry Pi, a rented Linux server, or an organisation's internal environment. The presentation explains the problem, compares existing approaches, and describes the proposed architecture and its evaluation.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Problem and objective</a:t>
            </a:r>
          </a:p>
          <a:p>
            <a:r>
              <a:t>Target speaking time: 65 seconds.</a:t>
            </a:r>
          </a:p>
          <a:p/>
          <a:p>
            <a:r>
              <a:t>A container image packages an application, but it does not complete its deployment. The operator still has to configure the listening port, supply variables and credentials, arrange network access, and decide how health will be checked. The work continues after the first successful start: an update can fail, storage can fill, and the previous application version may need to be restored. These tasks become repetitive when they are performed through individual commands and configuration files. The objective is therefore to provide a consistent workflow for routine application operations. Infrastructure control remains with the administrator, while the platform handles the supported deployment steps and presents the outcome in an understandable form.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cases and visibility</a:t>
            </a:r>
          </a:p>
          <a:p>
            <a:r>
              <a:t>Target speaking time: 70 seconds.</a:t>
            </a:r>
          </a:p>
          <a:p/>
          <a:p>
            <a:r>
              <a:t>Three settings illustrate the intended use. The first is an institution that wants applications to run within infrastructure it controls. A bank's internal development or testing network is an example: an internal tool may have no reason to be publicly reachable. This is a potential pilot scenario, rather than a claim that the prototype is ready for production banking. The second setting is personal hardware. The reference device is a Raspberry Pi 5 with eight gigabytes of memory, thirty-two gigabytes of storage, and a sixty-four-bit operating system. It could host private home applications or an explicitly published service. The third setting is a Linux VPS. Renting the host does not require publishing every application. Hosting location and network visibility are separate decisions, and management access should remain restricted in each case.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of the art</a:t>
            </a:r>
          </a:p>
          <a:p>
            <a:r>
              <a:t>Target speaking time: 85 seconds.</a:t>
            </a:r>
          </a:p>
          <a:p/>
          <a:p>
            <a:r>
              <a:t>The existing landscape already contains strong solutions. Kubernetes supplies the orchestration mechanisms: desired state, workload scheduling, service discovery, scaling, and recovery. K3s packages Kubernetes and supporting components for smaller installations. Coolify focuses on delivering applications to servers controlled by the operator, including deployments from prebuilt images. Portainer provides visual management of container environments and already supports form-based Kubernetes application deployment. OpenShift provides a broader enterprise application platform built around Kubernetes. These products overlap with the proposed project's features, so self-hosting or a graphical deployment form cannot be presented as a new invention. The relevant question is how much of the operating environment is exposed to the administrator and which workflow the platform deliberately supports. This thesis selects a narrower scope: a small installation, one administrator, and a controlled application lifecycle that can be implemented and evaluated in detail.</a:t>
            </a:r>
          </a:p>
          <a:p/>
          <a:p>
            <a:r>
              <a:t>Sources:</a:t>
            </a:r>
          </a:p>
          <a:p>
            <a:r>
              <a:t>https://kubernetes.io/docs/concepts/overview/</a:t>
            </a:r>
          </a:p>
          <a:p>
            <a:r>
              <a:t>https://docs.k3s.io/</a:t>
            </a:r>
          </a:p>
          <a:p>
            <a:r>
              <a:t>https://coolify.io/docs/core/what-is-coolify</a:t>
            </a:r>
          </a:p>
          <a:p>
            <a:r>
              <a:t>https://docs.portainer.io/user/kubernetes/applications/add</a:t>
            </a:r>
          </a:p>
          <a:p>
            <a:r>
              <a:t>https://www.redhat.com/en/technologies/cloud-computing/openshift/container-platform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is different</a:t>
            </a:r>
          </a:p>
          <a:p>
            <a:r>
              <a:t>Target speaking time: 75 seconds.</a:t>
            </a:r>
          </a:p>
          <a:p/>
          <a:p>
            <a:r>
              <a:t>The differentiation is the combination of a deliberately limited scope and a measurable implementation. The initial product serves one administrator operating one cluster. Applications begin as existing container images, which avoids adding a source-code build service to the first version. Routine actions are expressed as application operations rather than requiring the administrator to edit Kubernetes resources. Each operation is intended to retain its inputs, status, and resulting revision, so recovery can be verified rather than inferred from a successful command. The Raspberry Pi provides a concrete constraint for evaluating memory, storage, and deployment behaviour. Existing platforms offer overlapping capabilities; the thesis contribution is to implement this particular design, explain its trade-offs, and measure whether it improves the selected workflow compared with the same deployment performed manually.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user experience</a:t>
            </a:r>
          </a:p>
          <a:p>
            <a:r>
              <a:t>Target speaking time: 65 seconds.</a:t>
            </a:r>
          </a:p>
          <a:p/>
          <a:p>
            <a:r>
              <a:t>The intended experience begins with installation on a supported Linux host. After administrator setup, the main input is a container image reference together with the application's port, health endpoint, and required configuration. The platform validates that request, applies the supported application chart, and observes whether the workload becomes ready. The result is an application address and an understandable status, with logs and deployment history available for investigation. The same interface then supports updates, manual replica changes for compatible applications, and recovery. This workflow is planned product behaviour. It does not remove application-specific responsibilities such as choosing suitable images, managing database migrations, or providing sufficient hardware. It reduces repeated infrastructure work within the explicitly supported application contract.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Single-cluster architecture</a:t>
            </a:r>
          </a:p>
          <a:p>
            <a:r>
              <a:t>Target speaking time: 80 seconds.</a:t>
            </a:r>
          </a:p>
          <a:p/>
          <a:p>
            <a:r>
              <a:t>Both the platform and the deployed applications run in the same K3s cluster. The reference topology contains one Linux host, so that machine runs the control plane as well as the workloads. The platform resides in its own namespace. Its Go process serves the user interface and API, executes deployment operations through the Helm library, and stores metadata in SQLite on persistent storage. Managed applications occupy another namespace, with a separate set of resources for each release. The blue path represents management: the broker asks the Kubernetes API to create or change workloads and observes their state. The green path represents application traffic: users reach a permitted ingress route, then the application Service and Pods. The broker is not in this traffic path. Existing applications should continue during broker unavailability if their dependencies remain healthy. However, namespaces do not provide physical isolation, and a failure of the single host affects the shared installation.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Deployment and recovery workflow</a:t>
            </a:r>
          </a:p>
          <a:p>
            <a:r>
              <a:t>Target speaking time: 70 seconds.</a:t>
            </a:r>
          </a:p>
          <a:p/>
          <a:p>
            <a:r>
              <a:t>A deployment is modelled as an operation with a recorded outcome. The administrator submits an image and configuration. Validation checks whether the request is supported, and the operation is persisted before execution begins. The worker applies the desired resources and observes the resulting workload rather than treating request acceptance as completion. The version sequence illustrates why this matters. Version one is deployed, version two is a healthy update, and version three deliberately fails readiness. Healthy version-two Pods can continue serving while that update fails. Recovery must therefore verify more than an HTTP response containing version two. It must also confirm the restored desired state, the release outcome, and removal of the failed Pods. That distinction is already reflected in the local baseline tests; automating the complete workflow through the broker remains the next implementation stage.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Network exposure and responsibilities</a:t>
            </a:r>
          </a:p>
          <a:p>
            <a:r>
              <a:t>Target speaking time: 60 seconds.</a:t>
            </a:r>
          </a:p>
          <a:p/>
          <a:p>
            <a:r>
              <a:t>The operating model begins with private access. Administrators connect through a restricted network path, such as a LAN or VPN, and internal applications can remain private. Public access is an additional choice for a selected application, with an explicit hostname and HTTPS configuration. The management interface should remain outside that public routing path. This separation matters on a home network and on a VPS with a public address. It requires actual network restrictions, not merely a private-looking hostname. The planned controls also include scoped permissions, protected credentials, and backup and recovery procedures. An institution would have further requirements, including identity integration, availability objectives, and its own security approval. The project can demonstrate the design principles, while production institutional adoption requires additional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Current implementation and next stages</a:t>
            </a:r>
          </a:p>
          <a:p>
            <a:r>
              <a:t>Target speaking time: 65 seconds.</a:t>
            </a:r>
          </a:p>
          <a:p/>
          <a:p>
            <a:r>
              <a:t>The project already has a verified local foundation. A small Go application provides healthy versions and a deliberately unhealthy update. A reusable Helm chart deploys the application, and the test workflow exercises installation, a healthy update, a failed rollout, explicit rollback, and route isolation. The most recent run also verified deployment on a non-default application port and strengthened the recovery assertions. This evidence comes from a local Docker-based K3s cluster. It does not establish Raspberry Pi performance or completion of the full platform. The next stages are the Go API, durable deployment operations, administrator authentication, and the web interface. Application persistence, public HTTPS, installation releases, and validation on the target hardware follow the planned sequence.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Evaluation method</a:t>
            </a:r>
          </a:p>
          <a:p>
            <a:r>
              <a:t>Target speaking time: 70 seconds.</a:t>
            </a:r>
          </a:p>
          <a:p/>
          <a:p>
            <a:r>
              <a:t>Evaluation should establish whether the platform improves the selected workflow, rather than relying on the existence of a user interface. The comparison baseline is the same application deployed manually with Helm on the same hardware. Operator effort is measured using a defined step count and active operator time. Deployment measurements record the time to readiness, separating cached images from downloads. Failure experiments measure detection and recovery, including whether the desired version and healthy workload state are actually restored. CPU, memory, and disk use indicate the cost of running the platform alongside applications. Runs should be repeated, with component versions, configuration, hardware, and cache conditions recorded. Numerical acceptance targets will be established before the relevant evaluation runs. Existing single-run local results provide functional evidence, while the Raspberry Pi measurements are still to be collected.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message</a:t>
            </a:r>
          </a:p>
          <a:p>
            <a:r>
              <a:t>Target speaking time: 40 seconds.</a:t>
            </a:r>
          </a:p>
          <a:p/>
          <a:p>
            <a:r>
              <a:t>The goal is a practical application platform that makes supported deployment tasks easier while keeping infrastructure decisions with the administrator. It should support both private applications and deliberately published services, across small personal hardware and suitable Linux servers. Its value will be assessed through an implemented workflow and reproducible measurements. The immediate next step is to automate the verified lifecycle through the Go broker and administrator interface, then evaluate the complete experience on the reference hardware.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appendix</a:t>
            </a:r>
          </a:p>
          <a:p>
            <a:r>
              <a:t>Target speaking time: 0 seconds.</a:t>
            </a:r>
          </a:p>
          <a:p/>
          <a:p>
            <a:r>
              <a:t>Reference slide for questions and source checking; no additional speaking time is allocated.</a:t>
            </a:r>
          </a:p>
          <a:p/>
          <a:p>
            <a:r>
              <a:t>Sources:</a:t>
            </a:r>
          </a:p>
          <a:p>
            <a:r>
              <a:t>https://kubernetes.io/docs/concepts/overview/</a:t>
            </a:r>
          </a:p>
          <a:p>
            <a:r>
              <a:t>https://docs.k3s.io/</a:t>
            </a:r>
          </a:p>
          <a:p>
            <a:r>
              <a:t>https://coolify.io/docs/core/what-is-coolify</a:t>
            </a:r>
          </a:p>
          <a:p>
            <a:r>
              <a:t>https://docs.portainer.io/user/kubernetes/applications/add</a:t>
            </a:r>
          </a:p>
          <a:p>
            <a:r>
              <a:t>https://www.redhat.com/en/technologies/cloud-computing/openshift/container-platform</a:t>
            </a:r>
          </a:p>
          <a:p>
            <a:r>
              <a:t>https://docs.k3s.io/installation/requirements</a:t>
            </a:r>
          </a:p>
          <a:p>
            <a:r>
              <a:t>https://github.com/piotrek1459/k8s-internal-platform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kubernetes.io/docs/concepts/overview/" TargetMode="External"/><Relationship Id="rId3" Type="http://schemas.openxmlformats.org/officeDocument/2006/relationships/hyperlink" Target="https://docs.k3s.io/" TargetMode="External"/><Relationship Id="rId4" Type="http://schemas.openxmlformats.org/officeDocument/2006/relationships/hyperlink" Target="https://coolify.io/docs/core/what-is-coolify" TargetMode="External"/><Relationship Id="rId5" Type="http://schemas.openxmlformats.org/officeDocument/2006/relationships/hyperlink" Target="https://docs.portainer.io/user/kubernetes/applications/add" TargetMode="External"/><Relationship Id="rId6" Type="http://schemas.openxmlformats.org/officeDocument/2006/relationships/hyperlink" Target="https://www.redhat.com/en/technologies/cloud-computing/openshift/container-platform" TargetMode="External"/><Relationship Id="rId7" Type="http://schemas.openxmlformats.org/officeDocument/2006/relationships/hyperlink" Target="https://docs.k3s.io/installation/requirements" TargetMode="External"/><Relationship Id="rId8" Type="http://schemas.openxmlformats.org/officeDocument/2006/relationships/hyperlink" Target="https://github.com/piotrek1459/k8s-internal-platform" TargetMode="External"/><Relationship Id="rId9"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438"/>
        </a:solidFill>
        <a:effectLst/>
      </p:bgPr>
    </p:bg>
    <p:spTree>
      <p:nvGrpSpPr>
        <p:cNvPr id="1" name=""/>
        <p:cNvGrpSpPr/>
        <p:nvPr/>
      </p:nvGrpSpPr>
      <p:grpSpPr/>
      <p:sp>
        <p:nvSpPr>
          <p:cNvPr id="2" name="TextBox 1"/>
          <p:cNvSpPr txBox="1"/>
          <p:nvPr/>
        </p:nvSpPr>
        <p:spPr>
          <a:xfrm>
            <a:off x="566928" y="320040"/>
            <a:ext cx="10789920" cy="201168"/>
          </a:xfrm>
          <a:prstGeom prst="rect">
            <a:avLst/>
          </a:prstGeom>
          <a:noFill/>
        </p:spPr>
        <p:txBody>
          <a:bodyPr wrap="square" lIns="0" rIns="0" tIns="0" bIns="0" anchor="t">
            <a:spAutoFit/>
          </a:bodyPr>
          <a:lstStyle/>
          <a:p>
            <a:pPr algn="l">
              <a:lnSpc>
                <a:spcPct val="108000"/>
              </a:lnSpc>
              <a:spcBef>
                <a:spcPts val="0"/>
              </a:spcBef>
              <a:spcAft>
                <a:spcPts val="500"/>
              </a:spcAft>
            </a:pPr>
            <a:r>
              <a:rPr sz="1050" b="1">
                <a:solidFill>
                  <a:srgbClr val="67D4D1"/>
                </a:solidFill>
                <a:latin typeface="Arial"/>
              </a:rPr>
              <a:t>ENGINEERING THESIS · PROJECT OVERVIEW</a:t>
            </a:r>
          </a:p>
        </p:txBody>
      </p:sp>
      <p:sp>
        <p:nvSpPr>
          <p:cNvPr id="3" name="Rectangle 2"/>
          <p:cNvSpPr/>
          <p:nvPr/>
        </p:nvSpPr>
        <p:spPr>
          <a:xfrm>
            <a:off x="576072" y="6446520"/>
            <a:ext cx="11018520" cy="10972"/>
          </a:xfrm>
          <a:prstGeom prst="rect">
            <a:avLst/>
          </a:prstGeom>
          <a:solidFill>
            <a:srgbClr val="3A4E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6556248"/>
            <a:ext cx="8229600" cy="155448"/>
          </a:xfrm>
          <a:prstGeom prst="rect">
            <a:avLst/>
          </a:prstGeom>
          <a:noFill/>
        </p:spPr>
        <p:txBody>
          <a:bodyPr wrap="square" lIns="0" rIns="0" tIns="0" bIns="0" anchor="t">
            <a:spAutoFit/>
          </a:bodyPr>
          <a:lstStyle/>
          <a:p>
            <a:pPr algn="l">
              <a:lnSpc>
                <a:spcPct val="108000"/>
              </a:lnSpc>
              <a:spcBef>
                <a:spcPts val="0"/>
              </a:spcBef>
              <a:spcAft>
                <a:spcPts val="500"/>
              </a:spcAft>
            </a:pPr>
            <a:r>
              <a:rPr sz="850" b="0">
                <a:solidFill>
                  <a:srgbClr val="B9C9D9"/>
                </a:solidFill>
                <a:latin typeface="Arial"/>
              </a:rPr>
              <a:t>SELF-HOSTED KUBERNETES APPLICATION PLATFORM</a:t>
            </a:r>
          </a:p>
        </p:txBody>
      </p:sp>
      <p:sp>
        <p:nvSpPr>
          <p:cNvPr id="5" name="TextBox 4"/>
          <p:cNvSpPr txBox="1"/>
          <p:nvPr/>
        </p:nvSpPr>
        <p:spPr>
          <a:xfrm>
            <a:off x="11064240" y="6510528"/>
            <a:ext cx="502920" cy="228600"/>
          </a:xfrm>
          <a:prstGeom prst="rect">
            <a:avLst/>
          </a:prstGeom>
          <a:noFill/>
        </p:spPr>
        <p:txBody>
          <a:bodyPr wrap="square" lIns="0" rIns="0" tIns="0" bIns="0" anchor="t">
            <a:spAutoFit/>
          </a:bodyPr>
          <a:lstStyle/>
          <a:p>
            <a:pPr algn="r">
              <a:lnSpc>
                <a:spcPct val="108000"/>
              </a:lnSpc>
              <a:spcBef>
                <a:spcPts val="0"/>
              </a:spcBef>
              <a:spcAft>
                <a:spcPts val="500"/>
              </a:spcAft>
            </a:pPr>
            <a:r>
              <a:rPr sz="1200" b="0">
                <a:solidFill>
                  <a:srgbClr val="FFFFFF"/>
                </a:solidFill>
                <a:latin typeface="Arial"/>
              </a:rPr>
              <a:t>01</a:t>
            </a:r>
          </a:p>
        </p:txBody>
      </p:sp>
      <p:sp>
        <p:nvSpPr>
          <p:cNvPr id="6" name="TextBox 5"/>
          <p:cNvSpPr txBox="1"/>
          <p:nvPr/>
        </p:nvSpPr>
        <p:spPr>
          <a:xfrm>
            <a:off x="621792" y="1143000"/>
            <a:ext cx="10789920" cy="2423160"/>
          </a:xfrm>
          <a:prstGeom prst="rect">
            <a:avLst/>
          </a:prstGeom>
          <a:noFill/>
        </p:spPr>
        <p:txBody>
          <a:bodyPr wrap="square" lIns="0" rIns="0" tIns="0" bIns="0" anchor="t">
            <a:spAutoFit/>
          </a:bodyPr>
          <a:lstStyle/>
          <a:p>
            <a:pPr algn="l">
              <a:lnSpc>
                <a:spcPct val="108000"/>
              </a:lnSpc>
              <a:spcBef>
                <a:spcPts val="0"/>
              </a:spcBef>
              <a:spcAft>
                <a:spcPts val="500"/>
              </a:spcAft>
            </a:pPr>
            <a:r>
              <a:rPr sz="3800" b="1">
                <a:solidFill>
                  <a:srgbClr val="FFFFFF"/>
                </a:solidFill>
                <a:latin typeface="Arial"/>
              </a:rPr>
              <a:t>Design and implementation of</a:t>
            </a:r>
          </a:p>
          <a:p>
            <a:pPr algn="l">
              <a:lnSpc>
                <a:spcPct val="108000"/>
              </a:lnSpc>
              <a:spcBef>
                <a:spcPts val="0"/>
              </a:spcBef>
              <a:spcAft>
                <a:spcPts val="500"/>
              </a:spcAft>
            </a:pPr>
            <a:r>
              <a:rPr sz="3800" b="1">
                <a:solidFill>
                  <a:srgbClr val="FFFFFF"/>
                </a:solidFill>
                <a:latin typeface="Arial"/>
              </a:rPr>
              <a:t>Kubernetes platform for</a:t>
            </a:r>
          </a:p>
          <a:p>
            <a:pPr algn="l">
              <a:lnSpc>
                <a:spcPct val="108000"/>
              </a:lnSpc>
              <a:spcBef>
                <a:spcPts val="0"/>
              </a:spcBef>
              <a:spcAft>
                <a:spcPts val="500"/>
              </a:spcAft>
            </a:pPr>
            <a:r>
              <a:rPr sz="3800" b="1">
                <a:solidFill>
                  <a:srgbClr val="FFFFFF"/>
                </a:solidFill>
                <a:latin typeface="Arial"/>
              </a:rPr>
              <a:t>containerized application deployment</a:t>
            </a:r>
          </a:p>
        </p:txBody>
      </p:sp>
      <p:sp>
        <p:nvSpPr>
          <p:cNvPr id="7" name="TextBox 6"/>
          <p:cNvSpPr txBox="1"/>
          <p:nvPr/>
        </p:nvSpPr>
        <p:spPr>
          <a:xfrm>
            <a:off x="640080" y="3858768"/>
            <a:ext cx="9784080" cy="960120"/>
          </a:xfrm>
          <a:prstGeom prst="rect">
            <a:avLst/>
          </a:prstGeom>
          <a:noFill/>
        </p:spPr>
        <p:txBody>
          <a:bodyPr wrap="square" lIns="0" rIns="0" tIns="0" bIns="0" anchor="t">
            <a:spAutoFit/>
          </a:bodyPr>
          <a:lstStyle/>
          <a:p>
            <a:pPr algn="l">
              <a:lnSpc>
                <a:spcPct val="108000"/>
              </a:lnSpc>
              <a:spcBef>
                <a:spcPts val="0"/>
              </a:spcBef>
              <a:spcAft>
                <a:spcPts val="500"/>
              </a:spcAft>
            </a:pPr>
            <a:r>
              <a:rPr sz="2500" b="0">
                <a:solidFill>
                  <a:srgbClr val="B9C9D9"/>
                </a:solidFill>
                <a:latin typeface="Arial"/>
              </a:rPr>
              <a:t>A simpler application lifecycle on infrastructure</a:t>
            </a:r>
          </a:p>
          <a:p>
            <a:pPr algn="l">
              <a:lnSpc>
                <a:spcPct val="108000"/>
              </a:lnSpc>
              <a:spcBef>
                <a:spcPts val="0"/>
              </a:spcBef>
              <a:spcAft>
                <a:spcPts val="500"/>
              </a:spcAft>
            </a:pPr>
            <a:r>
              <a:rPr sz="2500" b="0">
                <a:solidFill>
                  <a:srgbClr val="B9C9D9"/>
                </a:solidFill>
                <a:latin typeface="Arial"/>
              </a:rPr>
              <a:t>controlled by its administrator.</a:t>
            </a:r>
          </a:p>
        </p:txBody>
      </p:sp>
      <p:sp>
        <p:nvSpPr>
          <p:cNvPr id="8" name="Rounded Rectangle 7"/>
          <p:cNvSpPr/>
          <p:nvPr/>
        </p:nvSpPr>
        <p:spPr>
          <a:xfrm>
            <a:off x="640080" y="5504688"/>
            <a:ext cx="2304288" cy="292608"/>
          </a:xfrm>
          <a:prstGeom prst="roundRect">
            <a:avLst>
              <a:gd name="adj" fmla="val 12000"/>
            </a:avLst>
          </a:prstGeom>
          <a:solidFill>
            <a:srgbClr val="2742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19" y="5554979"/>
            <a:ext cx="2121408" cy="201168"/>
          </a:xfrm>
          <a:prstGeom prst="rect">
            <a:avLst/>
          </a:prstGeom>
          <a:noFill/>
        </p:spPr>
        <p:txBody>
          <a:bodyPr wrap="square" lIns="0" rIns="0" tIns="0" bIns="0" anchor="t">
            <a:spAutoFit/>
          </a:bodyPr>
          <a:lstStyle/>
          <a:p>
            <a:pPr algn="l">
              <a:lnSpc>
                <a:spcPct val="108000"/>
              </a:lnSpc>
              <a:spcBef>
                <a:spcPts val="0"/>
              </a:spcBef>
              <a:spcAft>
                <a:spcPts val="500"/>
              </a:spcAft>
            </a:pPr>
            <a:r>
              <a:rPr sz="1050" b="1">
                <a:solidFill>
                  <a:srgbClr val="C5F5EE"/>
                </a:solidFill>
                <a:latin typeface="Arial"/>
              </a:rPr>
              <a:t>PRIVATE INFRASTRUCTURE</a:t>
            </a:r>
          </a:p>
        </p:txBody>
      </p:sp>
      <p:sp>
        <p:nvSpPr>
          <p:cNvPr id="10" name="Rounded Rectangle 9"/>
          <p:cNvSpPr/>
          <p:nvPr/>
        </p:nvSpPr>
        <p:spPr>
          <a:xfrm>
            <a:off x="3145536" y="5504688"/>
            <a:ext cx="1600200" cy="292608"/>
          </a:xfrm>
          <a:prstGeom prst="roundRect">
            <a:avLst>
              <a:gd name="adj" fmla="val 12000"/>
            </a:avLst>
          </a:prstGeom>
          <a:solidFill>
            <a:srgbClr val="2742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36976" y="5554979"/>
            <a:ext cx="1417320" cy="201168"/>
          </a:xfrm>
          <a:prstGeom prst="rect">
            <a:avLst/>
          </a:prstGeom>
          <a:noFill/>
        </p:spPr>
        <p:txBody>
          <a:bodyPr wrap="square" lIns="0" rIns="0" tIns="0" bIns="0" anchor="t">
            <a:spAutoFit/>
          </a:bodyPr>
          <a:lstStyle/>
          <a:p>
            <a:pPr algn="l">
              <a:lnSpc>
                <a:spcPct val="108000"/>
              </a:lnSpc>
              <a:spcBef>
                <a:spcPts val="0"/>
              </a:spcBef>
              <a:spcAft>
                <a:spcPts val="500"/>
              </a:spcAft>
            </a:pPr>
            <a:r>
              <a:rPr sz="1050" b="1">
                <a:solidFill>
                  <a:srgbClr val="C5F5EE"/>
                </a:solidFill>
                <a:latin typeface="Arial"/>
              </a:rPr>
              <a:t>RASPBERRY PI</a:t>
            </a:r>
          </a:p>
        </p:txBody>
      </p:sp>
      <p:sp>
        <p:nvSpPr>
          <p:cNvPr id="12" name="Rounded Rectangle 11"/>
          <p:cNvSpPr/>
          <p:nvPr/>
        </p:nvSpPr>
        <p:spPr>
          <a:xfrm>
            <a:off x="4946904" y="5504688"/>
            <a:ext cx="1417320" cy="292608"/>
          </a:xfrm>
          <a:prstGeom prst="roundRect">
            <a:avLst>
              <a:gd name="adj" fmla="val 12000"/>
            </a:avLst>
          </a:prstGeom>
          <a:solidFill>
            <a:srgbClr val="2742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8344" y="5554979"/>
            <a:ext cx="1234440" cy="201168"/>
          </a:xfrm>
          <a:prstGeom prst="rect">
            <a:avLst/>
          </a:prstGeom>
          <a:noFill/>
        </p:spPr>
        <p:txBody>
          <a:bodyPr wrap="square" lIns="0" rIns="0" tIns="0" bIns="0" anchor="t">
            <a:spAutoFit/>
          </a:bodyPr>
          <a:lstStyle/>
          <a:p>
            <a:pPr algn="l">
              <a:lnSpc>
                <a:spcPct val="108000"/>
              </a:lnSpc>
              <a:spcBef>
                <a:spcPts val="0"/>
              </a:spcBef>
              <a:spcAft>
                <a:spcPts val="500"/>
              </a:spcAft>
            </a:pPr>
            <a:r>
              <a:rPr sz="1050" b="1">
                <a:solidFill>
                  <a:srgbClr val="C5F5EE"/>
                </a:solidFill>
                <a:latin typeface="Arial"/>
              </a:rPr>
              <a:t>LINUX VPS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7F9"/>
        </a:solidFill>
        <a:effectLst/>
      </p:bgPr>
    </p:bg>
    <p:spTree>
      <p:nvGrpSpPr>
        <p:cNvPr id="1" name=""/>
        <p:cNvGrpSpPr/>
        <p:nvPr/>
      </p:nvGrpSpPr>
      <p:grpSpPr/>
      <p:sp>
        <p:nvSpPr>
          <p:cNvPr id="2" name="TextBox 1"/>
          <p:cNvSpPr txBox="1"/>
          <p:nvPr/>
        </p:nvSpPr>
        <p:spPr>
          <a:xfrm>
            <a:off x="566928" y="320040"/>
            <a:ext cx="10789920" cy="201168"/>
          </a:xfrm>
          <a:prstGeom prst="rect">
            <a:avLst/>
          </a:prstGeom>
          <a:noFill/>
        </p:spPr>
        <p:txBody>
          <a:bodyPr wrap="square" lIns="0" rIns="0" tIns="0" bIns="0" anchor="t">
            <a:spAutoFit/>
          </a:bodyPr>
          <a:lstStyle/>
          <a:p>
            <a:pPr algn="l">
              <a:lnSpc>
                <a:spcPct val="108000"/>
              </a:lnSpc>
              <a:spcBef>
                <a:spcPts val="0"/>
              </a:spcBef>
              <a:spcAft>
                <a:spcPts val="500"/>
              </a:spcAft>
            </a:pPr>
            <a:r>
              <a:rPr sz="1050" b="1">
                <a:solidFill>
                  <a:srgbClr val="087F8C"/>
                </a:solidFill>
                <a:latin typeface="Arial"/>
              </a:rPr>
              <a:t>MOTIVATION</a:t>
            </a:r>
          </a:p>
        </p:txBody>
      </p:sp>
      <p:sp>
        <p:nvSpPr>
          <p:cNvPr id="3" name="TextBox 2"/>
          <p:cNvSpPr txBox="1"/>
          <p:nvPr/>
        </p:nvSpPr>
        <p:spPr>
          <a:xfrm>
            <a:off x="566928" y="758952"/>
            <a:ext cx="11064240" cy="1005840"/>
          </a:xfrm>
          <a:prstGeom prst="rect">
            <a:avLst/>
          </a:prstGeom>
          <a:noFill/>
        </p:spPr>
        <p:txBody>
          <a:bodyPr wrap="square" lIns="0" rIns="0" tIns="0" bIns="0" anchor="t">
            <a:spAutoFit/>
          </a:bodyPr>
          <a:lstStyle/>
          <a:p>
            <a:pPr algn="l">
              <a:lnSpc>
                <a:spcPct val="108000"/>
              </a:lnSpc>
              <a:spcBef>
                <a:spcPts val="0"/>
              </a:spcBef>
              <a:spcAft>
                <a:spcPts val="500"/>
              </a:spcAft>
            </a:pPr>
            <a:r>
              <a:rPr sz="3100" b="1">
                <a:solidFill>
                  <a:srgbClr val="172C43"/>
                </a:solidFill>
                <a:latin typeface="Arial"/>
              </a:rPr>
              <a:t>A container image is only the starting point</a:t>
            </a:r>
          </a:p>
        </p:txBody>
      </p:sp>
      <p:sp>
        <p:nvSpPr>
          <p:cNvPr id="4" name="TextBox 3"/>
          <p:cNvSpPr txBox="1"/>
          <p:nvPr/>
        </p:nvSpPr>
        <p:spPr>
          <a:xfrm>
            <a:off x="594360" y="1636776"/>
            <a:ext cx="10972800" cy="548640"/>
          </a:xfrm>
          <a:prstGeom prst="rect">
            <a:avLst/>
          </a:prstGeom>
          <a:noFill/>
        </p:spPr>
        <p:txBody>
          <a:bodyPr wrap="square" lIns="0" rIns="0" tIns="0" bIns="0" anchor="t">
            <a:spAutoFit/>
          </a:bodyPr>
          <a:lstStyle/>
          <a:p>
            <a:pPr algn="l">
              <a:lnSpc>
                <a:spcPct val="108000"/>
              </a:lnSpc>
              <a:spcBef>
                <a:spcPts val="0"/>
              </a:spcBef>
              <a:spcAft>
                <a:spcPts val="500"/>
              </a:spcAft>
            </a:pPr>
            <a:r>
              <a:rPr sz="1600" b="0">
                <a:solidFill>
                  <a:srgbClr val="53677C"/>
                </a:solidFill>
                <a:latin typeface="Arial"/>
              </a:rPr>
              <a:t>Application delivery also requires configuration, routing, health checks and recovery.</a:t>
            </a:r>
          </a:p>
        </p:txBody>
      </p:sp>
      <p:sp>
        <p:nvSpPr>
          <p:cNvPr id="5" name="Rectangle 4"/>
          <p:cNvSpPr/>
          <p:nvPr/>
        </p:nvSpPr>
        <p:spPr>
          <a:xfrm>
            <a:off x="576072" y="6446520"/>
            <a:ext cx="11018520" cy="10972"/>
          </a:xfrm>
          <a:prstGeom prst="rect">
            <a:avLst/>
          </a:prstGeom>
          <a:solidFill>
            <a:srgbClr val="D6DE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56248"/>
            <a:ext cx="8229600" cy="155448"/>
          </a:xfrm>
          <a:prstGeom prst="rect">
            <a:avLst/>
          </a:prstGeom>
          <a:noFill/>
        </p:spPr>
        <p:txBody>
          <a:bodyPr wrap="square" lIns="0" rIns="0" tIns="0" bIns="0" anchor="t">
            <a:spAutoFit/>
          </a:bodyPr>
          <a:lstStyle/>
          <a:p>
            <a:pPr algn="l">
              <a:lnSpc>
                <a:spcPct val="108000"/>
              </a:lnSpc>
              <a:spcBef>
                <a:spcPts val="0"/>
              </a:spcBef>
              <a:spcAft>
                <a:spcPts val="500"/>
              </a:spcAft>
            </a:pPr>
            <a:r>
              <a:rPr sz="850" b="0">
                <a:solidFill>
                  <a:srgbClr val="53677C"/>
                </a:solidFill>
                <a:latin typeface="Arial"/>
              </a:rPr>
              <a:t>SELF-HOSTED KUBERNETES APPLICATION PLATFORM</a:t>
            </a:r>
          </a:p>
        </p:txBody>
      </p:sp>
      <p:sp>
        <p:nvSpPr>
          <p:cNvPr id="7" name="TextBox 6"/>
          <p:cNvSpPr txBox="1"/>
          <p:nvPr/>
        </p:nvSpPr>
        <p:spPr>
          <a:xfrm>
            <a:off x="11064240" y="6510528"/>
            <a:ext cx="502920" cy="228600"/>
          </a:xfrm>
          <a:prstGeom prst="rect">
            <a:avLst/>
          </a:prstGeom>
          <a:noFill/>
        </p:spPr>
        <p:txBody>
          <a:bodyPr wrap="square" lIns="0" rIns="0" tIns="0" bIns="0" anchor="t">
            <a:spAutoFit/>
          </a:bodyPr>
          <a:lstStyle/>
          <a:p>
            <a:pPr algn="r">
              <a:lnSpc>
                <a:spcPct val="108000"/>
              </a:lnSpc>
              <a:spcBef>
                <a:spcPts val="0"/>
              </a:spcBef>
              <a:spcAft>
                <a:spcPts val="500"/>
              </a:spcAft>
            </a:pPr>
            <a:r>
              <a:rPr sz="1200" b="0">
                <a:solidFill>
                  <a:srgbClr val="53677C"/>
                </a:solidFill>
                <a:latin typeface="Arial"/>
              </a:rPr>
              <a:t>02</a:t>
            </a:r>
          </a:p>
        </p:txBody>
      </p:sp>
      <p:sp>
        <p:nvSpPr>
          <p:cNvPr id="8" name="Rounded Rectangle 7"/>
          <p:cNvSpPr/>
          <p:nvPr/>
        </p:nvSpPr>
        <p:spPr>
          <a:xfrm>
            <a:off x="594360" y="2468880"/>
            <a:ext cx="2615184" cy="244144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4360" y="2468880"/>
            <a:ext cx="50292" cy="244144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651760"/>
            <a:ext cx="2194560" cy="256032"/>
          </a:xfrm>
          <a:prstGeom prst="rect">
            <a:avLst/>
          </a:prstGeom>
          <a:noFill/>
        </p:spPr>
        <p:txBody>
          <a:bodyPr wrap="square" lIns="0" rIns="0" tIns="0" bIns="0" anchor="t">
            <a:spAutoFit/>
          </a:bodyPr>
          <a:lstStyle/>
          <a:p>
            <a:pPr algn="l">
              <a:lnSpc>
                <a:spcPct val="108000"/>
              </a:lnSpc>
              <a:spcBef>
                <a:spcPts val="0"/>
              </a:spcBef>
              <a:spcAft>
                <a:spcPts val="500"/>
              </a:spcAft>
            </a:pPr>
            <a:r>
              <a:rPr sz="1100" b="1">
                <a:solidFill>
                  <a:srgbClr val="087F8C"/>
                </a:solidFill>
                <a:latin typeface="Arial"/>
              </a:rPr>
              <a:t>01</a:t>
            </a:r>
          </a:p>
        </p:txBody>
      </p:sp>
      <p:sp>
        <p:nvSpPr>
          <p:cNvPr id="11" name="TextBox 10"/>
          <p:cNvSpPr txBox="1"/>
          <p:nvPr/>
        </p:nvSpPr>
        <p:spPr>
          <a:xfrm>
            <a:off x="804672" y="3081528"/>
            <a:ext cx="2194560" cy="731520"/>
          </a:xfrm>
          <a:prstGeom prst="rect">
            <a:avLst/>
          </a:prstGeom>
          <a:noFill/>
        </p:spPr>
        <p:txBody>
          <a:bodyPr wrap="square" lIns="0" rIns="0" tIns="0" bIns="0" anchor="t">
            <a:spAutoFit/>
          </a:bodyPr>
          <a:lstStyle/>
          <a:p>
            <a:pPr algn="l">
              <a:lnSpc>
                <a:spcPct val="108000"/>
              </a:lnSpc>
              <a:spcBef>
                <a:spcPts val="0"/>
              </a:spcBef>
              <a:spcAft>
                <a:spcPts val="500"/>
              </a:spcAft>
            </a:pPr>
            <a:r>
              <a:rPr sz="2500" b="1">
                <a:solidFill>
                  <a:srgbClr val="172C43"/>
                </a:solidFill>
                <a:latin typeface="Arial"/>
              </a:rPr>
              <a:t>Configure</a:t>
            </a:r>
          </a:p>
        </p:txBody>
      </p:sp>
      <p:sp>
        <p:nvSpPr>
          <p:cNvPr id="12" name="TextBox 11"/>
          <p:cNvSpPr txBox="1"/>
          <p:nvPr/>
        </p:nvSpPr>
        <p:spPr>
          <a:xfrm>
            <a:off x="804672" y="3977639"/>
            <a:ext cx="2194560" cy="777239"/>
          </a:xfrm>
          <a:prstGeom prst="rect">
            <a:avLst/>
          </a:prstGeom>
          <a:noFill/>
        </p:spPr>
        <p:txBody>
          <a:bodyPr wrap="square" lIns="0" rIns="0" tIns="0" bIns="0" anchor="t">
            <a:spAutoFit/>
          </a:bodyPr>
          <a:lstStyle/>
          <a:p>
            <a:pPr algn="l">
              <a:lnSpc>
                <a:spcPct val="108000"/>
              </a:lnSpc>
              <a:spcBef>
                <a:spcPts val="0"/>
              </a:spcBef>
              <a:spcAft>
                <a:spcPts val="500"/>
              </a:spcAft>
            </a:pPr>
            <a:r>
              <a:rPr sz="1800" b="0">
                <a:solidFill>
                  <a:srgbClr val="53677C"/>
                </a:solidFill>
                <a:latin typeface="Arial"/>
              </a:rPr>
              <a:t>Ports, variables</a:t>
            </a:r>
          </a:p>
          <a:p>
            <a:pPr algn="l">
              <a:lnSpc>
                <a:spcPct val="108000"/>
              </a:lnSpc>
              <a:spcBef>
                <a:spcPts val="0"/>
              </a:spcBef>
              <a:spcAft>
                <a:spcPts val="500"/>
              </a:spcAft>
            </a:pPr>
            <a:r>
              <a:rPr sz="1800" b="0">
                <a:solidFill>
                  <a:srgbClr val="53677C"/>
                </a:solidFill>
                <a:latin typeface="Arial"/>
              </a:rPr>
              <a:t>and credentials</a:t>
            </a:r>
          </a:p>
        </p:txBody>
      </p:sp>
      <p:sp>
        <p:nvSpPr>
          <p:cNvPr id="13" name="Rounded Rectangle 12"/>
          <p:cNvSpPr/>
          <p:nvPr/>
        </p:nvSpPr>
        <p:spPr>
          <a:xfrm>
            <a:off x="3392424" y="2468880"/>
            <a:ext cx="2615184" cy="244144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92424" y="2468880"/>
            <a:ext cx="50292" cy="244144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02736" y="2651760"/>
            <a:ext cx="2194560" cy="256032"/>
          </a:xfrm>
          <a:prstGeom prst="rect">
            <a:avLst/>
          </a:prstGeom>
          <a:noFill/>
        </p:spPr>
        <p:txBody>
          <a:bodyPr wrap="square" lIns="0" rIns="0" tIns="0" bIns="0" anchor="t">
            <a:spAutoFit/>
          </a:bodyPr>
          <a:lstStyle/>
          <a:p>
            <a:pPr algn="l">
              <a:lnSpc>
                <a:spcPct val="108000"/>
              </a:lnSpc>
              <a:spcBef>
                <a:spcPts val="0"/>
              </a:spcBef>
              <a:spcAft>
                <a:spcPts val="500"/>
              </a:spcAft>
            </a:pPr>
            <a:r>
              <a:rPr sz="1100" b="1">
                <a:solidFill>
                  <a:srgbClr val="087F8C"/>
                </a:solidFill>
                <a:latin typeface="Arial"/>
              </a:rPr>
              <a:t>02</a:t>
            </a:r>
          </a:p>
        </p:txBody>
      </p:sp>
      <p:sp>
        <p:nvSpPr>
          <p:cNvPr id="16" name="TextBox 15"/>
          <p:cNvSpPr txBox="1"/>
          <p:nvPr/>
        </p:nvSpPr>
        <p:spPr>
          <a:xfrm>
            <a:off x="3602736" y="3081528"/>
            <a:ext cx="2194560" cy="731520"/>
          </a:xfrm>
          <a:prstGeom prst="rect">
            <a:avLst/>
          </a:prstGeom>
          <a:noFill/>
        </p:spPr>
        <p:txBody>
          <a:bodyPr wrap="square" lIns="0" rIns="0" tIns="0" bIns="0" anchor="t">
            <a:spAutoFit/>
          </a:bodyPr>
          <a:lstStyle/>
          <a:p>
            <a:pPr algn="l">
              <a:lnSpc>
                <a:spcPct val="108000"/>
              </a:lnSpc>
              <a:spcBef>
                <a:spcPts val="0"/>
              </a:spcBef>
              <a:spcAft>
                <a:spcPts val="500"/>
              </a:spcAft>
            </a:pPr>
            <a:r>
              <a:rPr sz="2500" b="1">
                <a:solidFill>
                  <a:srgbClr val="172C43"/>
                </a:solidFill>
                <a:latin typeface="Arial"/>
              </a:rPr>
              <a:t>Expose</a:t>
            </a:r>
          </a:p>
        </p:txBody>
      </p:sp>
      <p:sp>
        <p:nvSpPr>
          <p:cNvPr id="17" name="TextBox 16"/>
          <p:cNvSpPr txBox="1"/>
          <p:nvPr/>
        </p:nvSpPr>
        <p:spPr>
          <a:xfrm>
            <a:off x="3602736" y="3977639"/>
            <a:ext cx="2194560" cy="777239"/>
          </a:xfrm>
          <a:prstGeom prst="rect">
            <a:avLst/>
          </a:prstGeom>
          <a:noFill/>
        </p:spPr>
        <p:txBody>
          <a:bodyPr wrap="square" lIns="0" rIns="0" tIns="0" bIns="0" anchor="t">
            <a:spAutoFit/>
          </a:bodyPr>
          <a:lstStyle/>
          <a:p>
            <a:pPr algn="l">
              <a:lnSpc>
                <a:spcPct val="108000"/>
              </a:lnSpc>
              <a:spcBef>
                <a:spcPts val="0"/>
              </a:spcBef>
              <a:spcAft>
                <a:spcPts val="500"/>
              </a:spcAft>
            </a:pPr>
            <a:r>
              <a:rPr sz="1800" b="0">
                <a:solidFill>
                  <a:srgbClr val="53677C"/>
                </a:solidFill>
                <a:latin typeface="Arial"/>
              </a:rPr>
              <a:t>Private routes</a:t>
            </a:r>
          </a:p>
          <a:p>
            <a:pPr algn="l">
              <a:lnSpc>
                <a:spcPct val="108000"/>
              </a:lnSpc>
              <a:spcBef>
                <a:spcPts val="0"/>
              </a:spcBef>
              <a:spcAft>
                <a:spcPts val="500"/>
              </a:spcAft>
            </a:pPr>
            <a:r>
              <a:rPr sz="1800" b="0">
                <a:solidFill>
                  <a:srgbClr val="53677C"/>
                </a:solidFill>
                <a:latin typeface="Arial"/>
              </a:rPr>
              <a:t>or public HTTPS</a:t>
            </a:r>
          </a:p>
        </p:txBody>
      </p:sp>
      <p:sp>
        <p:nvSpPr>
          <p:cNvPr id="18" name="Rounded Rectangle 17"/>
          <p:cNvSpPr/>
          <p:nvPr/>
        </p:nvSpPr>
        <p:spPr>
          <a:xfrm>
            <a:off x="6190488" y="2468880"/>
            <a:ext cx="2615184" cy="244144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0488" y="2468880"/>
            <a:ext cx="50292" cy="244144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0" y="2651760"/>
            <a:ext cx="2194560" cy="256032"/>
          </a:xfrm>
          <a:prstGeom prst="rect">
            <a:avLst/>
          </a:prstGeom>
          <a:noFill/>
        </p:spPr>
        <p:txBody>
          <a:bodyPr wrap="square" lIns="0" rIns="0" tIns="0" bIns="0" anchor="t">
            <a:spAutoFit/>
          </a:bodyPr>
          <a:lstStyle/>
          <a:p>
            <a:pPr algn="l">
              <a:lnSpc>
                <a:spcPct val="108000"/>
              </a:lnSpc>
              <a:spcBef>
                <a:spcPts val="0"/>
              </a:spcBef>
              <a:spcAft>
                <a:spcPts val="500"/>
              </a:spcAft>
            </a:pPr>
            <a:r>
              <a:rPr sz="1100" b="1">
                <a:solidFill>
                  <a:srgbClr val="087F8C"/>
                </a:solidFill>
                <a:latin typeface="Arial"/>
              </a:rPr>
              <a:t>03</a:t>
            </a:r>
          </a:p>
        </p:txBody>
      </p:sp>
      <p:sp>
        <p:nvSpPr>
          <p:cNvPr id="21" name="TextBox 20"/>
          <p:cNvSpPr txBox="1"/>
          <p:nvPr/>
        </p:nvSpPr>
        <p:spPr>
          <a:xfrm>
            <a:off x="6400800" y="3081528"/>
            <a:ext cx="2194560" cy="731520"/>
          </a:xfrm>
          <a:prstGeom prst="rect">
            <a:avLst/>
          </a:prstGeom>
          <a:noFill/>
        </p:spPr>
        <p:txBody>
          <a:bodyPr wrap="square" lIns="0" rIns="0" tIns="0" bIns="0" anchor="t">
            <a:spAutoFit/>
          </a:bodyPr>
          <a:lstStyle/>
          <a:p>
            <a:pPr algn="l">
              <a:lnSpc>
                <a:spcPct val="108000"/>
              </a:lnSpc>
              <a:spcBef>
                <a:spcPts val="0"/>
              </a:spcBef>
              <a:spcAft>
                <a:spcPts val="500"/>
              </a:spcAft>
            </a:pPr>
            <a:r>
              <a:rPr sz="2500" b="1">
                <a:solidFill>
                  <a:srgbClr val="172C43"/>
                </a:solidFill>
                <a:latin typeface="Arial"/>
              </a:rPr>
              <a:t>Observe</a:t>
            </a:r>
          </a:p>
        </p:txBody>
      </p:sp>
      <p:sp>
        <p:nvSpPr>
          <p:cNvPr id="22" name="TextBox 21"/>
          <p:cNvSpPr txBox="1"/>
          <p:nvPr/>
        </p:nvSpPr>
        <p:spPr>
          <a:xfrm>
            <a:off x="6400800" y="3977639"/>
            <a:ext cx="2194560" cy="777239"/>
          </a:xfrm>
          <a:prstGeom prst="rect">
            <a:avLst/>
          </a:prstGeom>
          <a:noFill/>
        </p:spPr>
        <p:txBody>
          <a:bodyPr wrap="square" lIns="0" rIns="0" tIns="0" bIns="0" anchor="t">
            <a:spAutoFit/>
          </a:bodyPr>
          <a:lstStyle/>
          <a:p>
            <a:pPr algn="l">
              <a:lnSpc>
                <a:spcPct val="108000"/>
              </a:lnSpc>
              <a:spcBef>
                <a:spcPts val="0"/>
              </a:spcBef>
              <a:spcAft>
                <a:spcPts val="500"/>
              </a:spcAft>
            </a:pPr>
            <a:r>
              <a:rPr sz="1800" b="0">
                <a:solidFill>
                  <a:srgbClr val="53677C"/>
                </a:solidFill>
                <a:latin typeface="Arial"/>
              </a:rPr>
              <a:t>Readiness, logs</a:t>
            </a:r>
          </a:p>
          <a:p>
            <a:pPr algn="l">
              <a:lnSpc>
                <a:spcPct val="108000"/>
              </a:lnSpc>
              <a:spcBef>
                <a:spcPts val="0"/>
              </a:spcBef>
              <a:spcAft>
                <a:spcPts val="500"/>
              </a:spcAft>
            </a:pPr>
            <a:r>
              <a:rPr sz="1800" b="0">
                <a:solidFill>
                  <a:srgbClr val="53677C"/>
                </a:solidFill>
                <a:latin typeface="Arial"/>
              </a:rPr>
              <a:t>and resource use</a:t>
            </a:r>
          </a:p>
        </p:txBody>
      </p:sp>
      <p:sp>
        <p:nvSpPr>
          <p:cNvPr id="23" name="Rounded Rectangle 22"/>
          <p:cNvSpPr/>
          <p:nvPr/>
        </p:nvSpPr>
        <p:spPr>
          <a:xfrm>
            <a:off x="8988552" y="2468880"/>
            <a:ext cx="2615184" cy="244144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988552" y="2468880"/>
            <a:ext cx="50292" cy="244144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98864" y="2651760"/>
            <a:ext cx="2194560" cy="256032"/>
          </a:xfrm>
          <a:prstGeom prst="rect">
            <a:avLst/>
          </a:prstGeom>
          <a:noFill/>
        </p:spPr>
        <p:txBody>
          <a:bodyPr wrap="square" lIns="0" rIns="0" tIns="0" bIns="0" anchor="t">
            <a:spAutoFit/>
          </a:bodyPr>
          <a:lstStyle/>
          <a:p>
            <a:pPr algn="l">
              <a:lnSpc>
                <a:spcPct val="108000"/>
              </a:lnSpc>
              <a:spcBef>
                <a:spcPts val="0"/>
              </a:spcBef>
              <a:spcAft>
                <a:spcPts val="500"/>
              </a:spcAft>
            </a:pPr>
            <a:r>
              <a:rPr sz="1100" b="1">
                <a:solidFill>
                  <a:srgbClr val="087F8C"/>
                </a:solidFill>
                <a:latin typeface="Arial"/>
              </a:rPr>
              <a:t>04</a:t>
            </a:r>
          </a:p>
        </p:txBody>
      </p:sp>
      <p:sp>
        <p:nvSpPr>
          <p:cNvPr id="26" name="TextBox 25"/>
          <p:cNvSpPr txBox="1"/>
          <p:nvPr/>
        </p:nvSpPr>
        <p:spPr>
          <a:xfrm>
            <a:off x="9198864" y="3081528"/>
            <a:ext cx="2194560" cy="731520"/>
          </a:xfrm>
          <a:prstGeom prst="rect">
            <a:avLst/>
          </a:prstGeom>
          <a:noFill/>
        </p:spPr>
        <p:txBody>
          <a:bodyPr wrap="square" lIns="0" rIns="0" tIns="0" bIns="0" anchor="t">
            <a:spAutoFit/>
          </a:bodyPr>
          <a:lstStyle/>
          <a:p>
            <a:pPr algn="l">
              <a:lnSpc>
                <a:spcPct val="108000"/>
              </a:lnSpc>
              <a:spcBef>
                <a:spcPts val="0"/>
              </a:spcBef>
              <a:spcAft>
                <a:spcPts val="500"/>
              </a:spcAft>
            </a:pPr>
            <a:r>
              <a:rPr sz="2500" b="1">
                <a:solidFill>
                  <a:srgbClr val="172C43"/>
                </a:solidFill>
                <a:latin typeface="Arial"/>
              </a:rPr>
              <a:t>Maintain</a:t>
            </a:r>
          </a:p>
        </p:txBody>
      </p:sp>
      <p:sp>
        <p:nvSpPr>
          <p:cNvPr id="27" name="TextBox 26"/>
          <p:cNvSpPr txBox="1"/>
          <p:nvPr/>
        </p:nvSpPr>
        <p:spPr>
          <a:xfrm>
            <a:off x="9198864" y="3977639"/>
            <a:ext cx="2194560" cy="777239"/>
          </a:xfrm>
          <a:prstGeom prst="rect">
            <a:avLst/>
          </a:prstGeom>
          <a:noFill/>
        </p:spPr>
        <p:txBody>
          <a:bodyPr wrap="square" lIns="0" rIns="0" tIns="0" bIns="0" anchor="t">
            <a:spAutoFit/>
          </a:bodyPr>
          <a:lstStyle/>
          <a:p>
            <a:pPr algn="l">
              <a:lnSpc>
                <a:spcPct val="108000"/>
              </a:lnSpc>
              <a:spcBef>
                <a:spcPts val="0"/>
              </a:spcBef>
              <a:spcAft>
                <a:spcPts val="500"/>
              </a:spcAft>
            </a:pPr>
            <a:r>
              <a:rPr sz="1800" b="0">
                <a:solidFill>
                  <a:srgbClr val="53677C"/>
                </a:solidFill>
                <a:latin typeface="Arial"/>
              </a:rPr>
              <a:t>Updates, recovery</a:t>
            </a:r>
          </a:p>
          <a:p>
            <a:pPr algn="l">
              <a:lnSpc>
                <a:spcPct val="108000"/>
              </a:lnSpc>
              <a:spcBef>
                <a:spcPts val="0"/>
              </a:spcBef>
              <a:spcAft>
                <a:spcPts val="500"/>
              </a:spcAft>
            </a:pPr>
            <a:r>
              <a:rPr sz="1800" b="0">
                <a:solidFill>
                  <a:srgbClr val="53677C"/>
                </a:solidFill>
                <a:latin typeface="Arial"/>
              </a:rPr>
              <a:t>and replica counts</a:t>
            </a:r>
          </a:p>
        </p:txBody>
      </p:sp>
      <p:sp>
        <p:nvSpPr>
          <p:cNvPr id="28" name="Rounded Rectangle 27"/>
          <p:cNvSpPr/>
          <p:nvPr/>
        </p:nvSpPr>
        <p:spPr>
          <a:xfrm>
            <a:off x="594360" y="5257800"/>
            <a:ext cx="10991088" cy="603504"/>
          </a:xfrm>
          <a:prstGeom prst="roundRect">
            <a:avLst>
              <a:gd name="adj" fmla="val 12000"/>
            </a:avLst>
          </a:prstGeom>
          <a:solidFill>
            <a:srgbClr val="E4F3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5458968"/>
            <a:ext cx="1005840" cy="201168"/>
          </a:xfrm>
          <a:prstGeom prst="rect">
            <a:avLst/>
          </a:prstGeom>
          <a:noFill/>
        </p:spPr>
        <p:txBody>
          <a:bodyPr wrap="square" lIns="0" rIns="0" tIns="0" bIns="0" anchor="t">
            <a:spAutoFit/>
          </a:bodyPr>
          <a:lstStyle/>
          <a:p>
            <a:pPr algn="l">
              <a:lnSpc>
                <a:spcPct val="108000"/>
              </a:lnSpc>
              <a:spcBef>
                <a:spcPts val="0"/>
              </a:spcBef>
              <a:spcAft>
                <a:spcPts val="500"/>
              </a:spcAft>
            </a:pPr>
            <a:r>
              <a:rPr sz="1200" b="1">
                <a:solidFill>
                  <a:srgbClr val="087F8C"/>
                </a:solidFill>
                <a:latin typeface="Arial"/>
              </a:rPr>
              <a:t>GOAL</a:t>
            </a:r>
          </a:p>
        </p:txBody>
      </p:sp>
      <p:sp>
        <p:nvSpPr>
          <p:cNvPr id="30" name="TextBox 29"/>
          <p:cNvSpPr txBox="1"/>
          <p:nvPr/>
        </p:nvSpPr>
        <p:spPr>
          <a:xfrm>
            <a:off x="1828800" y="5413248"/>
            <a:ext cx="9326880" cy="365760"/>
          </a:xfrm>
          <a:prstGeom prst="rect">
            <a:avLst/>
          </a:prstGeom>
          <a:noFill/>
        </p:spPr>
        <p:txBody>
          <a:bodyPr wrap="square" lIns="0" rIns="0" tIns="0" bIns="0" anchor="t">
            <a:spAutoFit/>
          </a:bodyPr>
          <a:lstStyle/>
          <a:p>
            <a:pPr algn="l">
              <a:lnSpc>
                <a:spcPct val="108000"/>
              </a:lnSpc>
              <a:spcBef>
                <a:spcPts val="0"/>
              </a:spcBef>
              <a:spcAft>
                <a:spcPts val="500"/>
              </a:spcAft>
            </a:pPr>
            <a:r>
              <a:rPr sz="2100" b="1">
                <a:solidFill>
                  <a:srgbClr val="172C43"/>
                </a:solidFill>
                <a:latin typeface="Arial"/>
              </a:rPr>
              <a:t>Reduce routine deployment work while retaining infrastructure control.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7F9"/>
        </a:solidFill>
        <a:effectLst/>
      </p:bgPr>
    </p:bg>
    <p:spTree>
      <p:nvGrpSpPr>
        <p:cNvPr id="1" name=""/>
        <p:cNvGrpSpPr/>
        <p:nvPr/>
      </p:nvGrpSpPr>
      <p:grpSpPr/>
      <p:sp>
        <p:nvSpPr>
          <p:cNvPr id="2" name="TextBox 1"/>
          <p:cNvSpPr txBox="1"/>
          <p:nvPr/>
        </p:nvSpPr>
        <p:spPr>
          <a:xfrm>
            <a:off x="566928" y="320040"/>
            <a:ext cx="10789920" cy="201168"/>
          </a:xfrm>
          <a:prstGeom prst="rect">
            <a:avLst/>
          </a:prstGeom>
          <a:noFill/>
        </p:spPr>
        <p:txBody>
          <a:bodyPr wrap="square" lIns="0" rIns="0" tIns="0" bIns="0" anchor="t">
            <a:spAutoFit/>
          </a:bodyPr>
          <a:lstStyle/>
          <a:p>
            <a:pPr algn="l">
              <a:lnSpc>
                <a:spcPct val="108000"/>
              </a:lnSpc>
              <a:spcBef>
                <a:spcPts val="0"/>
              </a:spcBef>
              <a:spcAft>
                <a:spcPts val="500"/>
              </a:spcAft>
            </a:pPr>
            <a:r>
              <a:rPr sz="1050" b="1">
                <a:solidFill>
                  <a:srgbClr val="087F8C"/>
                </a:solidFill>
                <a:latin typeface="Arial"/>
              </a:rPr>
              <a:t>USE CASES</a:t>
            </a:r>
          </a:p>
        </p:txBody>
      </p:sp>
      <p:sp>
        <p:nvSpPr>
          <p:cNvPr id="3" name="TextBox 2"/>
          <p:cNvSpPr txBox="1"/>
          <p:nvPr/>
        </p:nvSpPr>
        <p:spPr>
          <a:xfrm>
            <a:off x="566928" y="758952"/>
            <a:ext cx="11064240" cy="1005840"/>
          </a:xfrm>
          <a:prstGeom prst="rect">
            <a:avLst/>
          </a:prstGeom>
          <a:noFill/>
        </p:spPr>
        <p:txBody>
          <a:bodyPr wrap="square" lIns="0" rIns="0" tIns="0" bIns="0" anchor="t">
            <a:spAutoFit/>
          </a:bodyPr>
          <a:lstStyle/>
          <a:p>
            <a:pPr algn="l">
              <a:lnSpc>
                <a:spcPct val="108000"/>
              </a:lnSpc>
              <a:spcBef>
                <a:spcPts val="0"/>
              </a:spcBef>
              <a:spcAft>
                <a:spcPts val="500"/>
              </a:spcAft>
            </a:pPr>
            <a:r>
              <a:rPr sz="3100" b="1">
                <a:solidFill>
                  <a:srgbClr val="172C43"/>
                </a:solidFill>
                <a:latin typeface="Arial"/>
              </a:rPr>
              <a:t>One platform model, three deployment settings</a:t>
            </a:r>
          </a:p>
        </p:txBody>
      </p:sp>
      <p:sp>
        <p:nvSpPr>
          <p:cNvPr id="4" name="TextBox 3"/>
          <p:cNvSpPr txBox="1"/>
          <p:nvPr/>
        </p:nvSpPr>
        <p:spPr>
          <a:xfrm>
            <a:off x="594360" y="1636776"/>
            <a:ext cx="10972800" cy="548640"/>
          </a:xfrm>
          <a:prstGeom prst="rect">
            <a:avLst/>
          </a:prstGeom>
          <a:noFill/>
        </p:spPr>
        <p:txBody>
          <a:bodyPr wrap="square" lIns="0" rIns="0" tIns="0" bIns="0" anchor="t">
            <a:spAutoFit/>
          </a:bodyPr>
          <a:lstStyle/>
          <a:p>
            <a:pPr algn="l">
              <a:lnSpc>
                <a:spcPct val="108000"/>
              </a:lnSpc>
              <a:spcBef>
                <a:spcPts val="0"/>
              </a:spcBef>
              <a:spcAft>
                <a:spcPts val="500"/>
              </a:spcAft>
            </a:pPr>
            <a:r>
              <a:rPr sz="1600" b="0">
                <a:solidFill>
                  <a:srgbClr val="53677C"/>
                </a:solidFill>
                <a:latin typeface="Arial"/>
              </a:rPr>
              <a:t>Application visibility is selected independently of where the host is located.</a:t>
            </a:r>
          </a:p>
        </p:txBody>
      </p:sp>
      <p:sp>
        <p:nvSpPr>
          <p:cNvPr id="5" name="Rectangle 4"/>
          <p:cNvSpPr/>
          <p:nvPr/>
        </p:nvSpPr>
        <p:spPr>
          <a:xfrm>
            <a:off x="576072" y="6446520"/>
            <a:ext cx="11018520" cy="10972"/>
          </a:xfrm>
          <a:prstGeom prst="rect">
            <a:avLst/>
          </a:prstGeom>
          <a:solidFill>
            <a:srgbClr val="D6DE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56248"/>
            <a:ext cx="8229600" cy="155448"/>
          </a:xfrm>
          <a:prstGeom prst="rect">
            <a:avLst/>
          </a:prstGeom>
          <a:noFill/>
        </p:spPr>
        <p:txBody>
          <a:bodyPr wrap="square" lIns="0" rIns="0" tIns="0" bIns="0" anchor="t">
            <a:spAutoFit/>
          </a:bodyPr>
          <a:lstStyle/>
          <a:p>
            <a:pPr algn="l">
              <a:lnSpc>
                <a:spcPct val="108000"/>
              </a:lnSpc>
              <a:spcBef>
                <a:spcPts val="0"/>
              </a:spcBef>
              <a:spcAft>
                <a:spcPts val="500"/>
              </a:spcAft>
            </a:pPr>
            <a:r>
              <a:rPr sz="850" b="0">
                <a:solidFill>
                  <a:srgbClr val="53677C"/>
                </a:solidFill>
                <a:latin typeface="Arial"/>
              </a:rPr>
              <a:t>SELF-HOSTED KUBERNETES APPLICATION PLATFORM</a:t>
            </a:r>
          </a:p>
        </p:txBody>
      </p:sp>
      <p:sp>
        <p:nvSpPr>
          <p:cNvPr id="7" name="TextBox 6"/>
          <p:cNvSpPr txBox="1"/>
          <p:nvPr/>
        </p:nvSpPr>
        <p:spPr>
          <a:xfrm>
            <a:off x="11064240" y="6510528"/>
            <a:ext cx="502920" cy="228600"/>
          </a:xfrm>
          <a:prstGeom prst="rect">
            <a:avLst/>
          </a:prstGeom>
          <a:noFill/>
        </p:spPr>
        <p:txBody>
          <a:bodyPr wrap="square" lIns="0" rIns="0" tIns="0" bIns="0" anchor="t">
            <a:spAutoFit/>
          </a:bodyPr>
          <a:lstStyle/>
          <a:p>
            <a:pPr algn="r">
              <a:lnSpc>
                <a:spcPct val="108000"/>
              </a:lnSpc>
              <a:spcBef>
                <a:spcPts val="0"/>
              </a:spcBef>
              <a:spcAft>
                <a:spcPts val="500"/>
              </a:spcAft>
            </a:pPr>
            <a:r>
              <a:rPr sz="1200" b="0">
                <a:solidFill>
                  <a:srgbClr val="53677C"/>
                </a:solidFill>
                <a:latin typeface="Arial"/>
              </a:rPr>
              <a:t>03</a:t>
            </a:r>
          </a:p>
        </p:txBody>
      </p:sp>
      <p:sp>
        <p:nvSpPr>
          <p:cNvPr id="8" name="Rounded Rectangle 7"/>
          <p:cNvSpPr/>
          <p:nvPr/>
        </p:nvSpPr>
        <p:spPr>
          <a:xfrm>
            <a:off x="594360" y="2377440"/>
            <a:ext cx="3547872" cy="33375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4360" y="2377440"/>
            <a:ext cx="50292" cy="333756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560320"/>
            <a:ext cx="3127248" cy="256032"/>
          </a:xfrm>
          <a:prstGeom prst="rect">
            <a:avLst/>
          </a:prstGeom>
          <a:noFill/>
        </p:spPr>
        <p:txBody>
          <a:bodyPr wrap="square" lIns="0" rIns="0" tIns="0" bIns="0" anchor="t">
            <a:spAutoFit/>
          </a:bodyPr>
          <a:lstStyle/>
          <a:p>
            <a:pPr algn="l">
              <a:lnSpc>
                <a:spcPct val="108000"/>
              </a:lnSpc>
              <a:spcBef>
                <a:spcPts val="0"/>
              </a:spcBef>
              <a:spcAft>
                <a:spcPts val="500"/>
              </a:spcAft>
            </a:pPr>
            <a:r>
              <a:rPr sz="1100" b="1">
                <a:solidFill>
                  <a:srgbClr val="087F8C"/>
                </a:solidFill>
                <a:latin typeface="Arial"/>
              </a:rPr>
              <a:t>INSTITUTION</a:t>
            </a:r>
          </a:p>
        </p:txBody>
      </p:sp>
      <p:sp>
        <p:nvSpPr>
          <p:cNvPr id="11" name="TextBox 10"/>
          <p:cNvSpPr txBox="1"/>
          <p:nvPr/>
        </p:nvSpPr>
        <p:spPr>
          <a:xfrm>
            <a:off x="804672" y="2990088"/>
            <a:ext cx="3127248" cy="731520"/>
          </a:xfrm>
          <a:prstGeom prst="rect">
            <a:avLst/>
          </a:prstGeom>
          <a:noFill/>
        </p:spPr>
        <p:txBody>
          <a:bodyPr wrap="square" lIns="0" rIns="0" tIns="0" bIns="0" anchor="t">
            <a:spAutoFit/>
          </a:bodyPr>
          <a:lstStyle/>
          <a:p>
            <a:pPr algn="l">
              <a:lnSpc>
                <a:spcPct val="108000"/>
              </a:lnSpc>
              <a:spcBef>
                <a:spcPts val="0"/>
              </a:spcBef>
              <a:spcAft>
                <a:spcPts val="500"/>
              </a:spcAft>
            </a:pPr>
            <a:r>
              <a:rPr sz="2500" b="1">
                <a:solidFill>
                  <a:srgbClr val="172C43"/>
                </a:solidFill>
                <a:latin typeface="Arial"/>
              </a:rPr>
              <a:t>Internal services</a:t>
            </a:r>
          </a:p>
        </p:txBody>
      </p:sp>
      <p:sp>
        <p:nvSpPr>
          <p:cNvPr id="12" name="TextBox 11"/>
          <p:cNvSpPr txBox="1"/>
          <p:nvPr/>
        </p:nvSpPr>
        <p:spPr>
          <a:xfrm>
            <a:off x="804672" y="3886200"/>
            <a:ext cx="3127248" cy="1673351"/>
          </a:xfrm>
          <a:prstGeom prst="rect">
            <a:avLst/>
          </a:prstGeom>
          <a:noFill/>
        </p:spPr>
        <p:txBody>
          <a:bodyPr wrap="square" lIns="0" rIns="0" tIns="0" bIns="0" anchor="t">
            <a:spAutoFit/>
          </a:bodyPr>
          <a:lstStyle/>
          <a:p>
            <a:pPr algn="l">
              <a:lnSpc>
                <a:spcPct val="108000"/>
              </a:lnSpc>
              <a:spcBef>
                <a:spcPts val="0"/>
              </a:spcBef>
              <a:spcAft>
                <a:spcPts val="500"/>
              </a:spcAft>
            </a:pPr>
            <a:r>
              <a:rPr sz="1800" b="0">
                <a:solidFill>
                  <a:srgbClr val="53677C"/>
                </a:solidFill>
                <a:latin typeface="Arial"/>
              </a:rPr>
              <a:t>Example: a bank’s</a:t>
            </a:r>
          </a:p>
          <a:p>
            <a:pPr algn="l">
              <a:lnSpc>
                <a:spcPct val="108000"/>
              </a:lnSpc>
              <a:spcBef>
                <a:spcPts val="0"/>
              </a:spcBef>
              <a:spcAft>
                <a:spcPts val="500"/>
              </a:spcAft>
            </a:pPr>
            <a:r>
              <a:rPr sz="1800" b="0">
                <a:solidFill>
                  <a:srgbClr val="53677C"/>
                </a:solidFill>
                <a:latin typeface="Arial"/>
              </a:rPr>
              <a:t>development or test network.</a:t>
            </a:r>
          </a:p>
          <a:p>
            <a:pPr algn="l">
              <a:lnSpc>
                <a:spcPct val="108000"/>
              </a:lnSpc>
              <a:spcBef>
                <a:spcPts val="0"/>
              </a:spcBef>
              <a:spcAft>
                <a:spcPts val="500"/>
              </a:spcAft>
            </a:pPr>
            <a:r>
              <a:rPr sz="1800" b="0">
                <a:solidFill>
                  <a:srgbClr val="53677C"/>
                </a:solidFill>
                <a:latin typeface="Arial"/>
              </a:rPr>
              <a:t/>
            </a:r>
          </a:p>
          <a:p>
            <a:pPr algn="l">
              <a:lnSpc>
                <a:spcPct val="108000"/>
              </a:lnSpc>
              <a:spcBef>
                <a:spcPts val="0"/>
              </a:spcBef>
              <a:spcAft>
                <a:spcPts val="500"/>
              </a:spcAft>
            </a:pPr>
            <a:r>
              <a:rPr sz="1800" b="0">
                <a:solidFill>
                  <a:srgbClr val="53677C"/>
                </a:solidFill>
                <a:latin typeface="Arial"/>
              </a:rPr>
              <a:t>Applications remain on</a:t>
            </a:r>
          </a:p>
          <a:p>
            <a:pPr algn="l">
              <a:lnSpc>
                <a:spcPct val="108000"/>
              </a:lnSpc>
              <a:spcBef>
                <a:spcPts val="0"/>
              </a:spcBef>
              <a:spcAft>
                <a:spcPts val="500"/>
              </a:spcAft>
            </a:pPr>
            <a:r>
              <a:rPr sz="1800" b="0">
                <a:solidFill>
                  <a:srgbClr val="53677C"/>
                </a:solidFill>
                <a:latin typeface="Arial"/>
              </a:rPr>
              <a:t>controlled infrastructure.</a:t>
            </a:r>
          </a:p>
        </p:txBody>
      </p:sp>
      <p:sp>
        <p:nvSpPr>
          <p:cNvPr id="13" name="Rounded Rectangle 12"/>
          <p:cNvSpPr/>
          <p:nvPr/>
        </p:nvSpPr>
        <p:spPr>
          <a:xfrm>
            <a:off x="4325112" y="2377440"/>
            <a:ext cx="3547872" cy="33375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25112" y="2377440"/>
            <a:ext cx="50292" cy="333756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35424" y="2560320"/>
            <a:ext cx="3127248" cy="256032"/>
          </a:xfrm>
          <a:prstGeom prst="rect">
            <a:avLst/>
          </a:prstGeom>
          <a:noFill/>
        </p:spPr>
        <p:txBody>
          <a:bodyPr wrap="square" lIns="0" rIns="0" tIns="0" bIns="0" anchor="t">
            <a:spAutoFit/>
          </a:bodyPr>
          <a:lstStyle/>
          <a:p>
            <a:pPr algn="l">
              <a:lnSpc>
                <a:spcPct val="108000"/>
              </a:lnSpc>
              <a:spcBef>
                <a:spcPts val="0"/>
              </a:spcBef>
              <a:spcAft>
                <a:spcPts val="500"/>
              </a:spcAft>
            </a:pPr>
            <a:r>
              <a:rPr sz="1100" b="1">
                <a:solidFill>
                  <a:srgbClr val="087F8C"/>
                </a:solidFill>
                <a:latin typeface="Arial"/>
              </a:rPr>
              <a:t>PERSONAL HARDWARE</a:t>
            </a:r>
          </a:p>
        </p:txBody>
      </p:sp>
      <p:sp>
        <p:nvSpPr>
          <p:cNvPr id="16" name="TextBox 15"/>
          <p:cNvSpPr txBox="1"/>
          <p:nvPr/>
        </p:nvSpPr>
        <p:spPr>
          <a:xfrm>
            <a:off x="4535424" y="2990088"/>
            <a:ext cx="3127248" cy="731520"/>
          </a:xfrm>
          <a:prstGeom prst="rect">
            <a:avLst/>
          </a:prstGeom>
          <a:noFill/>
        </p:spPr>
        <p:txBody>
          <a:bodyPr wrap="square" lIns="0" rIns="0" tIns="0" bIns="0" anchor="t">
            <a:spAutoFit/>
          </a:bodyPr>
          <a:lstStyle/>
          <a:p>
            <a:pPr algn="l">
              <a:lnSpc>
                <a:spcPct val="108000"/>
              </a:lnSpc>
              <a:spcBef>
                <a:spcPts val="0"/>
              </a:spcBef>
              <a:spcAft>
                <a:spcPts val="500"/>
              </a:spcAft>
            </a:pPr>
            <a:r>
              <a:rPr sz="2500" b="1">
                <a:solidFill>
                  <a:srgbClr val="172C43"/>
                </a:solidFill>
                <a:latin typeface="Arial"/>
              </a:rPr>
              <a:t>Raspberry Pi</a:t>
            </a:r>
          </a:p>
        </p:txBody>
      </p:sp>
      <p:sp>
        <p:nvSpPr>
          <p:cNvPr id="17" name="TextBox 16"/>
          <p:cNvSpPr txBox="1"/>
          <p:nvPr/>
        </p:nvSpPr>
        <p:spPr>
          <a:xfrm>
            <a:off x="4535424" y="3886200"/>
            <a:ext cx="3127248" cy="1673351"/>
          </a:xfrm>
          <a:prstGeom prst="rect">
            <a:avLst/>
          </a:prstGeom>
          <a:noFill/>
        </p:spPr>
        <p:txBody>
          <a:bodyPr wrap="square" lIns="0" rIns="0" tIns="0" bIns="0" anchor="t">
            <a:spAutoFit/>
          </a:bodyPr>
          <a:lstStyle/>
          <a:p>
            <a:pPr algn="l">
              <a:lnSpc>
                <a:spcPct val="108000"/>
              </a:lnSpc>
              <a:spcBef>
                <a:spcPts val="0"/>
              </a:spcBef>
              <a:spcAft>
                <a:spcPts val="500"/>
              </a:spcAft>
            </a:pPr>
            <a:r>
              <a:rPr sz="1800" b="0">
                <a:solidFill>
                  <a:srgbClr val="53677C"/>
                </a:solidFill>
                <a:latin typeface="Arial"/>
              </a:rPr>
              <a:t>Private home tools or</a:t>
            </a:r>
          </a:p>
          <a:p>
            <a:pPr algn="l">
              <a:lnSpc>
                <a:spcPct val="108000"/>
              </a:lnSpc>
              <a:spcBef>
                <a:spcPts val="0"/>
              </a:spcBef>
              <a:spcAft>
                <a:spcPts val="500"/>
              </a:spcAft>
            </a:pPr>
            <a:r>
              <a:rPr sz="1800" b="0">
                <a:solidFill>
                  <a:srgbClr val="53677C"/>
                </a:solidFill>
                <a:latin typeface="Arial"/>
              </a:rPr>
              <a:t>a small hosted application.</a:t>
            </a:r>
          </a:p>
          <a:p>
            <a:pPr algn="l">
              <a:lnSpc>
                <a:spcPct val="108000"/>
              </a:lnSpc>
              <a:spcBef>
                <a:spcPts val="0"/>
              </a:spcBef>
              <a:spcAft>
                <a:spcPts val="500"/>
              </a:spcAft>
            </a:pPr>
            <a:r>
              <a:rPr sz="1800" b="0">
                <a:solidFill>
                  <a:srgbClr val="53677C"/>
                </a:solidFill>
                <a:latin typeface="Arial"/>
              </a:rPr>
              <a:t/>
            </a:r>
          </a:p>
          <a:p>
            <a:pPr algn="l">
              <a:lnSpc>
                <a:spcPct val="108000"/>
              </a:lnSpc>
              <a:spcBef>
                <a:spcPts val="0"/>
              </a:spcBef>
              <a:spcAft>
                <a:spcPts val="500"/>
              </a:spcAft>
            </a:pPr>
            <a:r>
              <a:rPr sz="1800" b="0">
                <a:solidFill>
                  <a:srgbClr val="53677C"/>
                </a:solidFill>
                <a:latin typeface="Arial"/>
              </a:rPr>
              <a:t>Reference: Pi 5, 8 GB RAM,</a:t>
            </a:r>
          </a:p>
          <a:p>
            <a:pPr algn="l">
              <a:lnSpc>
                <a:spcPct val="108000"/>
              </a:lnSpc>
              <a:spcBef>
                <a:spcPts val="0"/>
              </a:spcBef>
              <a:spcAft>
                <a:spcPts val="500"/>
              </a:spcAft>
            </a:pPr>
            <a:r>
              <a:rPr sz="1800" b="0">
                <a:solidFill>
                  <a:srgbClr val="53677C"/>
                </a:solidFill>
                <a:latin typeface="Arial"/>
              </a:rPr>
              <a:t>32 GB storage, 64-bit OS.</a:t>
            </a:r>
          </a:p>
        </p:txBody>
      </p:sp>
      <p:sp>
        <p:nvSpPr>
          <p:cNvPr id="18" name="Rounded Rectangle 17"/>
          <p:cNvSpPr/>
          <p:nvPr/>
        </p:nvSpPr>
        <p:spPr>
          <a:xfrm>
            <a:off x="8055864" y="2377440"/>
            <a:ext cx="3547872" cy="33375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55864" y="2377440"/>
            <a:ext cx="50292" cy="333756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66176" y="2560320"/>
            <a:ext cx="3127248" cy="256032"/>
          </a:xfrm>
          <a:prstGeom prst="rect">
            <a:avLst/>
          </a:prstGeom>
          <a:noFill/>
        </p:spPr>
        <p:txBody>
          <a:bodyPr wrap="square" lIns="0" rIns="0" tIns="0" bIns="0" anchor="t">
            <a:spAutoFit/>
          </a:bodyPr>
          <a:lstStyle/>
          <a:p>
            <a:pPr algn="l">
              <a:lnSpc>
                <a:spcPct val="108000"/>
              </a:lnSpc>
              <a:spcBef>
                <a:spcPts val="0"/>
              </a:spcBef>
              <a:spcAft>
                <a:spcPts val="500"/>
              </a:spcAft>
            </a:pPr>
            <a:r>
              <a:rPr sz="1100" b="1">
                <a:solidFill>
                  <a:srgbClr val="087F8C"/>
                </a:solidFill>
                <a:latin typeface="Arial"/>
              </a:rPr>
              <a:t>RENTED LINUX HOST</a:t>
            </a:r>
          </a:p>
        </p:txBody>
      </p:sp>
      <p:sp>
        <p:nvSpPr>
          <p:cNvPr id="21" name="TextBox 20"/>
          <p:cNvSpPr txBox="1"/>
          <p:nvPr/>
        </p:nvSpPr>
        <p:spPr>
          <a:xfrm>
            <a:off x="8266176" y="2990088"/>
            <a:ext cx="3127248" cy="731520"/>
          </a:xfrm>
          <a:prstGeom prst="rect">
            <a:avLst/>
          </a:prstGeom>
          <a:noFill/>
        </p:spPr>
        <p:txBody>
          <a:bodyPr wrap="square" lIns="0" rIns="0" tIns="0" bIns="0" anchor="t">
            <a:spAutoFit/>
          </a:bodyPr>
          <a:lstStyle/>
          <a:p>
            <a:pPr algn="l">
              <a:lnSpc>
                <a:spcPct val="108000"/>
              </a:lnSpc>
              <a:spcBef>
                <a:spcPts val="0"/>
              </a:spcBef>
              <a:spcAft>
                <a:spcPts val="500"/>
              </a:spcAft>
            </a:pPr>
            <a:r>
              <a:rPr sz="2500" b="1">
                <a:solidFill>
                  <a:srgbClr val="172C43"/>
                </a:solidFill>
                <a:latin typeface="Arial"/>
              </a:rPr>
              <a:t>VPS or server</a:t>
            </a:r>
          </a:p>
        </p:txBody>
      </p:sp>
      <p:sp>
        <p:nvSpPr>
          <p:cNvPr id="22" name="TextBox 21"/>
          <p:cNvSpPr txBox="1"/>
          <p:nvPr/>
        </p:nvSpPr>
        <p:spPr>
          <a:xfrm>
            <a:off x="8266176" y="3886200"/>
            <a:ext cx="3127248" cy="1673351"/>
          </a:xfrm>
          <a:prstGeom prst="rect">
            <a:avLst/>
          </a:prstGeom>
          <a:noFill/>
        </p:spPr>
        <p:txBody>
          <a:bodyPr wrap="square" lIns="0" rIns="0" tIns="0" bIns="0" anchor="t">
            <a:spAutoFit/>
          </a:bodyPr>
          <a:lstStyle/>
          <a:p>
            <a:pPr algn="l">
              <a:lnSpc>
                <a:spcPct val="108000"/>
              </a:lnSpc>
              <a:spcBef>
                <a:spcPts val="0"/>
              </a:spcBef>
              <a:spcAft>
                <a:spcPts val="500"/>
              </a:spcAft>
            </a:pPr>
            <a:r>
              <a:rPr sz="1800" b="0">
                <a:solidFill>
                  <a:srgbClr val="53677C"/>
                </a:solidFill>
                <a:latin typeface="Arial"/>
              </a:rPr>
              <a:t>The same application model</a:t>
            </a:r>
          </a:p>
          <a:p>
            <a:pPr algn="l">
              <a:lnSpc>
                <a:spcPct val="108000"/>
              </a:lnSpc>
              <a:spcBef>
                <a:spcPts val="0"/>
              </a:spcBef>
              <a:spcAft>
                <a:spcPts val="500"/>
              </a:spcAft>
            </a:pPr>
            <a:r>
              <a:rPr sz="1800" b="0">
                <a:solidFill>
                  <a:srgbClr val="53677C"/>
                </a:solidFill>
                <a:latin typeface="Arial"/>
              </a:rPr>
              <a:t>on a rented Linux machine.</a:t>
            </a:r>
          </a:p>
          <a:p>
            <a:pPr algn="l">
              <a:lnSpc>
                <a:spcPct val="108000"/>
              </a:lnSpc>
              <a:spcBef>
                <a:spcPts val="0"/>
              </a:spcBef>
              <a:spcAft>
                <a:spcPts val="500"/>
              </a:spcAft>
            </a:pPr>
            <a:r>
              <a:rPr sz="1800" b="0">
                <a:solidFill>
                  <a:srgbClr val="53677C"/>
                </a:solidFill>
                <a:latin typeface="Arial"/>
              </a:rPr>
              <a:t/>
            </a:r>
          </a:p>
          <a:p>
            <a:pPr algn="l">
              <a:lnSpc>
                <a:spcPct val="108000"/>
              </a:lnSpc>
              <a:spcBef>
                <a:spcPts val="0"/>
              </a:spcBef>
              <a:spcAft>
                <a:spcPts val="500"/>
              </a:spcAft>
            </a:pPr>
            <a:r>
              <a:rPr sz="1800" b="0">
                <a:solidFill>
                  <a:srgbClr val="53677C"/>
                </a:solidFill>
                <a:latin typeface="Arial"/>
              </a:rPr>
              <a:t>Private applications on</a:t>
            </a:r>
          </a:p>
          <a:p>
            <a:pPr algn="l">
              <a:lnSpc>
                <a:spcPct val="108000"/>
              </a:lnSpc>
              <a:spcBef>
                <a:spcPts val="0"/>
              </a:spcBef>
              <a:spcAft>
                <a:spcPts val="500"/>
              </a:spcAft>
            </a:pPr>
            <a:r>
              <a:rPr sz="1800" b="0">
                <a:solidFill>
                  <a:srgbClr val="53677C"/>
                </a:solidFill>
                <a:latin typeface="Arial"/>
              </a:rPr>
              <a:t>a host with a public IP.</a:t>
            </a:r>
          </a:p>
        </p:txBody>
      </p:sp>
      <p:sp>
        <p:nvSpPr>
          <p:cNvPr id="23" name="TextBox 22"/>
          <p:cNvSpPr txBox="1"/>
          <p:nvPr/>
        </p:nvSpPr>
        <p:spPr>
          <a:xfrm>
            <a:off x="640080" y="5925312"/>
            <a:ext cx="10881360" cy="292608"/>
          </a:xfrm>
          <a:prstGeom prst="rect">
            <a:avLst/>
          </a:prstGeom>
          <a:noFill/>
        </p:spPr>
        <p:txBody>
          <a:bodyPr wrap="square" lIns="0" rIns="0" tIns="0" bIns="0" anchor="t">
            <a:spAutoFit/>
          </a:bodyPr>
          <a:lstStyle/>
          <a:p>
            <a:pPr algn="l">
              <a:lnSpc>
                <a:spcPct val="108000"/>
              </a:lnSpc>
              <a:spcBef>
                <a:spcPts val="0"/>
              </a:spcBef>
              <a:spcAft>
                <a:spcPts val="500"/>
              </a:spcAft>
            </a:pPr>
            <a:r>
              <a:rPr sz="1500" b="0">
                <a:solidFill>
                  <a:srgbClr val="53677C"/>
                </a:solidFill>
                <a:latin typeface="Arial"/>
              </a:rPr>
              <a:t>Institutional production use requires additional security, resilience and operational validation.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7F9"/>
        </a:solidFill>
        <a:effectLst/>
      </p:bgPr>
    </p:bg>
    <p:spTree>
      <p:nvGrpSpPr>
        <p:cNvPr id="1" name=""/>
        <p:cNvGrpSpPr/>
        <p:nvPr/>
      </p:nvGrpSpPr>
      <p:grpSpPr/>
      <p:sp>
        <p:nvSpPr>
          <p:cNvPr id="2" name="TextBox 1"/>
          <p:cNvSpPr txBox="1"/>
          <p:nvPr/>
        </p:nvSpPr>
        <p:spPr>
          <a:xfrm>
            <a:off x="566928" y="320040"/>
            <a:ext cx="10789920" cy="201168"/>
          </a:xfrm>
          <a:prstGeom prst="rect">
            <a:avLst/>
          </a:prstGeom>
          <a:noFill/>
        </p:spPr>
        <p:txBody>
          <a:bodyPr wrap="square" lIns="0" rIns="0" tIns="0" bIns="0" anchor="t">
            <a:spAutoFit/>
          </a:bodyPr>
          <a:lstStyle/>
          <a:p>
            <a:pPr algn="l">
              <a:lnSpc>
                <a:spcPct val="108000"/>
              </a:lnSpc>
              <a:spcBef>
                <a:spcPts val="0"/>
              </a:spcBef>
              <a:spcAft>
                <a:spcPts val="500"/>
              </a:spcAft>
            </a:pPr>
            <a:r>
              <a:rPr sz="1050" b="1">
                <a:solidFill>
                  <a:srgbClr val="087F8C"/>
                </a:solidFill>
                <a:latin typeface="Arial"/>
              </a:rPr>
              <a:t>STATE OF THE ART</a:t>
            </a:r>
          </a:p>
        </p:txBody>
      </p:sp>
      <p:sp>
        <p:nvSpPr>
          <p:cNvPr id="3" name="TextBox 2"/>
          <p:cNvSpPr txBox="1"/>
          <p:nvPr/>
        </p:nvSpPr>
        <p:spPr>
          <a:xfrm>
            <a:off x="566928" y="758952"/>
            <a:ext cx="11064240" cy="1005840"/>
          </a:xfrm>
          <a:prstGeom prst="rect">
            <a:avLst/>
          </a:prstGeom>
          <a:noFill/>
        </p:spPr>
        <p:txBody>
          <a:bodyPr wrap="square" lIns="0" rIns="0" tIns="0" bIns="0" anchor="t">
            <a:spAutoFit/>
          </a:bodyPr>
          <a:lstStyle/>
          <a:p>
            <a:pPr algn="l">
              <a:lnSpc>
                <a:spcPct val="108000"/>
              </a:lnSpc>
              <a:spcBef>
                <a:spcPts val="0"/>
              </a:spcBef>
              <a:spcAft>
                <a:spcPts val="500"/>
              </a:spcAft>
            </a:pPr>
            <a:r>
              <a:rPr sz="3100" b="1">
                <a:solidFill>
                  <a:srgbClr val="172C43"/>
                </a:solidFill>
                <a:latin typeface="Arial"/>
              </a:rPr>
              <a:t>Existing platforms address overlapping needs</a:t>
            </a:r>
          </a:p>
        </p:txBody>
      </p:sp>
      <p:sp>
        <p:nvSpPr>
          <p:cNvPr id="4" name="TextBox 3"/>
          <p:cNvSpPr txBox="1"/>
          <p:nvPr/>
        </p:nvSpPr>
        <p:spPr>
          <a:xfrm>
            <a:off x="594360" y="1636776"/>
            <a:ext cx="10972800" cy="548640"/>
          </a:xfrm>
          <a:prstGeom prst="rect">
            <a:avLst/>
          </a:prstGeom>
          <a:noFill/>
        </p:spPr>
        <p:txBody>
          <a:bodyPr wrap="square" lIns="0" rIns="0" tIns="0" bIns="0" anchor="t">
            <a:spAutoFit/>
          </a:bodyPr>
          <a:lstStyle/>
          <a:p>
            <a:pPr algn="l">
              <a:lnSpc>
                <a:spcPct val="108000"/>
              </a:lnSpc>
              <a:spcBef>
                <a:spcPts val="0"/>
              </a:spcBef>
              <a:spcAft>
                <a:spcPts val="500"/>
              </a:spcAft>
            </a:pPr>
            <a:r>
              <a:rPr sz="1600" b="0">
                <a:solidFill>
                  <a:srgbClr val="53677C"/>
                </a:solidFill>
                <a:latin typeface="Arial"/>
              </a:rPr>
              <a:t>The project builds on established ideas and narrows the operating scope.</a:t>
            </a:r>
          </a:p>
        </p:txBody>
      </p:sp>
      <p:sp>
        <p:nvSpPr>
          <p:cNvPr id="5" name="Rectangle 4"/>
          <p:cNvSpPr/>
          <p:nvPr/>
        </p:nvSpPr>
        <p:spPr>
          <a:xfrm>
            <a:off x="576072" y="6446520"/>
            <a:ext cx="11018520" cy="10972"/>
          </a:xfrm>
          <a:prstGeom prst="rect">
            <a:avLst/>
          </a:prstGeom>
          <a:solidFill>
            <a:srgbClr val="D6DE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56248"/>
            <a:ext cx="8229600" cy="155448"/>
          </a:xfrm>
          <a:prstGeom prst="rect">
            <a:avLst/>
          </a:prstGeom>
          <a:noFill/>
        </p:spPr>
        <p:txBody>
          <a:bodyPr wrap="square" lIns="0" rIns="0" tIns="0" bIns="0" anchor="t">
            <a:spAutoFit/>
          </a:bodyPr>
          <a:lstStyle/>
          <a:p>
            <a:pPr algn="l">
              <a:lnSpc>
                <a:spcPct val="108000"/>
              </a:lnSpc>
              <a:spcBef>
                <a:spcPts val="0"/>
              </a:spcBef>
              <a:spcAft>
                <a:spcPts val="500"/>
              </a:spcAft>
            </a:pPr>
            <a:r>
              <a:rPr sz="850" b="0">
                <a:solidFill>
                  <a:srgbClr val="53677C"/>
                </a:solidFill>
                <a:latin typeface="Arial"/>
              </a:rPr>
              <a:t>SELF-HOSTED KUBERNETES APPLICATION PLATFORM</a:t>
            </a:r>
          </a:p>
        </p:txBody>
      </p:sp>
      <p:sp>
        <p:nvSpPr>
          <p:cNvPr id="7" name="TextBox 6"/>
          <p:cNvSpPr txBox="1"/>
          <p:nvPr/>
        </p:nvSpPr>
        <p:spPr>
          <a:xfrm>
            <a:off x="11064240" y="6510528"/>
            <a:ext cx="502920" cy="228600"/>
          </a:xfrm>
          <a:prstGeom prst="rect">
            <a:avLst/>
          </a:prstGeom>
          <a:noFill/>
        </p:spPr>
        <p:txBody>
          <a:bodyPr wrap="square" lIns="0" rIns="0" tIns="0" bIns="0" anchor="t">
            <a:spAutoFit/>
          </a:bodyPr>
          <a:lstStyle/>
          <a:p>
            <a:pPr algn="r">
              <a:lnSpc>
                <a:spcPct val="108000"/>
              </a:lnSpc>
              <a:spcBef>
                <a:spcPts val="0"/>
              </a:spcBef>
              <a:spcAft>
                <a:spcPts val="500"/>
              </a:spcAft>
            </a:pPr>
            <a:r>
              <a:rPr sz="1200" b="0">
                <a:solidFill>
                  <a:srgbClr val="53677C"/>
                </a:solidFill>
                <a:latin typeface="Arial"/>
              </a:rPr>
              <a:t>04</a:t>
            </a:r>
          </a:p>
        </p:txBody>
      </p:sp>
      <p:sp>
        <p:nvSpPr>
          <p:cNvPr id="8" name="TextBox 7"/>
          <p:cNvSpPr txBox="1"/>
          <p:nvPr/>
        </p:nvSpPr>
        <p:spPr>
          <a:xfrm>
            <a:off x="594360" y="6172200"/>
            <a:ext cx="10789920" cy="182880"/>
          </a:xfrm>
          <a:prstGeom prst="rect">
            <a:avLst/>
          </a:prstGeom>
          <a:noFill/>
        </p:spPr>
        <p:txBody>
          <a:bodyPr wrap="square" lIns="0" rIns="0" tIns="0" bIns="0" anchor="t">
            <a:spAutoFit/>
          </a:bodyPr>
          <a:lstStyle/>
          <a:p>
            <a:pPr algn="l">
              <a:lnSpc>
                <a:spcPct val="108000"/>
              </a:lnSpc>
              <a:spcBef>
                <a:spcPts val="0"/>
              </a:spcBef>
              <a:spcAft>
                <a:spcPts val="500"/>
              </a:spcAft>
            </a:pPr>
            <a:r>
              <a:rPr sz="950" b="0">
                <a:solidFill>
                  <a:srgbClr val="53677C"/>
                </a:solidFill>
                <a:latin typeface="Arial"/>
              </a:rPr>
              <a:t>Official documentation: Kubernetes [1], K3s [2], Coolify [3], Portainer [4], OpenShift [5]. References on slide 13.</a:t>
            </a:r>
          </a:p>
        </p:txBody>
      </p:sp>
      <p:sp>
        <p:nvSpPr>
          <p:cNvPr id="9" name="Rounded Rectangle 8"/>
          <p:cNvSpPr/>
          <p:nvPr/>
        </p:nvSpPr>
        <p:spPr>
          <a:xfrm>
            <a:off x="594360" y="2331720"/>
            <a:ext cx="11000232" cy="438912"/>
          </a:xfrm>
          <a:prstGeom prst="roundRect">
            <a:avLst>
              <a:gd name="adj" fmla="val 12000"/>
            </a:avLst>
          </a:prstGeom>
          <a:solidFill>
            <a:srgbClr val="172C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441448"/>
            <a:ext cx="2743200" cy="201168"/>
          </a:xfrm>
          <a:prstGeom prst="rect">
            <a:avLst/>
          </a:prstGeom>
          <a:noFill/>
        </p:spPr>
        <p:txBody>
          <a:bodyPr wrap="square" lIns="0" rIns="0" tIns="0" bIns="0" anchor="t">
            <a:spAutoFit/>
          </a:bodyPr>
          <a:lstStyle/>
          <a:p>
            <a:pPr algn="l">
              <a:lnSpc>
                <a:spcPct val="108000"/>
              </a:lnSpc>
              <a:spcBef>
                <a:spcPts val="0"/>
              </a:spcBef>
              <a:spcAft>
                <a:spcPts val="500"/>
              </a:spcAft>
            </a:pPr>
            <a:r>
              <a:rPr sz="1200" b="1">
                <a:solidFill>
                  <a:srgbClr val="FFFFFF"/>
                </a:solidFill>
                <a:latin typeface="Arial"/>
              </a:rPr>
              <a:t>APPROACH</a:t>
            </a:r>
          </a:p>
        </p:txBody>
      </p:sp>
      <p:sp>
        <p:nvSpPr>
          <p:cNvPr id="11" name="TextBox 10"/>
          <p:cNvSpPr txBox="1"/>
          <p:nvPr/>
        </p:nvSpPr>
        <p:spPr>
          <a:xfrm>
            <a:off x="3703320" y="2441448"/>
            <a:ext cx="7498079" cy="201168"/>
          </a:xfrm>
          <a:prstGeom prst="rect">
            <a:avLst/>
          </a:prstGeom>
          <a:noFill/>
        </p:spPr>
        <p:txBody>
          <a:bodyPr wrap="square" lIns="0" rIns="0" tIns="0" bIns="0" anchor="t">
            <a:spAutoFit/>
          </a:bodyPr>
          <a:lstStyle/>
          <a:p>
            <a:pPr algn="l">
              <a:lnSpc>
                <a:spcPct val="108000"/>
              </a:lnSpc>
              <a:spcBef>
                <a:spcPts val="0"/>
              </a:spcBef>
              <a:spcAft>
                <a:spcPts val="500"/>
              </a:spcAft>
            </a:pPr>
            <a:r>
              <a:rPr sz="1200" b="1">
                <a:solidFill>
                  <a:srgbClr val="FFFFFF"/>
                </a:solidFill>
                <a:latin typeface="Arial"/>
              </a:rPr>
              <a:t>MAIN EMPHASIS</a:t>
            </a:r>
          </a:p>
        </p:txBody>
      </p:sp>
      <p:sp>
        <p:nvSpPr>
          <p:cNvPr id="12" name="Rounded Rectangle 11"/>
          <p:cNvSpPr/>
          <p:nvPr/>
        </p:nvSpPr>
        <p:spPr>
          <a:xfrm>
            <a:off x="594360" y="2852928"/>
            <a:ext cx="11000232" cy="5852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008376"/>
            <a:ext cx="2862072" cy="292608"/>
          </a:xfrm>
          <a:prstGeom prst="rect">
            <a:avLst/>
          </a:prstGeom>
          <a:noFill/>
        </p:spPr>
        <p:txBody>
          <a:bodyPr wrap="square" lIns="0" rIns="0" tIns="0" bIns="0" anchor="t">
            <a:spAutoFit/>
          </a:bodyPr>
          <a:lstStyle/>
          <a:p>
            <a:pPr algn="l">
              <a:lnSpc>
                <a:spcPct val="108000"/>
              </a:lnSpc>
              <a:spcBef>
                <a:spcPts val="0"/>
              </a:spcBef>
              <a:spcAft>
                <a:spcPts val="500"/>
              </a:spcAft>
            </a:pPr>
            <a:r>
              <a:rPr sz="1800" b="1">
                <a:solidFill>
                  <a:srgbClr val="172C43"/>
                </a:solidFill>
                <a:latin typeface="Arial"/>
              </a:rPr>
              <a:t>Kubernetes / K3s [1, 2]</a:t>
            </a:r>
          </a:p>
        </p:txBody>
      </p:sp>
      <p:sp>
        <p:nvSpPr>
          <p:cNvPr id="14" name="TextBox 13"/>
          <p:cNvSpPr txBox="1"/>
          <p:nvPr/>
        </p:nvSpPr>
        <p:spPr>
          <a:xfrm>
            <a:off x="3703320" y="3008376"/>
            <a:ext cx="7498079" cy="329184"/>
          </a:xfrm>
          <a:prstGeom prst="rect">
            <a:avLst/>
          </a:prstGeom>
          <a:noFill/>
        </p:spPr>
        <p:txBody>
          <a:bodyPr wrap="square" lIns="0" rIns="0" tIns="0" bIns="0" anchor="t">
            <a:spAutoFit/>
          </a:bodyPr>
          <a:lstStyle/>
          <a:p>
            <a:pPr algn="l">
              <a:lnSpc>
                <a:spcPct val="108000"/>
              </a:lnSpc>
              <a:spcBef>
                <a:spcPts val="0"/>
              </a:spcBef>
              <a:spcAft>
                <a:spcPts val="500"/>
              </a:spcAft>
            </a:pPr>
            <a:r>
              <a:rPr sz="1900" b="0">
                <a:solidFill>
                  <a:srgbClr val="172C43"/>
                </a:solidFill>
                <a:latin typeface="Arial"/>
              </a:rPr>
              <a:t>Orchestration and packaged cluster building blocks</a:t>
            </a:r>
          </a:p>
        </p:txBody>
      </p:sp>
      <p:sp>
        <p:nvSpPr>
          <p:cNvPr id="15" name="Rounded Rectangle 14"/>
          <p:cNvSpPr/>
          <p:nvPr/>
        </p:nvSpPr>
        <p:spPr>
          <a:xfrm>
            <a:off x="594360" y="3520440"/>
            <a:ext cx="11000232" cy="585216"/>
          </a:xfrm>
          <a:prstGeom prst="roundRect">
            <a:avLst>
              <a:gd name="adj" fmla="val 12000"/>
            </a:avLst>
          </a:prstGeom>
          <a:solidFill>
            <a:srgbClr val="E8EE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3675888"/>
            <a:ext cx="2862072" cy="292608"/>
          </a:xfrm>
          <a:prstGeom prst="rect">
            <a:avLst/>
          </a:prstGeom>
          <a:noFill/>
        </p:spPr>
        <p:txBody>
          <a:bodyPr wrap="square" lIns="0" rIns="0" tIns="0" bIns="0" anchor="t">
            <a:spAutoFit/>
          </a:bodyPr>
          <a:lstStyle/>
          <a:p>
            <a:pPr algn="l">
              <a:lnSpc>
                <a:spcPct val="108000"/>
              </a:lnSpc>
              <a:spcBef>
                <a:spcPts val="0"/>
              </a:spcBef>
              <a:spcAft>
                <a:spcPts val="500"/>
              </a:spcAft>
            </a:pPr>
            <a:r>
              <a:rPr sz="1800" b="1">
                <a:solidFill>
                  <a:srgbClr val="172C43"/>
                </a:solidFill>
                <a:latin typeface="Arial"/>
              </a:rPr>
              <a:t>Coolify [3]</a:t>
            </a:r>
          </a:p>
        </p:txBody>
      </p:sp>
      <p:sp>
        <p:nvSpPr>
          <p:cNvPr id="17" name="TextBox 16"/>
          <p:cNvSpPr txBox="1"/>
          <p:nvPr/>
        </p:nvSpPr>
        <p:spPr>
          <a:xfrm>
            <a:off x="3703320" y="3675888"/>
            <a:ext cx="7498079" cy="329184"/>
          </a:xfrm>
          <a:prstGeom prst="rect">
            <a:avLst/>
          </a:prstGeom>
          <a:noFill/>
        </p:spPr>
        <p:txBody>
          <a:bodyPr wrap="square" lIns="0" rIns="0" tIns="0" bIns="0" anchor="t">
            <a:spAutoFit/>
          </a:bodyPr>
          <a:lstStyle/>
          <a:p>
            <a:pPr algn="l">
              <a:lnSpc>
                <a:spcPct val="108000"/>
              </a:lnSpc>
              <a:spcBef>
                <a:spcPts val="0"/>
              </a:spcBef>
              <a:spcAft>
                <a:spcPts val="500"/>
              </a:spcAft>
            </a:pPr>
            <a:r>
              <a:rPr sz="1900" b="0">
                <a:solidFill>
                  <a:srgbClr val="172C43"/>
                </a:solidFill>
                <a:latin typeface="Arial"/>
              </a:rPr>
              <a:t>Application delivery on operator-controlled Docker hosts</a:t>
            </a:r>
          </a:p>
        </p:txBody>
      </p:sp>
      <p:sp>
        <p:nvSpPr>
          <p:cNvPr id="18" name="Rounded Rectangle 17"/>
          <p:cNvSpPr/>
          <p:nvPr/>
        </p:nvSpPr>
        <p:spPr>
          <a:xfrm>
            <a:off x="594360" y="4187952"/>
            <a:ext cx="11000232" cy="5852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4343400"/>
            <a:ext cx="2862072" cy="292608"/>
          </a:xfrm>
          <a:prstGeom prst="rect">
            <a:avLst/>
          </a:prstGeom>
          <a:noFill/>
        </p:spPr>
        <p:txBody>
          <a:bodyPr wrap="square" lIns="0" rIns="0" tIns="0" bIns="0" anchor="t">
            <a:spAutoFit/>
          </a:bodyPr>
          <a:lstStyle/>
          <a:p>
            <a:pPr algn="l">
              <a:lnSpc>
                <a:spcPct val="108000"/>
              </a:lnSpc>
              <a:spcBef>
                <a:spcPts val="0"/>
              </a:spcBef>
              <a:spcAft>
                <a:spcPts val="500"/>
              </a:spcAft>
            </a:pPr>
            <a:r>
              <a:rPr sz="1800" b="1">
                <a:solidFill>
                  <a:srgbClr val="172C43"/>
                </a:solidFill>
                <a:latin typeface="Arial"/>
              </a:rPr>
              <a:t>Portainer [4]</a:t>
            </a:r>
          </a:p>
        </p:txBody>
      </p:sp>
      <p:sp>
        <p:nvSpPr>
          <p:cNvPr id="20" name="TextBox 19"/>
          <p:cNvSpPr txBox="1"/>
          <p:nvPr/>
        </p:nvSpPr>
        <p:spPr>
          <a:xfrm>
            <a:off x="3703320" y="4343400"/>
            <a:ext cx="7498079" cy="329184"/>
          </a:xfrm>
          <a:prstGeom prst="rect">
            <a:avLst/>
          </a:prstGeom>
          <a:noFill/>
        </p:spPr>
        <p:txBody>
          <a:bodyPr wrap="square" lIns="0" rIns="0" tIns="0" bIns="0" anchor="t">
            <a:spAutoFit/>
          </a:bodyPr>
          <a:lstStyle/>
          <a:p>
            <a:pPr algn="l">
              <a:lnSpc>
                <a:spcPct val="108000"/>
              </a:lnSpc>
              <a:spcBef>
                <a:spcPts val="0"/>
              </a:spcBef>
              <a:spcAft>
                <a:spcPts val="500"/>
              </a:spcAft>
            </a:pPr>
            <a:r>
              <a:rPr sz="1900" b="0">
                <a:solidFill>
                  <a:srgbClr val="172C43"/>
                </a:solidFill>
                <a:latin typeface="Arial"/>
              </a:rPr>
              <a:t>Visual container and Kubernetes management</a:t>
            </a:r>
          </a:p>
        </p:txBody>
      </p:sp>
      <p:sp>
        <p:nvSpPr>
          <p:cNvPr id="21" name="Rounded Rectangle 20"/>
          <p:cNvSpPr/>
          <p:nvPr/>
        </p:nvSpPr>
        <p:spPr>
          <a:xfrm>
            <a:off x="594360" y="4855464"/>
            <a:ext cx="11000232" cy="585216"/>
          </a:xfrm>
          <a:prstGeom prst="roundRect">
            <a:avLst>
              <a:gd name="adj" fmla="val 12000"/>
            </a:avLst>
          </a:prstGeom>
          <a:solidFill>
            <a:srgbClr val="E8EE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010912"/>
            <a:ext cx="2862072" cy="292608"/>
          </a:xfrm>
          <a:prstGeom prst="rect">
            <a:avLst/>
          </a:prstGeom>
          <a:noFill/>
        </p:spPr>
        <p:txBody>
          <a:bodyPr wrap="square" lIns="0" rIns="0" tIns="0" bIns="0" anchor="t">
            <a:spAutoFit/>
          </a:bodyPr>
          <a:lstStyle/>
          <a:p>
            <a:pPr algn="l">
              <a:lnSpc>
                <a:spcPct val="108000"/>
              </a:lnSpc>
              <a:spcBef>
                <a:spcPts val="0"/>
              </a:spcBef>
              <a:spcAft>
                <a:spcPts val="500"/>
              </a:spcAft>
            </a:pPr>
            <a:r>
              <a:rPr sz="1800" b="1">
                <a:solidFill>
                  <a:srgbClr val="172C43"/>
                </a:solidFill>
                <a:latin typeface="Arial"/>
              </a:rPr>
              <a:t>OpenShift [5]</a:t>
            </a:r>
          </a:p>
        </p:txBody>
      </p:sp>
      <p:sp>
        <p:nvSpPr>
          <p:cNvPr id="23" name="TextBox 22"/>
          <p:cNvSpPr txBox="1"/>
          <p:nvPr/>
        </p:nvSpPr>
        <p:spPr>
          <a:xfrm>
            <a:off x="3703320" y="5010912"/>
            <a:ext cx="7498079" cy="329184"/>
          </a:xfrm>
          <a:prstGeom prst="rect">
            <a:avLst/>
          </a:prstGeom>
          <a:noFill/>
        </p:spPr>
        <p:txBody>
          <a:bodyPr wrap="square" lIns="0" rIns="0" tIns="0" bIns="0" anchor="t">
            <a:spAutoFit/>
          </a:bodyPr>
          <a:lstStyle/>
          <a:p>
            <a:pPr algn="l">
              <a:lnSpc>
                <a:spcPct val="108000"/>
              </a:lnSpc>
              <a:spcBef>
                <a:spcPts val="0"/>
              </a:spcBef>
              <a:spcAft>
                <a:spcPts val="500"/>
              </a:spcAft>
            </a:pPr>
            <a:r>
              <a:rPr sz="1900" b="0">
                <a:solidFill>
                  <a:srgbClr val="172C43"/>
                </a:solidFill>
                <a:latin typeface="Arial"/>
              </a:rPr>
              <a:t>Broad enterprise Kubernetes application platform</a:t>
            </a:r>
          </a:p>
        </p:txBody>
      </p:sp>
      <p:sp>
        <p:nvSpPr>
          <p:cNvPr id="24" name="TextBox 23"/>
          <p:cNvSpPr txBox="1"/>
          <p:nvPr/>
        </p:nvSpPr>
        <p:spPr>
          <a:xfrm>
            <a:off x="777240" y="5696712"/>
            <a:ext cx="10515600" cy="320040"/>
          </a:xfrm>
          <a:prstGeom prst="rect">
            <a:avLst/>
          </a:prstGeom>
          <a:noFill/>
        </p:spPr>
        <p:txBody>
          <a:bodyPr wrap="square" lIns="0" rIns="0" tIns="0" bIns="0" anchor="t">
            <a:spAutoFit/>
          </a:bodyPr>
          <a:lstStyle/>
          <a:p>
            <a:pPr algn="l">
              <a:lnSpc>
                <a:spcPct val="108000"/>
              </a:lnSpc>
              <a:spcBef>
                <a:spcPts val="0"/>
              </a:spcBef>
              <a:spcAft>
                <a:spcPts val="500"/>
              </a:spcAft>
            </a:pPr>
            <a:r>
              <a:rPr sz="2100" b="1">
                <a:solidFill>
                  <a:srgbClr val="087F8C"/>
                </a:solidFill>
                <a:latin typeface="Arial"/>
              </a:rPr>
              <a:t>Self-hosting and a deployment UI are established capabilities.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7F9"/>
        </a:solidFill>
        <a:effectLst/>
      </p:bgPr>
    </p:bg>
    <p:spTree>
      <p:nvGrpSpPr>
        <p:cNvPr id="1" name=""/>
        <p:cNvGrpSpPr/>
        <p:nvPr/>
      </p:nvGrpSpPr>
      <p:grpSpPr/>
      <p:sp>
        <p:nvSpPr>
          <p:cNvPr id="2" name="TextBox 1"/>
          <p:cNvSpPr txBox="1"/>
          <p:nvPr/>
        </p:nvSpPr>
        <p:spPr>
          <a:xfrm>
            <a:off x="566928" y="320040"/>
            <a:ext cx="10789920" cy="201168"/>
          </a:xfrm>
          <a:prstGeom prst="rect">
            <a:avLst/>
          </a:prstGeom>
          <a:noFill/>
        </p:spPr>
        <p:txBody>
          <a:bodyPr wrap="square" lIns="0" rIns="0" tIns="0" bIns="0" anchor="t">
            <a:spAutoFit/>
          </a:bodyPr>
          <a:lstStyle/>
          <a:p>
            <a:pPr algn="l">
              <a:lnSpc>
                <a:spcPct val="108000"/>
              </a:lnSpc>
              <a:spcBef>
                <a:spcPts val="0"/>
              </a:spcBef>
              <a:spcAft>
                <a:spcPts val="500"/>
              </a:spcAft>
            </a:pPr>
            <a:r>
              <a:rPr sz="1050" b="1">
                <a:solidFill>
                  <a:srgbClr val="087F8C"/>
                </a:solidFill>
                <a:latin typeface="Arial"/>
              </a:rPr>
              <a:t>PLANNED CONTRIBUTION</a:t>
            </a:r>
          </a:p>
        </p:txBody>
      </p:sp>
      <p:sp>
        <p:nvSpPr>
          <p:cNvPr id="3" name="TextBox 2"/>
          <p:cNvSpPr txBox="1"/>
          <p:nvPr/>
        </p:nvSpPr>
        <p:spPr>
          <a:xfrm>
            <a:off x="566928" y="758952"/>
            <a:ext cx="11064240" cy="1005840"/>
          </a:xfrm>
          <a:prstGeom prst="rect">
            <a:avLst/>
          </a:prstGeom>
          <a:noFill/>
        </p:spPr>
        <p:txBody>
          <a:bodyPr wrap="square" lIns="0" rIns="0" tIns="0" bIns="0" anchor="t">
            <a:spAutoFit/>
          </a:bodyPr>
          <a:lstStyle/>
          <a:p>
            <a:pPr algn="l">
              <a:lnSpc>
                <a:spcPct val="108000"/>
              </a:lnSpc>
              <a:spcBef>
                <a:spcPts val="0"/>
              </a:spcBef>
              <a:spcAft>
                <a:spcPts val="500"/>
              </a:spcAft>
            </a:pPr>
            <a:r>
              <a:rPr sz="3100" b="1">
                <a:solidFill>
                  <a:srgbClr val="172C43"/>
                </a:solidFill>
                <a:latin typeface="Arial"/>
              </a:rPr>
              <a:t>A focused workflow for modest hardware</a:t>
            </a:r>
          </a:p>
        </p:txBody>
      </p:sp>
      <p:sp>
        <p:nvSpPr>
          <p:cNvPr id="4" name="TextBox 3"/>
          <p:cNvSpPr txBox="1"/>
          <p:nvPr/>
        </p:nvSpPr>
        <p:spPr>
          <a:xfrm>
            <a:off x="594360" y="1636776"/>
            <a:ext cx="10972800" cy="548640"/>
          </a:xfrm>
          <a:prstGeom prst="rect">
            <a:avLst/>
          </a:prstGeom>
          <a:noFill/>
        </p:spPr>
        <p:txBody>
          <a:bodyPr wrap="square" lIns="0" rIns="0" tIns="0" bIns="0" anchor="t">
            <a:spAutoFit/>
          </a:bodyPr>
          <a:lstStyle/>
          <a:p>
            <a:pPr algn="l">
              <a:lnSpc>
                <a:spcPct val="108000"/>
              </a:lnSpc>
              <a:spcBef>
                <a:spcPts val="0"/>
              </a:spcBef>
              <a:spcAft>
                <a:spcPts val="500"/>
              </a:spcAft>
            </a:pPr>
            <a:r>
              <a:rPr sz="1600" b="0">
                <a:solidFill>
                  <a:srgbClr val="53677C"/>
                </a:solidFill>
                <a:latin typeface="Arial"/>
              </a:rPr>
              <a:t>The intended contribution combines a focused implementation with measured evaluation.</a:t>
            </a:r>
          </a:p>
        </p:txBody>
      </p:sp>
      <p:sp>
        <p:nvSpPr>
          <p:cNvPr id="5" name="Rectangle 4"/>
          <p:cNvSpPr/>
          <p:nvPr/>
        </p:nvSpPr>
        <p:spPr>
          <a:xfrm>
            <a:off x="576072" y="6446520"/>
            <a:ext cx="11018520" cy="10972"/>
          </a:xfrm>
          <a:prstGeom prst="rect">
            <a:avLst/>
          </a:prstGeom>
          <a:solidFill>
            <a:srgbClr val="D6DE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56248"/>
            <a:ext cx="8229600" cy="155448"/>
          </a:xfrm>
          <a:prstGeom prst="rect">
            <a:avLst/>
          </a:prstGeom>
          <a:noFill/>
        </p:spPr>
        <p:txBody>
          <a:bodyPr wrap="square" lIns="0" rIns="0" tIns="0" bIns="0" anchor="t">
            <a:spAutoFit/>
          </a:bodyPr>
          <a:lstStyle/>
          <a:p>
            <a:pPr algn="l">
              <a:lnSpc>
                <a:spcPct val="108000"/>
              </a:lnSpc>
              <a:spcBef>
                <a:spcPts val="0"/>
              </a:spcBef>
              <a:spcAft>
                <a:spcPts val="500"/>
              </a:spcAft>
            </a:pPr>
            <a:r>
              <a:rPr sz="850" b="0">
                <a:solidFill>
                  <a:srgbClr val="53677C"/>
                </a:solidFill>
                <a:latin typeface="Arial"/>
              </a:rPr>
              <a:t>SELF-HOSTED KUBERNETES APPLICATION PLATFORM</a:t>
            </a:r>
          </a:p>
        </p:txBody>
      </p:sp>
      <p:sp>
        <p:nvSpPr>
          <p:cNvPr id="7" name="TextBox 6"/>
          <p:cNvSpPr txBox="1"/>
          <p:nvPr/>
        </p:nvSpPr>
        <p:spPr>
          <a:xfrm>
            <a:off x="11064240" y="6510528"/>
            <a:ext cx="502920" cy="228600"/>
          </a:xfrm>
          <a:prstGeom prst="rect">
            <a:avLst/>
          </a:prstGeom>
          <a:noFill/>
        </p:spPr>
        <p:txBody>
          <a:bodyPr wrap="square" lIns="0" rIns="0" tIns="0" bIns="0" anchor="t">
            <a:spAutoFit/>
          </a:bodyPr>
          <a:lstStyle/>
          <a:p>
            <a:pPr algn="r">
              <a:lnSpc>
                <a:spcPct val="108000"/>
              </a:lnSpc>
              <a:spcBef>
                <a:spcPts val="0"/>
              </a:spcBef>
              <a:spcAft>
                <a:spcPts val="500"/>
              </a:spcAft>
            </a:pPr>
            <a:r>
              <a:rPr sz="1200" b="0">
                <a:solidFill>
                  <a:srgbClr val="53677C"/>
                </a:solidFill>
                <a:latin typeface="Arial"/>
              </a:rPr>
              <a:t>05</a:t>
            </a:r>
          </a:p>
        </p:txBody>
      </p:sp>
      <p:sp>
        <p:nvSpPr>
          <p:cNvPr id="8" name="Rounded Rectangle 7"/>
          <p:cNvSpPr/>
          <p:nvPr/>
        </p:nvSpPr>
        <p:spPr>
          <a:xfrm>
            <a:off x="594360" y="2331720"/>
            <a:ext cx="5394960" cy="1517904"/>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532888"/>
            <a:ext cx="457200" cy="320040"/>
          </a:xfrm>
          <a:prstGeom prst="rect">
            <a:avLst/>
          </a:prstGeom>
          <a:noFill/>
        </p:spPr>
        <p:txBody>
          <a:bodyPr wrap="square" lIns="0" rIns="0" tIns="0" bIns="0" anchor="t">
            <a:spAutoFit/>
          </a:bodyPr>
          <a:lstStyle/>
          <a:p>
            <a:pPr algn="l">
              <a:lnSpc>
                <a:spcPct val="108000"/>
              </a:lnSpc>
              <a:spcBef>
                <a:spcPts val="0"/>
              </a:spcBef>
              <a:spcAft>
                <a:spcPts val="500"/>
              </a:spcAft>
            </a:pPr>
            <a:r>
              <a:rPr sz="1900" b="1">
                <a:solidFill>
                  <a:srgbClr val="087F8C"/>
                </a:solidFill>
                <a:latin typeface="Arial"/>
              </a:rPr>
              <a:t>01</a:t>
            </a:r>
          </a:p>
        </p:txBody>
      </p:sp>
      <p:sp>
        <p:nvSpPr>
          <p:cNvPr id="10" name="TextBox 9"/>
          <p:cNvSpPr txBox="1"/>
          <p:nvPr/>
        </p:nvSpPr>
        <p:spPr>
          <a:xfrm>
            <a:off x="1408176" y="2532888"/>
            <a:ext cx="4343400" cy="365760"/>
          </a:xfrm>
          <a:prstGeom prst="rect">
            <a:avLst/>
          </a:prstGeom>
          <a:noFill/>
        </p:spPr>
        <p:txBody>
          <a:bodyPr wrap="square" lIns="0" rIns="0" tIns="0" bIns="0" anchor="t">
            <a:spAutoFit/>
          </a:bodyPr>
          <a:lstStyle/>
          <a:p>
            <a:pPr algn="l">
              <a:lnSpc>
                <a:spcPct val="108000"/>
              </a:lnSpc>
              <a:spcBef>
                <a:spcPts val="0"/>
              </a:spcBef>
              <a:spcAft>
                <a:spcPts val="500"/>
              </a:spcAft>
            </a:pPr>
            <a:r>
              <a:rPr sz="2100" b="1">
                <a:solidFill>
                  <a:srgbClr val="172C43"/>
                </a:solidFill>
                <a:latin typeface="Arial"/>
              </a:rPr>
              <a:t>A defined starting point</a:t>
            </a:r>
          </a:p>
        </p:txBody>
      </p:sp>
      <p:sp>
        <p:nvSpPr>
          <p:cNvPr id="11" name="TextBox 10"/>
          <p:cNvSpPr txBox="1"/>
          <p:nvPr/>
        </p:nvSpPr>
        <p:spPr>
          <a:xfrm>
            <a:off x="1408176" y="3081527"/>
            <a:ext cx="4279392" cy="594360"/>
          </a:xfrm>
          <a:prstGeom prst="rect">
            <a:avLst/>
          </a:prstGeom>
          <a:noFill/>
        </p:spPr>
        <p:txBody>
          <a:bodyPr wrap="square" lIns="0" rIns="0" tIns="0" bIns="0" anchor="t">
            <a:spAutoFit/>
          </a:bodyPr>
          <a:lstStyle/>
          <a:p>
            <a:pPr algn="l">
              <a:lnSpc>
                <a:spcPct val="108000"/>
              </a:lnSpc>
              <a:spcBef>
                <a:spcPts val="0"/>
              </a:spcBef>
              <a:spcAft>
                <a:spcPts val="500"/>
              </a:spcAft>
            </a:pPr>
            <a:r>
              <a:rPr sz="1700" b="0">
                <a:solidFill>
                  <a:srgbClr val="53677C"/>
                </a:solidFill>
                <a:latin typeface="Arial"/>
              </a:rPr>
              <a:t>One administrator, one cluster, prebuilt images.</a:t>
            </a:r>
          </a:p>
        </p:txBody>
      </p:sp>
      <p:sp>
        <p:nvSpPr>
          <p:cNvPr id="12" name="Rounded Rectangle 11"/>
          <p:cNvSpPr/>
          <p:nvPr/>
        </p:nvSpPr>
        <p:spPr>
          <a:xfrm>
            <a:off x="6199632" y="2331720"/>
            <a:ext cx="5394960" cy="1517904"/>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82512" y="2532888"/>
            <a:ext cx="457200" cy="320040"/>
          </a:xfrm>
          <a:prstGeom prst="rect">
            <a:avLst/>
          </a:prstGeom>
          <a:noFill/>
        </p:spPr>
        <p:txBody>
          <a:bodyPr wrap="square" lIns="0" rIns="0" tIns="0" bIns="0" anchor="t">
            <a:spAutoFit/>
          </a:bodyPr>
          <a:lstStyle/>
          <a:p>
            <a:pPr algn="l">
              <a:lnSpc>
                <a:spcPct val="108000"/>
              </a:lnSpc>
              <a:spcBef>
                <a:spcPts val="0"/>
              </a:spcBef>
              <a:spcAft>
                <a:spcPts val="500"/>
              </a:spcAft>
            </a:pPr>
            <a:r>
              <a:rPr sz="1900" b="1">
                <a:solidFill>
                  <a:srgbClr val="087F8C"/>
                </a:solidFill>
                <a:latin typeface="Arial"/>
              </a:rPr>
              <a:t>02</a:t>
            </a:r>
          </a:p>
        </p:txBody>
      </p:sp>
      <p:sp>
        <p:nvSpPr>
          <p:cNvPr id="14" name="TextBox 13"/>
          <p:cNvSpPr txBox="1"/>
          <p:nvPr/>
        </p:nvSpPr>
        <p:spPr>
          <a:xfrm>
            <a:off x="7013448" y="2532888"/>
            <a:ext cx="4343400" cy="365760"/>
          </a:xfrm>
          <a:prstGeom prst="rect">
            <a:avLst/>
          </a:prstGeom>
          <a:noFill/>
        </p:spPr>
        <p:txBody>
          <a:bodyPr wrap="square" lIns="0" rIns="0" tIns="0" bIns="0" anchor="t">
            <a:spAutoFit/>
          </a:bodyPr>
          <a:lstStyle/>
          <a:p>
            <a:pPr algn="l">
              <a:lnSpc>
                <a:spcPct val="108000"/>
              </a:lnSpc>
              <a:spcBef>
                <a:spcPts val="0"/>
              </a:spcBef>
              <a:spcAft>
                <a:spcPts val="500"/>
              </a:spcAft>
            </a:pPr>
            <a:r>
              <a:rPr sz="2100" b="1">
                <a:solidFill>
                  <a:srgbClr val="172C43"/>
                </a:solidFill>
                <a:latin typeface="Arial"/>
              </a:rPr>
              <a:t>A guided application lifecycle</a:t>
            </a:r>
          </a:p>
        </p:txBody>
      </p:sp>
      <p:sp>
        <p:nvSpPr>
          <p:cNvPr id="15" name="TextBox 14"/>
          <p:cNvSpPr txBox="1"/>
          <p:nvPr/>
        </p:nvSpPr>
        <p:spPr>
          <a:xfrm>
            <a:off x="7013448" y="3081527"/>
            <a:ext cx="4279392" cy="594360"/>
          </a:xfrm>
          <a:prstGeom prst="rect">
            <a:avLst/>
          </a:prstGeom>
          <a:noFill/>
        </p:spPr>
        <p:txBody>
          <a:bodyPr wrap="square" lIns="0" rIns="0" tIns="0" bIns="0" anchor="t">
            <a:spAutoFit/>
          </a:bodyPr>
          <a:lstStyle/>
          <a:p>
            <a:pPr algn="l">
              <a:lnSpc>
                <a:spcPct val="108000"/>
              </a:lnSpc>
              <a:spcBef>
                <a:spcPts val="0"/>
              </a:spcBef>
              <a:spcAft>
                <a:spcPts val="500"/>
              </a:spcAft>
            </a:pPr>
            <a:r>
              <a:rPr sz="1700" b="0">
                <a:solidFill>
                  <a:srgbClr val="53677C"/>
                </a:solidFill>
                <a:latin typeface="Arial"/>
              </a:rPr>
              <a:t>Deploy, inspect, update, scale and recover.</a:t>
            </a:r>
          </a:p>
        </p:txBody>
      </p:sp>
      <p:sp>
        <p:nvSpPr>
          <p:cNvPr id="16" name="Rounded Rectangle 15"/>
          <p:cNvSpPr/>
          <p:nvPr/>
        </p:nvSpPr>
        <p:spPr>
          <a:xfrm>
            <a:off x="594360" y="4096512"/>
            <a:ext cx="5394960" cy="1517904"/>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297680"/>
            <a:ext cx="457200" cy="320040"/>
          </a:xfrm>
          <a:prstGeom prst="rect">
            <a:avLst/>
          </a:prstGeom>
          <a:noFill/>
        </p:spPr>
        <p:txBody>
          <a:bodyPr wrap="square" lIns="0" rIns="0" tIns="0" bIns="0" anchor="t">
            <a:spAutoFit/>
          </a:bodyPr>
          <a:lstStyle/>
          <a:p>
            <a:pPr algn="l">
              <a:lnSpc>
                <a:spcPct val="108000"/>
              </a:lnSpc>
              <a:spcBef>
                <a:spcPts val="0"/>
              </a:spcBef>
              <a:spcAft>
                <a:spcPts val="500"/>
              </a:spcAft>
            </a:pPr>
            <a:r>
              <a:rPr sz="1900" b="1">
                <a:solidFill>
                  <a:srgbClr val="087F8C"/>
                </a:solidFill>
                <a:latin typeface="Arial"/>
              </a:rPr>
              <a:t>03</a:t>
            </a:r>
          </a:p>
        </p:txBody>
      </p:sp>
      <p:sp>
        <p:nvSpPr>
          <p:cNvPr id="18" name="TextBox 17"/>
          <p:cNvSpPr txBox="1"/>
          <p:nvPr/>
        </p:nvSpPr>
        <p:spPr>
          <a:xfrm>
            <a:off x="1408176" y="4297680"/>
            <a:ext cx="4343400" cy="365760"/>
          </a:xfrm>
          <a:prstGeom prst="rect">
            <a:avLst/>
          </a:prstGeom>
          <a:noFill/>
        </p:spPr>
        <p:txBody>
          <a:bodyPr wrap="square" lIns="0" rIns="0" tIns="0" bIns="0" anchor="t">
            <a:spAutoFit/>
          </a:bodyPr>
          <a:lstStyle/>
          <a:p>
            <a:pPr algn="l">
              <a:lnSpc>
                <a:spcPct val="108000"/>
              </a:lnSpc>
              <a:spcBef>
                <a:spcPts val="0"/>
              </a:spcBef>
              <a:spcAft>
                <a:spcPts val="500"/>
              </a:spcAft>
            </a:pPr>
            <a:r>
              <a:rPr sz="2100" b="1">
                <a:solidFill>
                  <a:srgbClr val="172C43"/>
                </a:solidFill>
                <a:latin typeface="Arial"/>
              </a:rPr>
              <a:t>Recorded and verified outcomes</a:t>
            </a:r>
          </a:p>
        </p:txBody>
      </p:sp>
      <p:sp>
        <p:nvSpPr>
          <p:cNvPr id="19" name="TextBox 18"/>
          <p:cNvSpPr txBox="1"/>
          <p:nvPr/>
        </p:nvSpPr>
        <p:spPr>
          <a:xfrm>
            <a:off x="1408176" y="4846320"/>
            <a:ext cx="4279392" cy="594360"/>
          </a:xfrm>
          <a:prstGeom prst="rect">
            <a:avLst/>
          </a:prstGeom>
          <a:noFill/>
        </p:spPr>
        <p:txBody>
          <a:bodyPr wrap="square" lIns="0" rIns="0" tIns="0" bIns="0" anchor="t">
            <a:spAutoFit/>
          </a:bodyPr>
          <a:lstStyle/>
          <a:p>
            <a:pPr algn="l">
              <a:lnSpc>
                <a:spcPct val="108000"/>
              </a:lnSpc>
              <a:spcBef>
                <a:spcPts val="0"/>
              </a:spcBef>
              <a:spcAft>
                <a:spcPts val="500"/>
              </a:spcAft>
            </a:pPr>
            <a:r>
              <a:rPr sz="1700" b="0">
                <a:solidFill>
                  <a:srgbClr val="53677C"/>
                </a:solidFill>
                <a:latin typeface="Arial"/>
              </a:rPr>
              <a:t>Persistent operations, revisions and recovery evidence.</a:t>
            </a:r>
          </a:p>
        </p:txBody>
      </p:sp>
      <p:sp>
        <p:nvSpPr>
          <p:cNvPr id="20" name="Rounded Rectangle 19"/>
          <p:cNvSpPr/>
          <p:nvPr/>
        </p:nvSpPr>
        <p:spPr>
          <a:xfrm>
            <a:off x="6199632" y="4096512"/>
            <a:ext cx="5394960" cy="1517904"/>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82512" y="4297680"/>
            <a:ext cx="457200" cy="320040"/>
          </a:xfrm>
          <a:prstGeom prst="rect">
            <a:avLst/>
          </a:prstGeom>
          <a:noFill/>
        </p:spPr>
        <p:txBody>
          <a:bodyPr wrap="square" lIns="0" rIns="0" tIns="0" bIns="0" anchor="t">
            <a:spAutoFit/>
          </a:bodyPr>
          <a:lstStyle/>
          <a:p>
            <a:pPr algn="l">
              <a:lnSpc>
                <a:spcPct val="108000"/>
              </a:lnSpc>
              <a:spcBef>
                <a:spcPts val="0"/>
              </a:spcBef>
              <a:spcAft>
                <a:spcPts val="500"/>
              </a:spcAft>
            </a:pPr>
            <a:r>
              <a:rPr sz="1900" b="1">
                <a:solidFill>
                  <a:srgbClr val="087F8C"/>
                </a:solidFill>
                <a:latin typeface="Arial"/>
              </a:rPr>
              <a:t>04</a:t>
            </a:r>
          </a:p>
        </p:txBody>
      </p:sp>
      <p:sp>
        <p:nvSpPr>
          <p:cNvPr id="22" name="TextBox 21"/>
          <p:cNvSpPr txBox="1"/>
          <p:nvPr/>
        </p:nvSpPr>
        <p:spPr>
          <a:xfrm>
            <a:off x="7013448" y="4297680"/>
            <a:ext cx="4343400" cy="365760"/>
          </a:xfrm>
          <a:prstGeom prst="rect">
            <a:avLst/>
          </a:prstGeom>
          <a:noFill/>
        </p:spPr>
        <p:txBody>
          <a:bodyPr wrap="square" lIns="0" rIns="0" tIns="0" bIns="0" anchor="t">
            <a:spAutoFit/>
          </a:bodyPr>
          <a:lstStyle/>
          <a:p>
            <a:pPr algn="l">
              <a:lnSpc>
                <a:spcPct val="108000"/>
              </a:lnSpc>
              <a:spcBef>
                <a:spcPts val="0"/>
              </a:spcBef>
              <a:spcAft>
                <a:spcPts val="500"/>
              </a:spcAft>
            </a:pPr>
            <a:r>
              <a:rPr sz="2100" b="1">
                <a:solidFill>
                  <a:srgbClr val="172C43"/>
                </a:solidFill>
                <a:latin typeface="Arial"/>
              </a:rPr>
              <a:t>An explicit hardware constraint</a:t>
            </a:r>
          </a:p>
        </p:txBody>
      </p:sp>
      <p:sp>
        <p:nvSpPr>
          <p:cNvPr id="23" name="TextBox 22"/>
          <p:cNvSpPr txBox="1"/>
          <p:nvPr/>
        </p:nvSpPr>
        <p:spPr>
          <a:xfrm>
            <a:off x="7013448" y="4846320"/>
            <a:ext cx="4279392" cy="594360"/>
          </a:xfrm>
          <a:prstGeom prst="rect">
            <a:avLst/>
          </a:prstGeom>
          <a:noFill/>
        </p:spPr>
        <p:txBody>
          <a:bodyPr wrap="square" lIns="0" rIns="0" tIns="0" bIns="0" anchor="t">
            <a:spAutoFit/>
          </a:bodyPr>
          <a:lstStyle/>
          <a:p>
            <a:pPr algn="l">
              <a:lnSpc>
                <a:spcPct val="108000"/>
              </a:lnSpc>
              <a:spcBef>
                <a:spcPts val="0"/>
              </a:spcBef>
              <a:spcAft>
                <a:spcPts val="500"/>
              </a:spcAft>
            </a:pPr>
            <a:r>
              <a:rPr sz="1700" b="0">
                <a:solidFill>
                  <a:srgbClr val="53677C"/>
                </a:solidFill>
                <a:latin typeface="Arial"/>
              </a:rPr>
              <a:t>Resource use and behaviour to be measured on the reference Pi.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7F9"/>
        </a:solidFill>
        <a:effectLst/>
      </p:bgPr>
    </p:bg>
    <p:spTree>
      <p:nvGrpSpPr>
        <p:cNvPr id="1" name=""/>
        <p:cNvGrpSpPr/>
        <p:nvPr/>
      </p:nvGrpSpPr>
      <p:grpSpPr/>
      <p:sp>
        <p:nvSpPr>
          <p:cNvPr id="2" name="TextBox 1"/>
          <p:cNvSpPr txBox="1"/>
          <p:nvPr/>
        </p:nvSpPr>
        <p:spPr>
          <a:xfrm>
            <a:off x="566928" y="320040"/>
            <a:ext cx="10789920" cy="201168"/>
          </a:xfrm>
          <a:prstGeom prst="rect">
            <a:avLst/>
          </a:prstGeom>
          <a:noFill/>
        </p:spPr>
        <p:txBody>
          <a:bodyPr wrap="square" lIns="0" rIns="0" tIns="0" bIns="0" anchor="t">
            <a:spAutoFit/>
          </a:bodyPr>
          <a:lstStyle/>
          <a:p>
            <a:pPr algn="l">
              <a:lnSpc>
                <a:spcPct val="108000"/>
              </a:lnSpc>
              <a:spcBef>
                <a:spcPts val="0"/>
              </a:spcBef>
              <a:spcAft>
                <a:spcPts val="500"/>
              </a:spcAft>
            </a:pPr>
            <a:r>
              <a:rPr sz="1050" b="1">
                <a:solidFill>
                  <a:srgbClr val="087F8C"/>
                </a:solidFill>
                <a:latin typeface="Arial"/>
              </a:rPr>
              <a:t>TARGET EXPERIENCE</a:t>
            </a:r>
          </a:p>
        </p:txBody>
      </p:sp>
      <p:sp>
        <p:nvSpPr>
          <p:cNvPr id="3" name="TextBox 2"/>
          <p:cNvSpPr txBox="1"/>
          <p:nvPr/>
        </p:nvSpPr>
        <p:spPr>
          <a:xfrm>
            <a:off x="566928" y="758952"/>
            <a:ext cx="11064240" cy="1005840"/>
          </a:xfrm>
          <a:prstGeom prst="rect">
            <a:avLst/>
          </a:prstGeom>
          <a:noFill/>
        </p:spPr>
        <p:txBody>
          <a:bodyPr wrap="square" lIns="0" rIns="0" tIns="0" bIns="0" anchor="t">
            <a:spAutoFit/>
          </a:bodyPr>
          <a:lstStyle/>
          <a:p>
            <a:pPr algn="l">
              <a:lnSpc>
                <a:spcPct val="108000"/>
              </a:lnSpc>
              <a:spcBef>
                <a:spcPts val="0"/>
              </a:spcBef>
              <a:spcAft>
                <a:spcPts val="500"/>
              </a:spcAft>
            </a:pPr>
            <a:r>
              <a:rPr sz="3100" b="1">
                <a:solidFill>
                  <a:srgbClr val="172C43"/>
                </a:solidFill>
                <a:latin typeface="Arial"/>
              </a:rPr>
              <a:t>From an image reference to an operated application</a:t>
            </a:r>
          </a:p>
        </p:txBody>
      </p:sp>
      <p:sp>
        <p:nvSpPr>
          <p:cNvPr id="4" name="TextBox 3"/>
          <p:cNvSpPr txBox="1"/>
          <p:nvPr/>
        </p:nvSpPr>
        <p:spPr>
          <a:xfrm>
            <a:off x="594360" y="1636776"/>
            <a:ext cx="10972800" cy="548640"/>
          </a:xfrm>
          <a:prstGeom prst="rect">
            <a:avLst/>
          </a:prstGeom>
          <a:noFill/>
        </p:spPr>
        <p:txBody>
          <a:bodyPr wrap="square" lIns="0" rIns="0" tIns="0" bIns="0" anchor="t">
            <a:spAutoFit/>
          </a:bodyPr>
          <a:lstStyle/>
          <a:p>
            <a:pPr algn="l">
              <a:lnSpc>
                <a:spcPct val="108000"/>
              </a:lnSpc>
              <a:spcBef>
                <a:spcPts val="0"/>
              </a:spcBef>
              <a:spcAft>
                <a:spcPts val="500"/>
              </a:spcAft>
            </a:pPr>
            <a:r>
              <a:rPr sz="1600" b="0">
                <a:solidFill>
                  <a:srgbClr val="53677C"/>
                </a:solidFill>
                <a:latin typeface="Arial"/>
              </a:rPr>
              <a:t>Planned workflow after installation on a supported Linux host.</a:t>
            </a:r>
          </a:p>
        </p:txBody>
      </p:sp>
      <p:sp>
        <p:nvSpPr>
          <p:cNvPr id="5" name="Rectangle 4"/>
          <p:cNvSpPr/>
          <p:nvPr/>
        </p:nvSpPr>
        <p:spPr>
          <a:xfrm>
            <a:off x="576072" y="6446520"/>
            <a:ext cx="11018520" cy="10972"/>
          </a:xfrm>
          <a:prstGeom prst="rect">
            <a:avLst/>
          </a:prstGeom>
          <a:solidFill>
            <a:srgbClr val="D6DE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56248"/>
            <a:ext cx="8229600" cy="155448"/>
          </a:xfrm>
          <a:prstGeom prst="rect">
            <a:avLst/>
          </a:prstGeom>
          <a:noFill/>
        </p:spPr>
        <p:txBody>
          <a:bodyPr wrap="square" lIns="0" rIns="0" tIns="0" bIns="0" anchor="t">
            <a:spAutoFit/>
          </a:bodyPr>
          <a:lstStyle/>
          <a:p>
            <a:pPr algn="l">
              <a:lnSpc>
                <a:spcPct val="108000"/>
              </a:lnSpc>
              <a:spcBef>
                <a:spcPts val="0"/>
              </a:spcBef>
              <a:spcAft>
                <a:spcPts val="500"/>
              </a:spcAft>
            </a:pPr>
            <a:r>
              <a:rPr sz="850" b="0">
                <a:solidFill>
                  <a:srgbClr val="53677C"/>
                </a:solidFill>
                <a:latin typeface="Arial"/>
              </a:rPr>
              <a:t>SELF-HOSTED KUBERNETES APPLICATION PLATFORM</a:t>
            </a:r>
          </a:p>
        </p:txBody>
      </p:sp>
      <p:sp>
        <p:nvSpPr>
          <p:cNvPr id="7" name="TextBox 6"/>
          <p:cNvSpPr txBox="1"/>
          <p:nvPr/>
        </p:nvSpPr>
        <p:spPr>
          <a:xfrm>
            <a:off x="11064240" y="6510528"/>
            <a:ext cx="502920" cy="228600"/>
          </a:xfrm>
          <a:prstGeom prst="rect">
            <a:avLst/>
          </a:prstGeom>
          <a:noFill/>
        </p:spPr>
        <p:txBody>
          <a:bodyPr wrap="square" lIns="0" rIns="0" tIns="0" bIns="0" anchor="t">
            <a:spAutoFit/>
          </a:bodyPr>
          <a:lstStyle/>
          <a:p>
            <a:pPr algn="r">
              <a:lnSpc>
                <a:spcPct val="108000"/>
              </a:lnSpc>
              <a:spcBef>
                <a:spcPts val="0"/>
              </a:spcBef>
              <a:spcAft>
                <a:spcPts val="500"/>
              </a:spcAft>
            </a:pPr>
            <a:r>
              <a:rPr sz="1200" b="0">
                <a:solidFill>
                  <a:srgbClr val="53677C"/>
                </a:solidFill>
                <a:latin typeface="Arial"/>
              </a:rPr>
              <a:t>06</a:t>
            </a:r>
          </a:p>
        </p:txBody>
      </p:sp>
      <p:sp>
        <p:nvSpPr>
          <p:cNvPr id="8" name="Rounded Rectangle 7"/>
          <p:cNvSpPr/>
          <p:nvPr/>
        </p:nvSpPr>
        <p:spPr>
          <a:xfrm>
            <a:off x="621792" y="2514600"/>
            <a:ext cx="2487168" cy="1874519"/>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761488"/>
            <a:ext cx="2121408" cy="320040"/>
          </a:xfrm>
          <a:prstGeom prst="rect">
            <a:avLst/>
          </a:prstGeom>
          <a:noFill/>
        </p:spPr>
        <p:txBody>
          <a:bodyPr wrap="square" lIns="0" rIns="0" tIns="0" bIns="0" anchor="t">
            <a:spAutoFit/>
          </a:bodyPr>
          <a:lstStyle/>
          <a:p>
            <a:pPr algn="l">
              <a:lnSpc>
                <a:spcPct val="108000"/>
              </a:lnSpc>
              <a:spcBef>
                <a:spcPts val="0"/>
              </a:spcBef>
              <a:spcAft>
                <a:spcPts val="500"/>
              </a:spcAft>
            </a:pPr>
            <a:r>
              <a:rPr sz="1800" b="1">
                <a:solidFill>
                  <a:srgbClr val="087F8C"/>
                </a:solidFill>
                <a:latin typeface="Arial"/>
              </a:rPr>
              <a:t>INSTALL</a:t>
            </a:r>
          </a:p>
        </p:txBody>
      </p:sp>
      <p:sp>
        <p:nvSpPr>
          <p:cNvPr id="10" name="TextBox 9"/>
          <p:cNvSpPr txBox="1"/>
          <p:nvPr/>
        </p:nvSpPr>
        <p:spPr>
          <a:xfrm>
            <a:off x="804672" y="3346704"/>
            <a:ext cx="2121408" cy="731520"/>
          </a:xfrm>
          <a:prstGeom prst="rect">
            <a:avLst/>
          </a:prstGeom>
          <a:noFill/>
        </p:spPr>
        <p:txBody>
          <a:bodyPr wrap="square" lIns="0" rIns="0" tIns="0" bIns="0" anchor="t">
            <a:spAutoFit/>
          </a:bodyPr>
          <a:lstStyle/>
          <a:p>
            <a:pPr algn="l">
              <a:lnSpc>
                <a:spcPct val="108000"/>
              </a:lnSpc>
              <a:spcBef>
                <a:spcPts val="0"/>
              </a:spcBef>
              <a:spcAft>
                <a:spcPts val="500"/>
              </a:spcAft>
            </a:pPr>
            <a:r>
              <a:rPr sz="2000" b="0">
                <a:solidFill>
                  <a:srgbClr val="172C43"/>
                </a:solidFill>
                <a:latin typeface="Arial"/>
              </a:rPr>
              <a:t>Prepare the host</a:t>
            </a:r>
          </a:p>
          <a:p>
            <a:pPr algn="l">
              <a:lnSpc>
                <a:spcPct val="108000"/>
              </a:lnSpc>
              <a:spcBef>
                <a:spcPts val="0"/>
              </a:spcBef>
              <a:spcAft>
                <a:spcPts val="500"/>
              </a:spcAft>
            </a:pPr>
            <a:r>
              <a:rPr sz="2000" b="0">
                <a:solidFill>
                  <a:srgbClr val="172C43"/>
                </a:solidFill>
                <a:latin typeface="Arial"/>
              </a:rPr>
              <a:t>and administrator</a:t>
            </a:r>
          </a:p>
        </p:txBody>
      </p:sp>
      <p:sp>
        <p:nvSpPr>
          <p:cNvPr id="11" name="Right Arrow 10"/>
          <p:cNvSpPr/>
          <p:nvPr/>
        </p:nvSpPr>
        <p:spPr>
          <a:xfrm>
            <a:off x="3163824" y="3291840"/>
            <a:ext cx="210312" cy="173736"/>
          </a:xfrm>
          <a:prstGeom prst="rightArrow">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429000" y="2514600"/>
            <a:ext cx="2487168" cy="1874519"/>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11880" y="2761488"/>
            <a:ext cx="2121408" cy="320040"/>
          </a:xfrm>
          <a:prstGeom prst="rect">
            <a:avLst/>
          </a:prstGeom>
          <a:noFill/>
        </p:spPr>
        <p:txBody>
          <a:bodyPr wrap="square" lIns="0" rIns="0" tIns="0" bIns="0" anchor="t">
            <a:spAutoFit/>
          </a:bodyPr>
          <a:lstStyle/>
          <a:p>
            <a:pPr algn="l">
              <a:lnSpc>
                <a:spcPct val="108000"/>
              </a:lnSpc>
              <a:spcBef>
                <a:spcPts val="0"/>
              </a:spcBef>
              <a:spcAft>
                <a:spcPts val="500"/>
              </a:spcAft>
            </a:pPr>
            <a:r>
              <a:rPr sz="1800" b="1">
                <a:solidFill>
                  <a:srgbClr val="087F8C"/>
                </a:solidFill>
                <a:latin typeface="Arial"/>
              </a:rPr>
              <a:t>DESCRIBE</a:t>
            </a:r>
          </a:p>
        </p:txBody>
      </p:sp>
      <p:sp>
        <p:nvSpPr>
          <p:cNvPr id="14" name="TextBox 13"/>
          <p:cNvSpPr txBox="1"/>
          <p:nvPr/>
        </p:nvSpPr>
        <p:spPr>
          <a:xfrm>
            <a:off x="3611880" y="3346704"/>
            <a:ext cx="2121408" cy="731520"/>
          </a:xfrm>
          <a:prstGeom prst="rect">
            <a:avLst/>
          </a:prstGeom>
          <a:noFill/>
        </p:spPr>
        <p:txBody>
          <a:bodyPr wrap="square" lIns="0" rIns="0" tIns="0" bIns="0" anchor="t">
            <a:spAutoFit/>
          </a:bodyPr>
          <a:lstStyle/>
          <a:p>
            <a:pPr algn="l">
              <a:lnSpc>
                <a:spcPct val="108000"/>
              </a:lnSpc>
              <a:spcBef>
                <a:spcPts val="0"/>
              </a:spcBef>
              <a:spcAft>
                <a:spcPts val="500"/>
              </a:spcAft>
            </a:pPr>
            <a:r>
              <a:rPr sz="2000" b="0">
                <a:solidFill>
                  <a:srgbClr val="172C43"/>
                </a:solidFill>
                <a:latin typeface="Arial"/>
              </a:rPr>
              <a:t>Image, port, health</a:t>
            </a:r>
          </a:p>
          <a:p>
            <a:pPr algn="l">
              <a:lnSpc>
                <a:spcPct val="108000"/>
              </a:lnSpc>
              <a:spcBef>
                <a:spcPts val="0"/>
              </a:spcBef>
              <a:spcAft>
                <a:spcPts val="500"/>
              </a:spcAft>
            </a:pPr>
            <a:r>
              <a:rPr sz="2000" b="0">
                <a:solidFill>
                  <a:srgbClr val="172C43"/>
                </a:solidFill>
                <a:latin typeface="Arial"/>
              </a:rPr>
              <a:t>and configuration</a:t>
            </a:r>
          </a:p>
        </p:txBody>
      </p:sp>
      <p:sp>
        <p:nvSpPr>
          <p:cNvPr id="15" name="Right Arrow 14"/>
          <p:cNvSpPr/>
          <p:nvPr/>
        </p:nvSpPr>
        <p:spPr>
          <a:xfrm>
            <a:off x="5971031" y="3291840"/>
            <a:ext cx="210312" cy="173736"/>
          </a:xfrm>
          <a:prstGeom prst="rightArrow">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36207" y="2514600"/>
            <a:ext cx="2487168" cy="1874519"/>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19088" y="2761488"/>
            <a:ext cx="2121408" cy="320040"/>
          </a:xfrm>
          <a:prstGeom prst="rect">
            <a:avLst/>
          </a:prstGeom>
          <a:noFill/>
        </p:spPr>
        <p:txBody>
          <a:bodyPr wrap="square" lIns="0" rIns="0" tIns="0" bIns="0" anchor="t">
            <a:spAutoFit/>
          </a:bodyPr>
          <a:lstStyle/>
          <a:p>
            <a:pPr algn="l">
              <a:lnSpc>
                <a:spcPct val="108000"/>
              </a:lnSpc>
              <a:spcBef>
                <a:spcPts val="0"/>
              </a:spcBef>
              <a:spcAft>
                <a:spcPts val="500"/>
              </a:spcAft>
            </a:pPr>
            <a:r>
              <a:rPr sz="1800" b="1">
                <a:solidFill>
                  <a:srgbClr val="087F8C"/>
                </a:solidFill>
                <a:latin typeface="Arial"/>
              </a:rPr>
              <a:t>DEPLOY</a:t>
            </a:r>
          </a:p>
        </p:txBody>
      </p:sp>
      <p:sp>
        <p:nvSpPr>
          <p:cNvPr id="18" name="TextBox 17"/>
          <p:cNvSpPr txBox="1"/>
          <p:nvPr/>
        </p:nvSpPr>
        <p:spPr>
          <a:xfrm>
            <a:off x="6419088" y="3346704"/>
            <a:ext cx="2121408" cy="731520"/>
          </a:xfrm>
          <a:prstGeom prst="rect">
            <a:avLst/>
          </a:prstGeom>
          <a:noFill/>
        </p:spPr>
        <p:txBody>
          <a:bodyPr wrap="square" lIns="0" rIns="0" tIns="0" bIns="0" anchor="t">
            <a:spAutoFit/>
          </a:bodyPr>
          <a:lstStyle/>
          <a:p>
            <a:pPr algn="l">
              <a:lnSpc>
                <a:spcPct val="108000"/>
              </a:lnSpc>
              <a:spcBef>
                <a:spcPts val="0"/>
              </a:spcBef>
              <a:spcAft>
                <a:spcPts val="500"/>
              </a:spcAft>
            </a:pPr>
            <a:r>
              <a:rPr sz="2000" b="0">
                <a:solidFill>
                  <a:srgbClr val="172C43"/>
                </a:solidFill>
                <a:latin typeface="Arial"/>
              </a:rPr>
              <a:t>Apply resources</a:t>
            </a:r>
          </a:p>
          <a:p>
            <a:pPr algn="l">
              <a:lnSpc>
                <a:spcPct val="108000"/>
              </a:lnSpc>
              <a:spcBef>
                <a:spcPts val="0"/>
              </a:spcBef>
              <a:spcAft>
                <a:spcPts val="500"/>
              </a:spcAft>
            </a:pPr>
            <a:r>
              <a:rPr sz="2000" b="0">
                <a:solidFill>
                  <a:srgbClr val="172C43"/>
                </a:solidFill>
                <a:latin typeface="Arial"/>
              </a:rPr>
              <a:t>Verify readiness</a:t>
            </a:r>
          </a:p>
        </p:txBody>
      </p:sp>
      <p:sp>
        <p:nvSpPr>
          <p:cNvPr id="19" name="Right Arrow 18"/>
          <p:cNvSpPr/>
          <p:nvPr/>
        </p:nvSpPr>
        <p:spPr>
          <a:xfrm>
            <a:off x="8778240" y="3291840"/>
            <a:ext cx="210312" cy="173736"/>
          </a:xfrm>
          <a:prstGeom prst="rightArrow">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043415" y="2514600"/>
            <a:ext cx="2487168" cy="1874519"/>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26295" y="2761488"/>
            <a:ext cx="2121408" cy="320040"/>
          </a:xfrm>
          <a:prstGeom prst="rect">
            <a:avLst/>
          </a:prstGeom>
          <a:noFill/>
        </p:spPr>
        <p:txBody>
          <a:bodyPr wrap="square" lIns="0" rIns="0" tIns="0" bIns="0" anchor="t">
            <a:spAutoFit/>
          </a:bodyPr>
          <a:lstStyle/>
          <a:p>
            <a:pPr algn="l">
              <a:lnSpc>
                <a:spcPct val="108000"/>
              </a:lnSpc>
              <a:spcBef>
                <a:spcPts val="0"/>
              </a:spcBef>
              <a:spcAft>
                <a:spcPts val="500"/>
              </a:spcAft>
            </a:pPr>
            <a:r>
              <a:rPr sz="1800" b="1">
                <a:solidFill>
                  <a:srgbClr val="087F8C"/>
                </a:solidFill>
                <a:latin typeface="Arial"/>
              </a:rPr>
              <a:t>OPERATE</a:t>
            </a:r>
          </a:p>
        </p:txBody>
      </p:sp>
      <p:sp>
        <p:nvSpPr>
          <p:cNvPr id="22" name="TextBox 21"/>
          <p:cNvSpPr txBox="1"/>
          <p:nvPr/>
        </p:nvSpPr>
        <p:spPr>
          <a:xfrm>
            <a:off x="9226295" y="3346704"/>
            <a:ext cx="2121408" cy="731520"/>
          </a:xfrm>
          <a:prstGeom prst="rect">
            <a:avLst/>
          </a:prstGeom>
          <a:noFill/>
        </p:spPr>
        <p:txBody>
          <a:bodyPr wrap="square" lIns="0" rIns="0" tIns="0" bIns="0" anchor="t">
            <a:spAutoFit/>
          </a:bodyPr>
          <a:lstStyle/>
          <a:p>
            <a:pPr algn="l">
              <a:lnSpc>
                <a:spcPct val="108000"/>
              </a:lnSpc>
              <a:spcBef>
                <a:spcPts val="0"/>
              </a:spcBef>
              <a:spcAft>
                <a:spcPts val="500"/>
              </a:spcAft>
            </a:pPr>
            <a:r>
              <a:rPr sz="2000" b="0">
                <a:solidFill>
                  <a:srgbClr val="172C43"/>
                </a:solidFill>
                <a:latin typeface="Arial"/>
              </a:rPr>
              <a:t>Inspect, update,</a:t>
            </a:r>
          </a:p>
          <a:p>
            <a:pPr algn="l">
              <a:lnSpc>
                <a:spcPct val="108000"/>
              </a:lnSpc>
              <a:spcBef>
                <a:spcPts val="0"/>
              </a:spcBef>
              <a:spcAft>
                <a:spcPts val="500"/>
              </a:spcAft>
            </a:pPr>
            <a:r>
              <a:rPr sz="2000" b="0">
                <a:solidFill>
                  <a:srgbClr val="172C43"/>
                </a:solidFill>
                <a:latin typeface="Arial"/>
              </a:rPr>
              <a:t>scale and recover</a:t>
            </a:r>
          </a:p>
        </p:txBody>
      </p:sp>
      <p:sp>
        <p:nvSpPr>
          <p:cNvPr id="23" name="Rounded Rectangle 22"/>
          <p:cNvSpPr/>
          <p:nvPr/>
        </p:nvSpPr>
        <p:spPr>
          <a:xfrm>
            <a:off x="621792" y="4846320"/>
            <a:ext cx="10972800" cy="886968"/>
          </a:xfrm>
          <a:prstGeom prst="roundRect">
            <a:avLst>
              <a:gd name="adj" fmla="val 12000"/>
            </a:avLst>
          </a:prstGeom>
          <a:solidFill>
            <a:srgbClr val="E8EE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5065776"/>
            <a:ext cx="2286000" cy="320040"/>
          </a:xfrm>
          <a:prstGeom prst="rect">
            <a:avLst/>
          </a:prstGeom>
          <a:noFill/>
        </p:spPr>
        <p:txBody>
          <a:bodyPr wrap="square" lIns="0" rIns="0" tIns="0" bIns="0" anchor="t">
            <a:spAutoFit/>
          </a:bodyPr>
          <a:lstStyle/>
          <a:p>
            <a:pPr algn="l">
              <a:lnSpc>
                <a:spcPct val="108000"/>
              </a:lnSpc>
              <a:spcBef>
                <a:spcPts val="0"/>
              </a:spcBef>
              <a:spcAft>
                <a:spcPts val="500"/>
              </a:spcAft>
            </a:pPr>
            <a:r>
              <a:rPr sz="2200" b="1">
                <a:solidFill>
                  <a:srgbClr val="2457D6"/>
                </a:solidFill>
                <a:latin typeface="Arial"/>
              </a:rPr>
              <a:t>A usable result</a:t>
            </a:r>
          </a:p>
        </p:txBody>
      </p:sp>
      <p:sp>
        <p:nvSpPr>
          <p:cNvPr id="25" name="TextBox 24"/>
          <p:cNvSpPr txBox="1"/>
          <p:nvPr/>
        </p:nvSpPr>
        <p:spPr>
          <a:xfrm>
            <a:off x="3246120" y="5029200"/>
            <a:ext cx="8046720" cy="566928"/>
          </a:xfrm>
          <a:prstGeom prst="rect">
            <a:avLst/>
          </a:prstGeom>
          <a:noFill/>
        </p:spPr>
        <p:txBody>
          <a:bodyPr wrap="square" lIns="0" rIns="0" tIns="0" bIns="0" anchor="t">
            <a:spAutoFit/>
          </a:bodyPr>
          <a:lstStyle/>
          <a:p>
            <a:pPr algn="l">
              <a:lnSpc>
                <a:spcPct val="108000"/>
              </a:lnSpc>
              <a:spcBef>
                <a:spcPts val="0"/>
              </a:spcBef>
              <a:spcAft>
                <a:spcPts val="500"/>
              </a:spcAft>
            </a:pPr>
            <a:r>
              <a:rPr sz="2000" b="0">
                <a:solidFill>
                  <a:srgbClr val="172C43"/>
                </a:solidFill>
                <a:latin typeface="Arial"/>
              </a:rPr>
              <a:t>An application URL, current status, logs and a traceable deployment history.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7F9"/>
        </a:solidFill>
        <a:effectLst/>
      </p:bgPr>
    </p:bg>
    <p:spTree>
      <p:nvGrpSpPr>
        <p:cNvPr id="1" name=""/>
        <p:cNvGrpSpPr/>
        <p:nvPr/>
      </p:nvGrpSpPr>
      <p:grpSpPr/>
      <p:sp>
        <p:nvSpPr>
          <p:cNvPr id="2" name="TextBox 1"/>
          <p:cNvSpPr txBox="1"/>
          <p:nvPr/>
        </p:nvSpPr>
        <p:spPr>
          <a:xfrm>
            <a:off x="566928" y="320040"/>
            <a:ext cx="10789920" cy="201168"/>
          </a:xfrm>
          <a:prstGeom prst="rect">
            <a:avLst/>
          </a:prstGeom>
          <a:noFill/>
        </p:spPr>
        <p:txBody>
          <a:bodyPr wrap="square" lIns="0" rIns="0" tIns="0" bIns="0" anchor="t">
            <a:spAutoFit/>
          </a:bodyPr>
          <a:lstStyle/>
          <a:p>
            <a:pPr algn="l">
              <a:lnSpc>
                <a:spcPct val="108000"/>
              </a:lnSpc>
              <a:spcBef>
                <a:spcPts val="0"/>
              </a:spcBef>
              <a:spcAft>
                <a:spcPts val="500"/>
              </a:spcAft>
            </a:pPr>
            <a:r>
              <a:rPr sz="1050" b="1">
                <a:solidFill>
                  <a:srgbClr val="087F8C"/>
                </a:solidFill>
                <a:latin typeface="Arial"/>
              </a:rPr>
              <a:t>TARGET ARCHITECTURE</a:t>
            </a:r>
          </a:p>
        </p:txBody>
      </p:sp>
      <p:sp>
        <p:nvSpPr>
          <p:cNvPr id="3" name="TextBox 2"/>
          <p:cNvSpPr txBox="1"/>
          <p:nvPr/>
        </p:nvSpPr>
        <p:spPr>
          <a:xfrm>
            <a:off x="566928" y="758952"/>
            <a:ext cx="11064240" cy="1005840"/>
          </a:xfrm>
          <a:prstGeom prst="rect">
            <a:avLst/>
          </a:prstGeom>
          <a:noFill/>
        </p:spPr>
        <p:txBody>
          <a:bodyPr wrap="square" lIns="0" rIns="0" tIns="0" bIns="0" anchor="t">
            <a:spAutoFit/>
          </a:bodyPr>
          <a:lstStyle/>
          <a:p>
            <a:pPr algn="l">
              <a:lnSpc>
                <a:spcPct val="108000"/>
              </a:lnSpc>
              <a:spcBef>
                <a:spcPts val="0"/>
              </a:spcBef>
              <a:spcAft>
                <a:spcPts val="500"/>
              </a:spcAft>
            </a:pPr>
            <a:r>
              <a:rPr sz="3100" b="1">
                <a:solidFill>
                  <a:srgbClr val="172C43"/>
                </a:solidFill>
                <a:latin typeface="Arial"/>
              </a:rPr>
              <a:t>The platform and its applications share one cluster</a:t>
            </a:r>
          </a:p>
        </p:txBody>
      </p:sp>
      <p:sp>
        <p:nvSpPr>
          <p:cNvPr id="4" name="TextBox 3"/>
          <p:cNvSpPr txBox="1"/>
          <p:nvPr/>
        </p:nvSpPr>
        <p:spPr>
          <a:xfrm>
            <a:off x="594360" y="1636776"/>
            <a:ext cx="10972800" cy="548640"/>
          </a:xfrm>
          <a:prstGeom prst="rect">
            <a:avLst/>
          </a:prstGeom>
          <a:noFill/>
        </p:spPr>
        <p:txBody>
          <a:bodyPr wrap="square" lIns="0" rIns="0" tIns="0" bIns="0" anchor="t">
            <a:spAutoFit/>
          </a:bodyPr>
          <a:lstStyle/>
          <a:p>
            <a:pPr algn="l">
              <a:lnSpc>
                <a:spcPct val="108000"/>
              </a:lnSpc>
              <a:spcBef>
                <a:spcPts val="0"/>
              </a:spcBef>
              <a:spcAft>
                <a:spcPts val="500"/>
              </a:spcAft>
            </a:pPr>
            <a:r>
              <a:rPr sz="1600" b="0">
                <a:solidFill>
                  <a:srgbClr val="53677C"/>
                </a:solidFill>
                <a:latin typeface="Arial"/>
              </a:rPr>
              <a:t>Management requests and application traffic follow separate paths.</a:t>
            </a:r>
          </a:p>
        </p:txBody>
      </p:sp>
      <p:sp>
        <p:nvSpPr>
          <p:cNvPr id="5" name="Rectangle 4"/>
          <p:cNvSpPr/>
          <p:nvPr/>
        </p:nvSpPr>
        <p:spPr>
          <a:xfrm>
            <a:off x="576072" y="6446520"/>
            <a:ext cx="11018520" cy="10972"/>
          </a:xfrm>
          <a:prstGeom prst="rect">
            <a:avLst/>
          </a:prstGeom>
          <a:solidFill>
            <a:srgbClr val="D6DE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56248"/>
            <a:ext cx="8229600" cy="155448"/>
          </a:xfrm>
          <a:prstGeom prst="rect">
            <a:avLst/>
          </a:prstGeom>
          <a:noFill/>
        </p:spPr>
        <p:txBody>
          <a:bodyPr wrap="square" lIns="0" rIns="0" tIns="0" bIns="0" anchor="t">
            <a:spAutoFit/>
          </a:bodyPr>
          <a:lstStyle/>
          <a:p>
            <a:pPr algn="l">
              <a:lnSpc>
                <a:spcPct val="108000"/>
              </a:lnSpc>
              <a:spcBef>
                <a:spcPts val="0"/>
              </a:spcBef>
              <a:spcAft>
                <a:spcPts val="500"/>
              </a:spcAft>
            </a:pPr>
            <a:r>
              <a:rPr sz="850" b="0">
                <a:solidFill>
                  <a:srgbClr val="53677C"/>
                </a:solidFill>
                <a:latin typeface="Arial"/>
              </a:rPr>
              <a:t>SELF-HOSTED KUBERNETES APPLICATION PLATFORM</a:t>
            </a:r>
          </a:p>
        </p:txBody>
      </p:sp>
      <p:sp>
        <p:nvSpPr>
          <p:cNvPr id="7" name="TextBox 6"/>
          <p:cNvSpPr txBox="1"/>
          <p:nvPr/>
        </p:nvSpPr>
        <p:spPr>
          <a:xfrm>
            <a:off x="11064240" y="6510528"/>
            <a:ext cx="502920" cy="228600"/>
          </a:xfrm>
          <a:prstGeom prst="rect">
            <a:avLst/>
          </a:prstGeom>
          <a:noFill/>
        </p:spPr>
        <p:txBody>
          <a:bodyPr wrap="square" lIns="0" rIns="0" tIns="0" bIns="0" anchor="t">
            <a:spAutoFit/>
          </a:bodyPr>
          <a:lstStyle/>
          <a:p>
            <a:pPr algn="r">
              <a:lnSpc>
                <a:spcPct val="108000"/>
              </a:lnSpc>
              <a:spcBef>
                <a:spcPts val="0"/>
              </a:spcBef>
              <a:spcAft>
                <a:spcPts val="500"/>
              </a:spcAft>
            </a:pPr>
            <a:r>
              <a:rPr sz="1200" b="0">
                <a:solidFill>
                  <a:srgbClr val="53677C"/>
                </a:solidFill>
                <a:latin typeface="Arial"/>
              </a:rPr>
              <a:t>07</a:t>
            </a:r>
          </a:p>
        </p:txBody>
      </p:sp>
      <p:sp>
        <p:nvSpPr>
          <p:cNvPr id="8" name="Rounded Rectangle 7"/>
          <p:cNvSpPr/>
          <p:nvPr/>
        </p:nvSpPr>
        <p:spPr>
          <a:xfrm>
            <a:off x="640080" y="2340864"/>
            <a:ext cx="10972800" cy="3456432"/>
          </a:xfrm>
          <a:prstGeom prst="roundRect">
            <a:avLst>
              <a:gd name="adj" fmla="val 12000"/>
            </a:avLst>
          </a:prstGeom>
          <a:solidFill>
            <a:srgbClr val="FFFFFF"/>
          </a:solidFill>
          <a:ln w="12700">
            <a:solidFill>
              <a:srgbClr val="D6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2532888"/>
            <a:ext cx="10424160" cy="274320"/>
          </a:xfrm>
          <a:prstGeom prst="rect">
            <a:avLst/>
          </a:prstGeom>
          <a:noFill/>
        </p:spPr>
        <p:txBody>
          <a:bodyPr wrap="square" lIns="0" rIns="0" tIns="0" bIns="0" anchor="t">
            <a:spAutoFit/>
          </a:bodyPr>
          <a:lstStyle/>
          <a:p>
            <a:pPr algn="l">
              <a:lnSpc>
                <a:spcPct val="108000"/>
              </a:lnSpc>
              <a:spcBef>
                <a:spcPts val="0"/>
              </a:spcBef>
              <a:spcAft>
                <a:spcPts val="500"/>
              </a:spcAft>
            </a:pPr>
            <a:r>
              <a:rPr sz="1600" b="1">
                <a:solidFill>
                  <a:srgbClr val="172C43"/>
                </a:solidFill>
                <a:latin typeface="Arial"/>
              </a:rPr>
              <a:t>ONE K3s CLUSTER · initially one Linux host</a:t>
            </a:r>
          </a:p>
        </p:txBody>
      </p:sp>
      <p:sp>
        <p:nvSpPr>
          <p:cNvPr id="10" name="Rounded Rectangle 9"/>
          <p:cNvSpPr/>
          <p:nvPr/>
        </p:nvSpPr>
        <p:spPr>
          <a:xfrm>
            <a:off x="1024128" y="1929384"/>
            <a:ext cx="3090672" cy="292608"/>
          </a:xfrm>
          <a:prstGeom prst="roundRect">
            <a:avLst>
              <a:gd name="adj" fmla="val 12000"/>
            </a:avLst>
          </a:prstGeom>
          <a:solidFill>
            <a:srgbClr val="E8EE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15568" y="1979676"/>
            <a:ext cx="2907791" cy="201168"/>
          </a:xfrm>
          <a:prstGeom prst="rect">
            <a:avLst/>
          </a:prstGeom>
          <a:noFill/>
        </p:spPr>
        <p:txBody>
          <a:bodyPr wrap="square" lIns="0" rIns="0" tIns="0" bIns="0" anchor="t">
            <a:spAutoFit/>
          </a:bodyPr>
          <a:lstStyle/>
          <a:p>
            <a:pPr algn="l">
              <a:lnSpc>
                <a:spcPct val="108000"/>
              </a:lnSpc>
              <a:spcBef>
                <a:spcPts val="0"/>
              </a:spcBef>
              <a:spcAft>
                <a:spcPts val="500"/>
              </a:spcAft>
            </a:pPr>
            <a:r>
              <a:rPr sz="1050" b="1">
                <a:solidFill>
                  <a:srgbClr val="2457D6"/>
                </a:solidFill>
                <a:latin typeface="Arial"/>
              </a:rPr>
              <a:t>ADMINISTRATOR · LAN / VPN</a:t>
            </a:r>
          </a:p>
        </p:txBody>
      </p:sp>
      <p:sp>
        <p:nvSpPr>
          <p:cNvPr id="12" name="Rounded Rectangle 11"/>
          <p:cNvSpPr/>
          <p:nvPr/>
        </p:nvSpPr>
        <p:spPr>
          <a:xfrm>
            <a:off x="7680960" y="1929384"/>
            <a:ext cx="2414016" cy="292608"/>
          </a:xfrm>
          <a:prstGeom prst="roundRect">
            <a:avLst>
              <a:gd name="adj" fmla="val 12000"/>
            </a:avLst>
          </a:prstGeom>
          <a:solidFill>
            <a:srgbClr val="E4F3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0" y="1979676"/>
            <a:ext cx="2231136" cy="201168"/>
          </a:xfrm>
          <a:prstGeom prst="rect">
            <a:avLst/>
          </a:prstGeom>
          <a:noFill/>
        </p:spPr>
        <p:txBody>
          <a:bodyPr wrap="square" lIns="0" rIns="0" tIns="0" bIns="0" anchor="t">
            <a:spAutoFit/>
          </a:bodyPr>
          <a:lstStyle/>
          <a:p>
            <a:pPr algn="l">
              <a:lnSpc>
                <a:spcPct val="108000"/>
              </a:lnSpc>
              <a:spcBef>
                <a:spcPts val="0"/>
              </a:spcBef>
              <a:spcAft>
                <a:spcPts val="500"/>
              </a:spcAft>
            </a:pPr>
            <a:r>
              <a:rPr sz="1050" b="1">
                <a:solidFill>
                  <a:srgbClr val="087F8C"/>
                </a:solidFill>
                <a:latin typeface="Arial"/>
              </a:rPr>
              <a:t>APPLICATION USERS</a:t>
            </a:r>
          </a:p>
        </p:txBody>
      </p:sp>
      <p:sp>
        <p:nvSpPr>
          <p:cNvPr id="14" name="Down Arrow 13"/>
          <p:cNvSpPr/>
          <p:nvPr/>
        </p:nvSpPr>
        <p:spPr>
          <a:xfrm>
            <a:off x="2450592" y="2221992"/>
            <a:ext cx="182880" cy="210312"/>
          </a:xfrm>
          <a:prstGeom prst="downArrow">
            <a:avLst/>
          </a:prstGeom>
          <a:solidFill>
            <a:srgbClr val="2457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own Arrow 14"/>
          <p:cNvSpPr/>
          <p:nvPr/>
        </p:nvSpPr>
        <p:spPr>
          <a:xfrm>
            <a:off x="8796528" y="2221992"/>
            <a:ext cx="182880" cy="210312"/>
          </a:xfrm>
          <a:prstGeom prst="downArrow">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14400" y="3044952"/>
            <a:ext cx="3749039" cy="1572768"/>
          </a:xfrm>
          <a:prstGeom prst="roundRect">
            <a:avLst>
              <a:gd name="adj" fmla="val 12000"/>
            </a:avLst>
          </a:prstGeom>
          <a:solidFill>
            <a:srgbClr val="E8EE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15568" y="3191256"/>
            <a:ext cx="3337560" cy="237744"/>
          </a:xfrm>
          <a:prstGeom prst="rect">
            <a:avLst/>
          </a:prstGeom>
          <a:noFill/>
        </p:spPr>
        <p:txBody>
          <a:bodyPr wrap="square" lIns="0" rIns="0" tIns="0" bIns="0" anchor="t">
            <a:spAutoFit/>
          </a:bodyPr>
          <a:lstStyle/>
          <a:p>
            <a:pPr algn="l">
              <a:lnSpc>
                <a:spcPct val="108000"/>
              </a:lnSpc>
              <a:spcBef>
                <a:spcPts val="0"/>
              </a:spcBef>
              <a:spcAft>
                <a:spcPts val="500"/>
              </a:spcAft>
            </a:pPr>
            <a:r>
              <a:rPr sz="1300" b="1">
                <a:solidFill>
                  <a:srgbClr val="2457D6"/>
                </a:solidFill>
                <a:latin typeface="Arial"/>
              </a:rPr>
              <a:t>platform-system</a:t>
            </a:r>
          </a:p>
        </p:txBody>
      </p:sp>
      <p:sp>
        <p:nvSpPr>
          <p:cNvPr id="18" name="TextBox 17"/>
          <p:cNvSpPr txBox="1"/>
          <p:nvPr/>
        </p:nvSpPr>
        <p:spPr>
          <a:xfrm>
            <a:off x="1115568" y="3630168"/>
            <a:ext cx="3337560" cy="347472"/>
          </a:xfrm>
          <a:prstGeom prst="rect">
            <a:avLst/>
          </a:prstGeom>
          <a:noFill/>
        </p:spPr>
        <p:txBody>
          <a:bodyPr wrap="square" lIns="0" rIns="0" tIns="0" bIns="0" anchor="t">
            <a:spAutoFit/>
          </a:bodyPr>
          <a:lstStyle/>
          <a:p>
            <a:pPr algn="l">
              <a:lnSpc>
                <a:spcPct val="108000"/>
              </a:lnSpc>
              <a:spcBef>
                <a:spcPts val="0"/>
              </a:spcBef>
              <a:spcAft>
                <a:spcPts val="500"/>
              </a:spcAft>
            </a:pPr>
            <a:r>
              <a:rPr sz="2200" b="1">
                <a:solidFill>
                  <a:srgbClr val="172C43"/>
                </a:solidFill>
                <a:latin typeface="Arial"/>
              </a:rPr>
              <a:t>Web UI + Go broker</a:t>
            </a:r>
          </a:p>
        </p:txBody>
      </p:sp>
      <p:sp>
        <p:nvSpPr>
          <p:cNvPr id="19" name="TextBox 18"/>
          <p:cNvSpPr txBox="1"/>
          <p:nvPr/>
        </p:nvSpPr>
        <p:spPr>
          <a:xfrm>
            <a:off x="1115568" y="4142232"/>
            <a:ext cx="3337560" cy="274320"/>
          </a:xfrm>
          <a:prstGeom prst="rect">
            <a:avLst/>
          </a:prstGeom>
          <a:noFill/>
        </p:spPr>
        <p:txBody>
          <a:bodyPr wrap="square" lIns="0" rIns="0" tIns="0" bIns="0" anchor="t">
            <a:spAutoFit/>
          </a:bodyPr>
          <a:lstStyle/>
          <a:p>
            <a:pPr algn="l">
              <a:lnSpc>
                <a:spcPct val="108000"/>
              </a:lnSpc>
              <a:spcBef>
                <a:spcPts val="0"/>
              </a:spcBef>
              <a:spcAft>
                <a:spcPts val="500"/>
              </a:spcAft>
            </a:pPr>
            <a:r>
              <a:rPr sz="1400" b="0">
                <a:solidFill>
                  <a:srgbClr val="53677C"/>
                </a:solidFill>
                <a:latin typeface="Arial"/>
              </a:rPr>
              <a:t>Worker / Helm SDK · SQLite history</a:t>
            </a:r>
          </a:p>
        </p:txBody>
      </p:sp>
      <p:sp>
        <p:nvSpPr>
          <p:cNvPr id="20" name="Right Arrow 19"/>
          <p:cNvSpPr/>
          <p:nvPr/>
        </p:nvSpPr>
        <p:spPr>
          <a:xfrm>
            <a:off x="4828032" y="3749039"/>
            <a:ext cx="1627632" cy="219456"/>
          </a:xfrm>
          <a:prstGeom prst="rightArrow">
            <a:avLst/>
          </a:prstGeom>
          <a:solidFill>
            <a:srgbClr val="2457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64024" y="3291840"/>
            <a:ext cx="1801368" cy="457200"/>
          </a:xfrm>
          <a:prstGeom prst="rect">
            <a:avLst/>
          </a:prstGeom>
          <a:noFill/>
        </p:spPr>
        <p:txBody>
          <a:bodyPr wrap="square" lIns="0" rIns="0" tIns="0" bIns="0" anchor="t">
            <a:spAutoFit/>
          </a:bodyPr>
          <a:lstStyle/>
          <a:p>
            <a:pPr algn="ctr">
              <a:lnSpc>
                <a:spcPct val="108000"/>
              </a:lnSpc>
              <a:spcBef>
                <a:spcPts val="0"/>
              </a:spcBef>
              <a:spcAft>
                <a:spcPts val="500"/>
              </a:spcAft>
            </a:pPr>
            <a:r>
              <a:rPr sz="1300" b="1">
                <a:solidFill>
                  <a:srgbClr val="2457D6"/>
                </a:solidFill>
                <a:latin typeface="Arial"/>
              </a:rPr>
              <a:t>Kubernetes API</a:t>
            </a:r>
          </a:p>
        </p:txBody>
      </p:sp>
      <p:sp>
        <p:nvSpPr>
          <p:cNvPr id="22" name="TextBox 21"/>
          <p:cNvSpPr txBox="1"/>
          <p:nvPr/>
        </p:nvSpPr>
        <p:spPr>
          <a:xfrm>
            <a:off x="4709160" y="4151376"/>
            <a:ext cx="1920240" cy="265176"/>
          </a:xfrm>
          <a:prstGeom prst="rect">
            <a:avLst/>
          </a:prstGeom>
          <a:noFill/>
        </p:spPr>
        <p:txBody>
          <a:bodyPr wrap="square" lIns="0" rIns="0" tIns="0" bIns="0" anchor="t">
            <a:spAutoFit/>
          </a:bodyPr>
          <a:lstStyle/>
          <a:p>
            <a:pPr algn="ctr">
              <a:lnSpc>
                <a:spcPct val="108000"/>
              </a:lnSpc>
              <a:spcBef>
                <a:spcPts val="0"/>
              </a:spcBef>
              <a:spcAft>
                <a:spcPts val="500"/>
              </a:spcAft>
            </a:pPr>
            <a:r>
              <a:rPr sz="1200" b="0">
                <a:solidFill>
                  <a:srgbClr val="53677C"/>
                </a:solidFill>
                <a:latin typeface="Arial"/>
              </a:rPr>
              <a:t>deploy / observe</a:t>
            </a:r>
          </a:p>
        </p:txBody>
      </p:sp>
      <p:sp>
        <p:nvSpPr>
          <p:cNvPr id="23" name="Rounded Rectangle 22"/>
          <p:cNvSpPr/>
          <p:nvPr/>
        </p:nvSpPr>
        <p:spPr>
          <a:xfrm>
            <a:off x="6766560" y="3044952"/>
            <a:ext cx="4498848" cy="475488"/>
          </a:xfrm>
          <a:prstGeom prst="roundRect">
            <a:avLst>
              <a:gd name="adj" fmla="val 12000"/>
            </a:avLst>
          </a:prstGeom>
          <a:solidFill>
            <a:srgbClr val="E4F3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49440" y="3172968"/>
            <a:ext cx="4114800" cy="228600"/>
          </a:xfrm>
          <a:prstGeom prst="rect">
            <a:avLst/>
          </a:prstGeom>
          <a:noFill/>
        </p:spPr>
        <p:txBody>
          <a:bodyPr wrap="square" lIns="0" rIns="0" tIns="0" bIns="0" anchor="t">
            <a:spAutoFit/>
          </a:bodyPr>
          <a:lstStyle/>
          <a:p>
            <a:pPr algn="l">
              <a:lnSpc>
                <a:spcPct val="108000"/>
              </a:lnSpc>
              <a:spcBef>
                <a:spcPts val="0"/>
              </a:spcBef>
              <a:spcAft>
                <a:spcPts val="500"/>
              </a:spcAft>
            </a:pPr>
            <a:r>
              <a:rPr sz="1400" b="1">
                <a:solidFill>
                  <a:srgbClr val="087F8C"/>
                </a:solidFill>
                <a:latin typeface="Arial"/>
              </a:rPr>
              <a:t>Traefik · permitted private / public route</a:t>
            </a:r>
          </a:p>
        </p:txBody>
      </p:sp>
      <p:sp>
        <p:nvSpPr>
          <p:cNvPr id="25" name="Down Arrow 24"/>
          <p:cNvSpPr/>
          <p:nvPr/>
        </p:nvSpPr>
        <p:spPr>
          <a:xfrm>
            <a:off x="8897112" y="3566160"/>
            <a:ext cx="182880" cy="256032"/>
          </a:xfrm>
          <a:prstGeom prst="downArrow">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766560" y="3886200"/>
            <a:ext cx="4498848" cy="1124712"/>
          </a:xfrm>
          <a:prstGeom prst="roundRect">
            <a:avLst>
              <a:gd name="adj" fmla="val 12000"/>
            </a:avLst>
          </a:prstGeom>
          <a:solidFill>
            <a:srgbClr val="E4F3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67728" y="4032504"/>
            <a:ext cx="4069080" cy="210312"/>
          </a:xfrm>
          <a:prstGeom prst="rect">
            <a:avLst/>
          </a:prstGeom>
          <a:noFill/>
        </p:spPr>
        <p:txBody>
          <a:bodyPr wrap="square" lIns="0" rIns="0" tIns="0" bIns="0" anchor="t">
            <a:spAutoFit/>
          </a:bodyPr>
          <a:lstStyle/>
          <a:p>
            <a:pPr algn="l">
              <a:lnSpc>
                <a:spcPct val="108000"/>
              </a:lnSpc>
              <a:spcBef>
                <a:spcPts val="0"/>
              </a:spcBef>
              <a:spcAft>
                <a:spcPts val="500"/>
              </a:spcAft>
            </a:pPr>
            <a:r>
              <a:rPr sz="1300" b="1">
                <a:solidFill>
                  <a:srgbClr val="087F8C"/>
                </a:solidFill>
                <a:latin typeface="Arial"/>
              </a:rPr>
              <a:t>platform-apps</a:t>
            </a:r>
          </a:p>
        </p:txBody>
      </p:sp>
      <p:sp>
        <p:nvSpPr>
          <p:cNvPr id="28" name="TextBox 27"/>
          <p:cNvSpPr txBox="1"/>
          <p:nvPr/>
        </p:nvSpPr>
        <p:spPr>
          <a:xfrm>
            <a:off x="6967728" y="4425696"/>
            <a:ext cx="4069080" cy="329184"/>
          </a:xfrm>
          <a:prstGeom prst="rect">
            <a:avLst/>
          </a:prstGeom>
          <a:noFill/>
        </p:spPr>
        <p:txBody>
          <a:bodyPr wrap="square" lIns="0" rIns="0" tIns="0" bIns="0" anchor="t">
            <a:spAutoFit/>
          </a:bodyPr>
          <a:lstStyle/>
          <a:p>
            <a:pPr algn="l">
              <a:lnSpc>
                <a:spcPct val="108000"/>
              </a:lnSpc>
              <a:spcBef>
                <a:spcPts val="0"/>
              </a:spcBef>
              <a:spcAft>
                <a:spcPts val="500"/>
              </a:spcAft>
            </a:pPr>
            <a:r>
              <a:rPr sz="2200" b="1">
                <a:solidFill>
                  <a:srgbClr val="172C43"/>
                </a:solidFill>
                <a:latin typeface="Arial"/>
              </a:rPr>
              <a:t>Application Service → Pods</a:t>
            </a:r>
          </a:p>
        </p:txBody>
      </p:sp>
      <p:sp>
        <p:nvSpPr>
          <p:cNvPr id="29" name="TextBox 28"/>
          <p:cNvSpPr txBox="1"/>
          <p:nvPr/>
        </p:nvSpPr>
        <p:spPr>
          <a:xfrm>
            <a:off x="960120" y="5330952"/>
            <a:ext cx="10424160" cy="265176"/>
          </a:xfrm>
          <a:prstGeom prst="rect">
            <a:avLst/>
          </a:prstGeom>
          <a:noFill/>
        </p:spPr>
        <p:txBody>
          <a:bodyPr wrap="square" lIns="0" rIns="0" tIns="0" bIns="0" anchor="t">
            <a:spAutoFit/>
          </a:bodyPr>
          <a:lstStyle/>
          <a:p>
            <a:pPr algn="l">
              <a:lnSpc>
                <a:spcPct val="108000"/>
              </a:lnSpc>
              <a:spcBef>
                <a:spcPts val="0"/>
              </a:spcBef>
              <a:spcAft>
                <a:spcPts val="500"/>
              </a:spcAft>
            </a:pPr>
            <a:r>
              <a:rPr sz="1500" b="0">
                <a:solidFill>
                  <a:srgbClr val="53677C"/>
                </a:solidFill>
                <a:latin typeface="Arial"/>
              </a:rPr>
              <a:t>Shared host resources: K3s control plane · container runtime · networking · storage</a:t>
            </a:r>
          </a:p>
        </p:txBody>
      </p:sp>
      <p:sp>
        <p:nvSpPr>
          <p:cNvPr id="30" name="TextBox 29"/>
          <p:cNvSpPr txBox="1"/>
          <p:nvPr/>
        </p:nvSpPr>
        <p:spPr>
          <a:xfrm>
            <a:off x="731520" y="5952744"/>
            <a:ext cx="10881360" cy="274320"/>
          </a:xfrm>
          <a:prstGeom prst="rect">
            <a:avLst/>
          </a:prstGeom>
          <a:noFill/>
        </p:spPr>
        <p:txBody>
          <a:bodyPr wrap="square" lIns="0" rIns="0" tIns="0" bIns="0" anchor="t">
            <a:spAutoFit/>
          </a:bodyPr>
          <a:lstStyle/>
          <a:p>
            <a:pPr algn="l">
              <a:lnSpc>
                <a:spcPct val="108000"/>
              </a:lnSpc>
              <a:spcBef>
                <a:spcPts val="0"/>
              </a:spcBef>
              <a:spcAft>
                <a:spcPts val="500"/>
              </a:spcAft>
            </a:pPr>
            <a:r>
              <a:rPr sz="1500" b="0">
                <a:solidFill>
                  <a:srgbClr val="53677C"/>
                </a:solidFill>
                <a:latin typeface="Arial"/>
              </a:rPr>
              <a:t>Existing application traffic bypasses the broker. Single-host failure still affects the whole installation.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7F9"/>
        </a:solidFill>
        <a:effectLst/>
      </p:bgPr>
    </p:bg>
    <p:spTree>
      <p:nvGrpSpPr>
        <p:cNvPr id="1" name=""/>
        <p:cNvGrpSpPr/>
        <p:nvPr/>
      </p:nvGrpSpPr>
      <p:grpSpPr/>
      <p:sp>
        <p:nvSpPr>
          <p:cNvPr id="2" name="TextBox 1"/>
          <p:cNvSpPr txBox="1"/>
          <p:nvPr/>
        </p:nvSpPr>
        <p:spPr>
          <a:xfrm>
            <a:off x="566928" y="320040"/>
            <a:ext cx="10789920" cy="201168"/>
          </a:xfrm>
          <a:prstGeom prst="rect">
            <a:avLst/>
          </a:prstGeom>
          <a:noFill/>
        </p:spPr>
        <p:txBody>
          <a:bodyPr wrap="square" lIns="0" rIns="0" tIns="0" bIns="0" anchor="t">
            <a:spAutoFit/>
          </a:bodyPr>
          <a:lstStyle/>
          <a:p>
            <a:pPr algn="l">
              <a:lnSpc>
                <a:spcPct val="108000"/>
              </a:lnSpc>
              <a:spcBef>
                <a:spcPts val="0"/>
              </a:spcBef>
              <a:spcAft>
                <a:spcPts val="500"/>
              </a:spcAft>
            </a:pPr>
            <a:r>
              <a:rPr sz="1050" b="1">
                <a:solidFill>
                  <a:srgbClr val="087F8C"/>
                </a:solidFill>
                <a:latin typeface="Arial"/>
              </a:rPr>
              <a:t>TARGET LIFECYCLE</a:t>
            </a:r>
          </a:p>
        </p:txBody>
      </p:sp>
      <p:sp>
        <p:nvSpPr>
          <p:cNvPr id="3" name="TextBox 2"/>
          <p:cNvSpPr txBox="1"/>
          <p:nvPr/>
        </p:nvSpPr>
        <p:spPr>
          <a:xfrm>
            <a:off x="566928" y="758952"/>
            <a:ext cx="11064240" cy="1005840"/>
          </a:xfrm>
          <a:prstGeom prst="rect">
            <a:avLst/>
          </a:prstGeom>
          <a:noFill/>
        </p:spPr>
        <p:txBody>
          <a:bodyPr wrap="square" lIns="0" rIns="0" tIns="0" bIns="0" anchor="t">
            <a:spAutoFit/>
          </a:bodyPr>
          <a:lstStyle/>
          <a:p>
            <a:pPr algn="l">
              <a:lnSpc>
                <a:spcPct val="108000"/>
              </a:lnSpc>
              <a:spcBef>
                <a:spcPts val="0"/>
              </a:spcBef>
              <a:spcAft>
                <a:spcPts val="500"/>
              </a:spcAft>
            </a:pPr>
            <a:r>
              <a:rPr sz="3100" b="1">
                <a:solidFill>
                  <a:srgbClr val="172C43"/>
                </a:solidFill>
                <a:latin typeface="Arial"/>
              </a:rPr>
              <a:t>Every change has a recorded outcome</a:t>
            </a:r>
          </a:p>
        </p:txBody>
      </p:sp>
      <p:sp>
        <p:nvSpPr>
          <p:cNvPr id="4" name="TextBox 3"/>
          <p:cNvSpPr txBox="1"/>
          <p:nvPr/>
        </p:nvSpPr>
        <p:spPr>
          <a:xfrm>
            <a:off x="594360" y="1636776"/>
            <a:ext cx="10972800" cy="548640"/>
          </a:xfrm>
          <a:prstGeom prst="rect">
            <a:avLst/>
          </a:prstGeom>
          <a:noFill/>
        </p:spPr>
        <p:txBody>
          <a:bodyPr wrap="square" lIns="0" rIns="0" tIns="0" bIns="0" anchor="t">
            <a:spAutoFit/>
          </a:bodyPr>
          <a:lstStyle/>
          <a:p>
            <a:pPr algn="l">
              <a:lnSpc>
                <a:spcPct val="108000"/>
              </a:lnSpc>
              <a:spcBef>
                <a:spcPts val="0"/>
              </a:spcBef>
              <a:spcAft>
                <a:spcPts val="500"/>
              </a:spcAft>
            </a:pPr>
            <a:r>
              <a:rPr sz="1600" b="0">
                <a:solidFill>
                  <a:srgbClr val="53677C"/>
                </a:solidFill>
                <a:latin typeface="Arial"/>
              </a:rPr>
              <a:t>A request is accepted first; execution and readiness are observed afterwards.</a:t>
            </a:r>
          </a:p>
        </p:txBody>
      </p:sp>
      <p:sp>
        <p:nvSpPr>
          <p:cNvPr id="5" name="Rectangle 4"/>
          <p:cNvSpPr/>
          <p:nvPr/>
        </p:nvSpPr>
        <p:spPr>
          <a:xfrm>
            <a:off x="576072" y="6446520"/>
            <a:ext cx="11018520" cy="10972"/>
          </a:xfrm>
          <a:prstGeom prst="rect">
            <a:avLst/>
          </a:prstGeom>
          <a:solidFill>
            <a:srgbClr val="D6DE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56248"/>
            <a:ext cx="8229600" cy="155448"/>
          </a:xfrm>
          <a:prstGeom prst="rect">
            <a:avLst/>
          </a:prstGeom>
          <a:noFill/>
        </p:spPr>
        <p:txBody>
          <a:bodyPr wrap="square" lIns="0" rIns="0" tIns="0" bIns="0" anchor="t">
            <a:spAutoFit/>
          </a:bodyPr>
          <a:lstStyle/>
          <a:p>
            <a:pPr algn="l">
              <a:lnSpc>
                <a:spcPct val="108000"/>
              </a:lnSpc>
              <a:spcBef>
                <a:spcPts val="0"/>
              </a:spcBef>
              <a:spcAft>
                <a:spcPts val="500"/>
              </a:spcAft>
            </a:pPr>
            <a:r>
              <a:rPr sz="850" b="0">
                <a:solidFill>
                  <a:srgbClr val="53677C"/>
                </a:solidFill>
                <a:latin typeface="Arial"/>
              </a:rPr>
              <a:t>SELF-HOSTED KUBERNETES APPLICATION PLATFORM</a:t>
            </a:r>
          </a:p>
        </p:txBody>
      </p:sp>
      <p:sp>
        <p:nvSpPr>
          <p:cNvPr id="7" name="TextBox 6"/>
          <p:cNvSpPr txBox="1"/>
          <p:nvPr/>
        </p:nvSpPr>
        <p:spPr>
          <a:xfrm>
            <a:off x="11064240" y="6510528"/>
            <a:ext cx="502920" cy="228600"/>
          </a:xfrm>
          <a:prstGeom prst="rect">
            <a:avLst/>
          </a:prstGeom>
          <a:noFill/>
        </p:spPr>
        <p:txBody>
          <a:bodyPr wrap="square" lIns="0" rIns="0" tIns="0" bIns="0" anchor="t">
            <a:spAutoFit/>
          </a:bodyPr>
          <a:lstStyle/>
          <a:p>
            <a:pPr algn="r">
              <a:lnSpc>
                <a:spcPct val="108000"/>
              </a:lnSpc>
              <a:spcBef>
                <a:spcPts val="0"/>
              </a:spcBef>
              <a:spcAft>
                <a:spcPts val="500"/>
              </a:spcAft>
            </a:pPr>
            <a:r>
              <a:rPr sz="1200" b="0">
                <a:solidFill>
                  <a:srgbClr val="53677C"/>
                </a:solidFill>
                <a:latin typeface="Arial"/>
              </a:rPr>
              <a:t>08</a:t>
            </a:r>
          </a:p>
        </p:txBody>
      </p:sp>
      <p:sp>
        <p:nvSpPr>
          <p:cNvPr id="8" name="Rounded Rectangle 7"/>
          <p:cNvSpPr/>
          <p:nvPr/>
        </p:nvSpPr>
        <p:spPr>
          <a:xfrm>
            <a:off x="640080" y="2423160"/>
            <a:ext cx="2011680" cy="12801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633472"/>
            <a:ext cx="1737360" cy="320040"/>
          </a:xfrm>
          <a:prstGeom prst="rect">
            <a:avLst/>
          </a:prstGeom>
          <a:noFill/>
        </p:spPr>
        <p:txBody>
          <a:bodyPr wrap="square" lIns="0" rIns="0" tIns="0" bIns="0" anchor="t">
            <a:spAutoFit/>
          </a:bodyPr>
          <a:lstStyle/>
          <a:p>
            <a:pPr algn="l">
              <a:lnSpc>
                <a:spcPct val="108000"/>
              </a:lnSpc>
              <a:spcBef>
                <a:spcPts val="0"/>
              </a:spcBef>
              <a:spcAft>
                <a:spcPts val="500"/>
              </a:spcAft>
            </a:pPr>
            <a:r>
              <a:rPr sz="2200" b="1">
                <a:solidFill>
                  <a:srgbClr val="172C43"/>
                </a:solidFill>
                <a:latin typeface="Arial"/>
              </a:rPr>
              <a:t>Request</a:t>
            </a:r>
          </a:p>
        </p:txBody>
      </p:sp>
      <p:sp>
        <p:nvSpPr>
          <p:cNvPr id="10" name="TextBox 9"/>
          <p:cNvSpPr txBox="1"/>
          <p:nvPr/>
        </p:nvSpPr>
        <p:spPr>
          <a:xfrm>
            <a:off x="777240" y="3154680"/>
            <a:ext cx="1737360" cy="347472"/>
          </a:xfrm>
          <a:prstGeom prst="rect">
            <a:avLst/>
          </a:prstGeom>
          <a:noFill/>
        </p:spPr>
        <p:txBody>
          <a:bodyPr wrap="square" lIns="0" rIns="0" tIns="0" bIns="0" anchor="t">
            <a:spAutoFit/>
          </a:bodyPr>
          <a:lstStyle/>
          <a:p>
            <a:pPr algn="l">
              <a:lnSpc>
                <a:spcPct val="108000"/>
              </a:lnSpc>
              <a:spcBef>
                <a:spcPts val="0"/>
              </a:spcBef>
              <a:spcAft>
                <a:spcPts val="500"/>
              </a:spcAft>
            </a:pPr>
            <a:r>
              <a:rPr sz="1350" b="0">
                <a:solidFill>
                  <a:srgbClr val="53677C"/>
                </a:solidFill>
                <a:latin typeface="Arial"/>
              </a:rPr>
              <a:t>Image + configuration</a:t>
            </a:r>
          </a:p>
        </p:txBody>
      </p:sp>
      <p:sp>
        <p:nvSpPr>
          <p:cNvPr id="11" name="Right Arrow 10"/>
          <p:cNvSpPr/>
          <p:nvPr/>
        </p:nvSpPr>
        <p:spPr>
          <a:xfrm>
            <a:off x="2679191" y="2999232"/>
            <a:ext cx="182880" cy="173736"/>
          </a:xfrm>
          <a:prstGeom prst="rightArrow">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889504" y="2423160"/>
            <a:ext cx="2011680" cy="12801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6664" y="2633472"/>
            <a:ext cx="1737360" cy="320040"/>
          </a:xfrm>
          <a:prstGeom prst="rect">
            <a:avLst/>
          </a:prstGeom>
          <a:noFill/>
        </p:spPr>
        <p:txBody>
          <a:bodyPr wrap="square" lIns="0" rIns="0" tIns="0" bIns="0" anchor="t">
            <a:spAutoFit/>
          </a:bodyPr>
          <a:lstStyle/>
          <a:p>
            <a:pPr algn="l">
              <a:lnSpc>
                <a:spcPct val="108000"/>
              </a:lnSpc>
              <a:spcBef>
                <a:spcPts val="0"/>
              </a:spcBef>
              <a:spcAft>
                <a:spcPts val="500"/>
              </a:spcAft>
            </a:pPr>
            <a:r>
              <a:rPr sz="2200" b="1">
                <a:solidFill>
                  <a:srgbClr val="172C43"/>
                </a:solidFill>
                <a:latin typeface="Arial"/>
              </a:rPr>
              <a:t>Validate</a:t>
            </a:r>
          </a:p>
        </p:txBody>
      </p:sp>
      <p:sp>
        <p:nvSpPr>
          <p:cNvPr id="14" name="TextBox 13"/>
          <p:cNvSpPr txBox="1"/>
          <p:nvPr/>
        </p:nvSpPr>
        <p:spPr>
          <a:xfrm>
            <a:off x="3026664" y="3154680"/>
            <a:ext cx="1737360" cy="347472"/>
          </a:xfrm>
          <a:prstGeom prst="rect">
            <a:avLst/>
          </a:prstGeom>
          <a:noFill/>
        </p:spPr>
        <p:txBody>
          <a:bodyPr wrap="square" lIns="0" rIns="0" tIns="0" bIns="0" anchor="t">
            <a:spAutoFit/>
          </a:bodyPr>
          <a:lstStyle/>
          <a:p>
            <a:pPr algn="l">
              <a:lnSpc>
                <a:spcPct val="108000"/>
              </a:lnSpc>
              <a:spcBef>
                <a:spcPts val="0"/>
              </a:spcBef>
              <a:spcAft>
                <a:spcPts val="500"/>
              </a:spcAft>
            </a:pPr>
            <a:r>
              <a:rPr sz="1350" b="0">
                <a:solidFill>
                  <a:srgbClr val="53677C"/>
                </a:solidFill>
                <a:latin typeface="Arial"/>
              </a:rPr>
              <a:t>Access + compatibility</a:t>
            </a:r>
          </a:p>
        </p:txBody>
      </p:sp>
      <p:sp>
        <p:nvSpPr>
          <p:cNvPr id="15" name="Right Arrow 14"/>
          <p:cNvSpPr/>
          <p:nvPr/>
        </p:nvSpPr>
        <p:spPr>
          <a:xfrm>
            <a:off x="4928616" y="2999232"/>
            <a:ext cx="182880" cy="173736"/>
          </a:xfrm>
          <a:prstGeom prst="rightArrow">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138928" y="2423160"/>
            <a:ext cx="2011680" cy="12801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76088" y="2633472"/>
            <a:ext cx="1737360" cy="320040"/>
          </a:xfrm>
          <a:prstGeom prst="rect">
            <a:avLst/>
          </a:prstGeom>
          <a:noFill/>
        </p:spPr>
        <p:txBody>
          <a:bodyPr wrap="square" lIns="0" rIns="0" tIns="0" bIns="0" anchor="t">
            <a:spAutoFit/>
          </a:bodyPr>
          <a:lstStyle/>
          <a:p>
            <a:pPr algn="l">
              <a:lnSpc>
                <a:spcPct val="108000"/>
              </a:lnSpc>
              <a:spcBef>
                <a:spcPts val="0"/>
              </a:spcBef>
              <a:spcAft>
                <a:spcPts val="500"/>
              </a:spcAft>
            </a:pPr>
            <a:r>
              <a:rPr sz="2200" b="1">
                <a:solidFill>
                  <a:srgbClr val="172C43"/>
                </a:solidFill>
                <a:latin typeface="Arial"/>
              </a:rPr>
              <a:t>Persist</a:t>
            </a:r>
          </a:p>
        </p:txBody>
      </p:sp>
      <p:sp>
        <p:nvSpPr>
          <p:cNvPr id="18" name="TextBox 17"/>
          <p:cNvSpPr txBox="1"/>
          <p:nvPr/>
        </p:nvSpPr>
        <p:spPr>
          <a:xfrm>
            <a:off x="5276088" y="3154680"/>
            <a:ext cx="1737360" cy="347472"/>
          </a:xfrm>
          <a:prstGeom prst="rect">
            <a:avLst/>
          </a:prstGeom>
          <a:noFill/>
        </p:spPr>
        <p:txBody>
          <a:bodyPr wrap="square" lIns="0" rIns="0" tIns="0" bIns="0" anchor="t">
            <a:spAutoFit/>
          </a:bodyPr>
          <a:lstStyle/>
          <a:p>
            <a:pPr algn="l">
              <a:lnSpc>
                <a:spcPct val="108000"/>
              </a:lnSpc>
              <a:spcBef>
                <a:spcPts val="0"/>
              </a:spcBef>
              <a:spcAft>
                <a:spcPts val="500"/>
              </a:spcAft>
            </a:pPr>
            <a:r>
              <a:rPr sz="1350" b="0">
                <a:solidFill>
                  <a:srgbClr val="53677C"/>
                </a:solidFill>
                <a:latin typeface="Arial"/>
              </a:rPr>
              <a:t>Operation + revision</a:t>
            </a:r>
          </a:p>
        </p:txBody>
      </p:sp>
      <p:sp>
        <p:nvSpPr>
          <p:cNvPr id="19" name="Right Arrow 18"/>
          <p:cNvSpPr/>
          <p:nvPr/>
        </p:nvSpPr>
        <p:spPr>
          <a:xfrm>
            <a:off x="7178040" y="2999232"/>
            <a:ext cx="182880" cy="173736"/>
          </a:xfrm>
          <a:prstGeom prst="rightArrow">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388352" y="2423160"/>
            <a:ext cx="2011680" cy="12801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25512" y="2633472"/>
            <a:ext cx="1737360" cy="320040"/>
          </a:xfrm>
          <a:prstGeom prst="rect">
            <a:avLst/>
          </a:prstGeom>
          <a:noFill/>
        </p:spPr>
        <p:txBody>
          <a:bodyPr wrap="square" lIns="0" rIns="0" tIns="0" bIns="0" anchor="t">
            <a:spAutoFit/>
          </a:bodyPr>
          <a:lstStyle/>
          <a:p>
            <a:pPr algn="l">
              <a:lnSpc>
                <a:spcPct val="108000"/>
              </a:lnSpc>
              <a:spcBef>
                <a:spcPts val="0"/>
              </a:spcBef>
              <a:spcAft>
                <a:spcPts val="500"/>
              </a:spcAft>
            </a:pPr>
            <a:r>
              <a:rPr sz="2200" b="1">
                <a:solidFill>
                  <a:srgbClr val="172C43"/>
                </a:solidFill>
                <a:latin typeface="Arial"/>
              </a:rPr>
              <a:t>Execute</a:t>
            </a:r>
          </a:p>
        </p:txBody>
      </p:sp>
      <p:sp>
        <p:nvSpPr>
          <p:cNvPr id="22" name="TextBox 21"/>
          <p:cNvSpPr txBox="1"/>
          <p:nvPr/>
        </p:nvSpPr>
        <p:spPr>
          <a:xfrm>
            <a:off x="7525512" y="3154680"/>
            <a:ext cx="1737360" cy="347472"/>
          </a:xfrm>
          <a:prstGeom prst="rect">
            <a:avLst/>
          </a:prstGeom>
          <a:noFill/>
        </p:spPr>
        <p:txBody>
          <a:bodyPr wrap="square" lIns="0" rIns="0" tIns="0" bIns="0" anchor="t">
            <a:spAutoFit/>
          </a:bodyPr>
          <a:lstStyle/>
          <a:p>
            <a:pPr algn="l">
              <a:lnSpc>
                <a:spcPct val="108000"/>
              </a:lnSpc>
              <a:spcBef>
                <a:spcPts val="0"/>
              </a:spcBef>
              <a:spcAft>
                <a:spcPts val="500"/>
              </a:spcAft>
            </a:pPr>
            <a:r>
              <a:rPr sz="1350" b="0">
                <a:solidFill>
                  <a:srgbClr val="53677C"/>
                </a:solidFill>
                <a:latin typeface="Arial"/>
              </a:rPr>
              <a:t>Helm + Kubernetes</a:t>
            </a:r>
          </a:p>
        </p:txBody>
      </p:sp>
      <p:sp>
        <p:nvSpPr>
          <p:cNvPr id="23" name="Right Arrow 22"/>
          <p:cNvSpPr/>
          <p:nvPr/>
        </p:nvSpPr>
        <p:spPr>
          <a:xfrm>
            <a:off x="9427464" y="2999232"/>
            <a:ext cx="182880" cy="173736"/>
          </a:xfrm>
          <a:prstGeom prst="rightArrow">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637776" y="2423160"/>
            <a:ext cx="2011680" cy="12801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74936" y="2633472"/>
            <a:ext cx="1737360" cy="320040"/>
          </a:xfrm>
          <a:prstGeom prst="rect">
            <a:avLst/>
          </a:prstGeom>
          <a:noFill/>
        </p:spPr>
        <p:txBody>
          <a:bodyPr wrap="square" lIns="0" rIns="0" tIns="0" bIns="0" anchor="t">
            <a:spAutoFit/>
          </a:bodyPr>
          <a:lstStyle/>
          <a:p>
            <a:pPr algn="l">
              <a:lnSpc>
                <a:spcPct val="108000"/>
              </a:lnSpc>
              <a:spcBef>
                <a:spcPts val="0"/>
              </a:spcBef>
              <a:spcAft>
                <a:spcPts val="500"/>
              </a:spcAft>
            </a:pPr>
            <a:r>
              <a:rPr sz="2200" b="1">
                <a:solidFill>
                  <a:srgbClr val="172C43"/>
                </a:solidFill>
                <a:latin typeface="Arial"/>
              </a:rPr>
              <a:t>Observe</a:t>
            </a:r>
          </a:p>
        </p:txBody>
      </p:sp>
      <p:sp>
        <p:nvSpPr>
          <p:cNvPr id="26" name="TextBox 25"/>
          <p:cNvSpPr txBox="1"/>
          <p:nvPr/>
        </p:nvSpPr>
        <p:spPr>
          <a:xfrm>
            <a:off x="9774936" y="3154680"/>
            <a:ext cx="1737360" cy="347472"/>
          </a:xfrm>
          <a:prstGeom prst="rect">
            <a:avLst/>
          </a:prstGeom>
          <a:noFill/>
        </p:spPr>
        <p:txBody>
          <a:bodyPr wrap="square" lIns="0" rIns="0" tIns="0" bIns="0" anchor="t">
            <a:spAutoFit/>
          </a:bodyPr>
          <a:lstStyle/>
          <a:p>
            <a:pPr algn="l">
              <a:lnSpc>
                <a:spcPct val="108000"/>
              </a:lnSpc>
              <a:spcBef>
                <a:spcPts val="0"/>
              </a:spcBef>
              <a:spcAft>
                <a:spcPts val="500"/>
              </a:spcAft>
            </a:pPr>
            <a:r>
              <a:rPr sz="1350" b="0">
                <a:solidFill>
                  <a:srgbClr val="53677C"/>
                </a:solidFill>
                <a:latin typeface="Arial"/>
              </a:rPr>
              <a:t>Ready or failed</a:t>
            </a:r>
          </a:p>
        </p:txBody>
      </p:sp>
      <p:sp>
        <p:nvSpPr>
          <p:cNvPr id="27" name="TextBox 26"/>
          <p:cNvSpPr txBox="1"/>
          <p:nvPr/>
        </p:nvSpPr>
        <p:spPr>
          <a:xfrm>
            <a:off x="713232" y="4123944"/>
            <a:ext cx="10607040" cy="365760"/>
          </a:xfrm>
          <a:prstGeom prst="rect">
            <a:avLst/>
          </a:prstGeom>
          <a:noFill/>
        </p:spPr>
        <p:txBody>
          <a:bodyPr wrap="square" lIns="0" rIns="0" tIns="0" bIns="0" anchor="t">
            <a:spAutoFit/>
          </a:bodyPr>
          <a:lstStyle/>
          <a:p>
            <a:pPr algn="l">
              <a:lnSpc>
                <a:spcPct val="108000"/>
              </a:lnSpc>
              <a:spcBef>
                <a:spcPts val="0"/>
              </a:spcBef>
              <a:spcAft>
                <a:spcPts val="500"/>
              </a:spcAft>
            </a:pPr>
            <a:r>
              <a:rPr sz="2300" b="1">
                <a:solidFill>
                  <a:srgbClr val="172C43"/>
                </a:solidFill>
                <a:latin typeface="Arial"/>
              </a:rPr>
              <a:t>Example: a controlled update failure</a:t>
            </a:r>
          </a:p>
        </p:txBody>
      </p:sp>
      <p:sp>
        <p:nvSpPr>
          <p:cNvPr id="28" name="Rounded Rectangle 27"/>
          <p:cNvSpPr/>
          <p:nvPr/>
        </p:nvSpPr>
        <p:spPr>
          <a:xfrm>
            <a:off x="713232" y="4681728"/>
            <a:ext cx="2404872" cy="960120"/>
          </a:xfrm>
          <a:prstGeom prst="roundRect">
            <a:avLst>
              <a:gd name="adj" fmla="val 12000"/>
            </a:avLst>
          </a:prstGeom>
          <a:solidFill>
            <a:srgbClr val="E4F3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7824" y="4892040"/>
            <a:ext cx="548640" cy="365760"/>
          </a:xfrm>
          <a:prstGeom prst="rect">
            <a:avLst/>
          </a:prstGeom>
          <a:noFill/>
        </p:spPr>
        <p:txBody>
          <a:bodyPr wrap="square" lIns="0" rIns="0" tIns="0" bIns="0" anchor="t">
            <a:spAutoFit/>
          </a:bodyPr>
          <a:lstStyle/>
          <a:p>
            <a:pPr algn="l">
              <a:lnSpc>
                <a:spcPct val="108000"/>
              </a:lnSpc>
              <a:spcBef>
                <a:spcPts val="0"/>
              </a:spcBef>
              <a:spcAft>
                <a:spcPts val="500"/>
              </a:spcAft>
            </a:pPr>
            <a:r>
              <a:rPr sz="2500" b="1">
                <a:solidFill>
                  <a:srgbClr val="087F8C"/>
                </a:solidFill>
                <a:latin typeface="Arial"/>
              </a:rPr>
              <a:t>v1</a:t>
            </a:r>
          </a:p>
        </p:txBody>
      </p:sp>
      <p:sp>
        <p:nvSpPr>
          <p:cNvPr id="30" name="TextBox 29"/>
          <p:cNvSpPr txBox="1"/>
          <p:nvPr/>
        </p:nvSpPr>
        <p:spPr>
          <a:xfrm>
            <a:off x="1517904" y="4901184"/>
            <a:ext cx="1444752" cy="521207"/>
          </a:xfrm>
          <a:prstGeom prst="rect">
            <a:avLst/>
          </a:prstGeom>
          <a:noFill/>
        </p:spPr>
        <p:txBody>
          <a:bodyPr wrap="square" lIns="0" rIns="0" tIns="0" bIns="0" anchor="t">
            <a:spAutoFit/>
          </a:bodyPr>
          <a:lstStyle/>
          <a:p>
            <a:pPr algn="l">
              <a:lnSpc>
                <a:spcPct val="108000"/>
              </a:lnSpc>
              <a:spcBef>
                <a:spcPts val="0"/>
              </a:spcBef>
              <a:spcAft>
                <a:spcPts val="500"/>
              </a:spcAft>
            </a:pPr>
            <a:r>
              <a:rPr sz="1600" b="1">
                <a:solidFill>
                  <a:srgbClr val="087F8C"/>
                </a:solidFill>
                <a:latin typeface="Arial"/>
              </a:rPr>
              <a:t>Ready</a:t>
            </a:r>
          </a:p>
        </p:txBody>
      </p:sp>
      <p:sp>
        <p:nvSpPr>
          <p:cNvPr id="31" name="Right Arrow 30"/>
          <p:cNvSpPr/>
          <p:nvPr/>
        </p:nvSpPr>
        <p:spPr>
          <a:xfrm>
            <a:off x="3182112" y="5065776"/>
            <a:ext cx="274320" cy="173736"/>
          </a:xfrm>
          <a:prstGeom prst="rightArrow">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3529584" y="4681728"/>
            <a:ext cx="2404872" cy="960120"/>
          </a:xfrm>
          <a:prstGeom prst="roundRect">
            <a:avLst>
              <a:gd name="adj" fmla="val 12000"/>
            </a:avLst>
          </a:prstGeom>
          <a:solidFill>
            <a:srgbClr val="E4F3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94176" y="4892040"/>
            <a:ext cx="548640" cy="365760"/>
          </a:xfrm>
          <a:prstGeom prst="rect">
            <a:avLst/>
          </a:prstGeom>
          <a:noFill/>
        </p:spPr>
        <p:txBody>
          <a:bodyPr wrap="square" lIns="0" rIns="0" tIns="0" bIns="0" anchor="t">
            <a:spAutoFit/>
          </a:bodyPr>
          <a:lstStyle/>
          <a:p>
            <a:pPr algn="l">
              <a:lnSpc>
                <a:spcPct val="108000"/>
              </a:lnSpc>
              <a:spcBef>
                <a:spcPts val="0"/>
              </a:spcBef>
              <a:spcAft>
                <a:spcPts val="500"/>
              </a:spcAft>
            </a:pPr>
            <a:r>
              <a:rPr sz="2500" b="1">
                <a:solidFill>
                  <a:srgbClr val="087F8C"/>
                </a:solidFill>
                <a:latin typeface="Arial"/>
              </a:rPr>
              <a:t>v2</a:t>
            </a:r>
          </a:p>
        </p:txBody>
      </p:sp>
      <p:sp>
        <p:nvSpPr>
          <p:cNvPr id="34" name="TextBox 33"/>
          <p:cNvSpPr txBox="1"/>
          <p:nvPr/>
        </p:nvSpPr>
        <p:spPr>
          <a:xfrm>
            <a:off x="4334256" y="4901184"/>
            <a:ext cx="1444752" cy="521207"/>
          </a:xfrm>
          <a:prstGeom prst="rect">
            <a:avLst/>
          </a:prstGeom>
          <a:noFill/>
        </p:spPr>
        <p:txBody>
          <a:bodyPr wrap="square" lIns="0" rIns="0" tIns="0" bIns="0" anchor="t">
            <a:spAutoFit/>
          </a:bodyPr>
          <a:lstStyle/>
          <a:p>
            <a:pPr algn="l">
              <a:lnSpc>
                <a:spcPct val="108000"/>
              </a:lnSpc>
              <a:spcBef>
                <a:spcPts val="0"/>
              </a:spcBef>
              <a:spcAft>
                <a:spcPts val="500"/>
              </a:spcAft>
            </a:pPr>
            <a:r>
              <a:rPr sz="1600" b="1">
                <a:solidFill>
                  <a:srgbClr val="087F8C"/>
                </a:solidFill>
                <a:latin typeface="Arial"/>
              </a:rPr>
              <a:t>Ready</a:t>
            </a:r>
          </a:p>
        </p:txBody>
      </p:sp>
      <p:sp>
        <p:nvSpPr>
          <p:cNvPr id="35" name="Right Arrow 34"/>
          <p:cNvSpPr/>
          <p:nvPr/>
        </p:nvSpPr>
        <p:spPr>
          <a:xfrm>
            <a:off x="5998464" y="5065776"/>
            <a:ext cx="274320" cy="173736"/>
          </a:xfrm>
          <a:prstGeom prst="rightArrow">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6345936" y="4681728"/>
            <a:ext cx="2404872" cy="960120"/>
          </a:xfrm>
          <a:prstGeom prst="roundRect">
            <a:avLst>
              <a:gd name="adj" fmla="val 12000"/>
            </a:avLst>
          </a:prstGeom>
          <a:solidFill>
            <a:srgbClr val="FBE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10528" y="4892040"/>
            <a:ext cx="548640" cy="365760"/>
          </a:xfrm>
          <a:prstGeom prst="rect">
            <a:avLst/>
          </a:prstGeom>
          <a:noFill/>
        </p:spPr>
        <p:txBody>
          <a:bodyPr wrap="square" lIns="0" rIns="0" tIns="0" bIns="0" anchor="t">
            <a:spAutoFit/>
          </a:bodyPr>
          <a:lstStyle/>
          <a:p>
            <a:pPr algn="l">
              <a:lnSpc>
                <a:spcPct val="108000"/>
              </a:lnSpc>
              <a:spcBef>
                <a:spcPts val="0"/>
              </a:spcBef>
              <a:spcAft>
                <a:spcPts val="500"/>
              </a:spcAft>
            </a:pPr>
            <a:r>
              <a:rPr sz="2500" b="1">
                <a:solidFill>
                  <a:srgbClr val="BD4E35"/>
                </a:solidFill>
                <a:latin typeface="Arial"/>
              </a:rPr>
              <a:t>v3</a:t>
            </a:r>
          </a:p>
        </p:txBody>
      </p:sp>
      <p:sp>
        <p:nvSpPr>
          <p:cNvPr id="38" name="TextBox 37"/>
          <p:cNvSpPr txBox="1"/>
          <p:nvPr/>
        </p:nvSpPr>
        <p:spPr>
          <a:xfrm>
            <a:off x="7150608" y="4901184"/>
            <a:ext cx="1444752" cy="521207"/>
          </a:xfrm>
          <a:prstGeom prst="rect">
            <a:avLst/>
          </a:prstGeom>
          <a:noFill/>
        </p:spPr>
        <p:txBody>
          <a:bodyPr wrap="square" lIns="0" rIns="0" tIns="0" bIns="0" anchor="t">
            <a:spAutoFit/>
          </a:bodyPr>
          <a:lstStyle/>
          <a:p>
            <a:pPr algn="l">
              <a:lnSpc>
                <a:spcPct val="108000"/>
              </a:lnSpc>
              <a:spcBef>
                <a:spcPts val="0"/>
              </a:spcBef>
              <a:spcAft>
                <a:spcPts val="500"/>
              </a:spcAft>
            </a:pPr>
            <a:r>
              <a:rPr sz="1600" b="1">
                <a:solidFill>
                  <a:srgbClr val="BD4E35"/>
                </a:solidFill>
                <a:latin typeface="Arial"/>
              </a:rPr>
              <a:t>Readiness fails</a:t>
            </a:r>
          </a:p>
        </p:txBody>
      </p:sp>
      <p:sp>
        <p:nvSpPr>
          <p:cNvPr id="39" name="Right Arrow 38"/>
          <p:cNvSpPr/>
          <p:nvPr/>
        </p:nvSpPr>
        <p:spPr>
          <a:xfrm>
            <a:off x="8814816" y="5065776"/>
            <a:ext cx="274320" cy="173736"/>
          </a:xfrm>
          <a:prstGeom prst="rightArrow">
            <a:avLst/>
          </a:prstGeom>
          <a:solidFill>
            <a:srgbClr val="BD4E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9162288" y="4681728"/>
            <a:ext cx="2404872" cy="960120"/>
          </a:xfrm>
          <a:prstGeom prst="roundRect">
            <a:avLst>
              <a:gd name="adj" fmla="val 12000"/>
            </a:avLst>
          </a:prstGeom>
          <a:solidFill>
            <a:srgbClr val="E8EE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326880" y="4892040"/>
            <a:ext cx="548640" cy="365760"/>
          </a:xfrm>
          <a:prstGeom prst="rect">
            <a:avLst/>
          </a:prstGeom>
          <a:noFill/>
        </p:spPr>
        <p:txBody>
          <a:bodyPr wrap="square" lIns="0" rIns="0" tIns="0" bIns="0" anchor="t">
            <a:spAutoFit/>
          </a:bodyPr>
          <a:lstStyle/>
          <a:p>
            <a:pPr algn="l">
              <a:lnSpc>
                <a:spcPct val="108000"/>
              </a:lnSpc>
              <a:spcBef>
                <a:spcPts val="0"/>
              </a:spcBef>
              <a:spcAft>
                <a:spcPts val="500"/>
              </a:spcAft>
            </a:pPr>
            <a:r>
              <a:rPr sz="2500" b="1">
                <a:solidFill>
                  <a:srgbClr val="2457D6"/>
                </a:solidFill>
                <a:latin typeface="Arial"/>
              </a:rPr>
              <a:t>v2</a:t>
            </a:r>
          </a:p>
        </p:txBody>
      </p:sp>
      <p:sp>
        <p:nvSpPr>
          <p:cNvPr id="42" name="TextBox 41"/>
          <p:cNvSpPr txBox="1"/>
          <p:nvPr/>
        </p:nvSpPr>
        <p:spPr>
          <a:xfrm>
            <a:off x="9966960" y="4901184"/>
            <a:ext cx="1444752" cy="521207"/>
          </a:xfrm>
          <a:prstGeom prst="rect">
            <a:avLst/>
          </a:prstGeom>
          <a:noFill/>
        </p:spPr>
        <p:txBody>
          <a:bodyPr wrap="square" lIns="0" rIns="0" tIns="0" bIns="0" anchor="t">
            <a:spAutoFit/>
          </a:bodyPr>
          <a:lstStyle/>
          <a:p>
            <a:pPr algn="l">
              <a:lnSpc>
                <a:spcPct val="108000"/>
              </a:lnSpc>
              <a:spcBef>
                <a:spcPts val="0"/>
              </a:spcBef>
              <a:spcAft>
                <a:spcPts val="500"/>
              </a:spcAft>
            </a:pPr>
            <a:r>
              <a:rPr sz="1600" b="1">
                <a:solidFill>
                  <a:srgbClr val="2457D6"/>
                </a:solidFill>
                <a:latin typeface="Arial"/>
              </a:rPr>
              <a:t>Recovery verified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7F9"/>
        </a:solidFill>
        <a:effectLst/>
      </p:bgPr>
    </p:bg>
    <p:spTree>
      <p:nvGrpSpPr>
        <p:cNvPr id="1" name=""/>
        <p:cNvGrpSpPr/>
        <p:nvPr/>
      </p:nvGrpSpPr>
      <p:grpSpPr/>
      <p:sp>
        <p:nvSpPr>
          <p:cNvPr id="2" name="TextBox 1"/>
          <p:cNvSpPr txBox="1"/>
          <p:nvPr/>
        </p:nvSpPr>
        <p:spPr>
          <a:xfrm>
            <a:off x="566928" y="320040"/>
            <a:ext cx="10789920" cy="201168"/>
          </a:xfrm>
          <a:prstGeom prst="rect">
            <a:avLst/>
          </a:prstGeom>
          <a:noFill/>
        </p:spPr>
        <p:txBody>
          <a:bodyPr wrap="square" lIns="0" rIns="0" tIns="0" bIns="0" anchor="t">
            <a:spAutoFit/>
          </a:bodyPr>
          <a:lstStyle/>
          <a:p>
            <a:pPr algn="l">
              <a:lnSpc>
                <a:spcPct val="108000"/>
              </a:lnSpc>
              <a:spcBef>
                <a:spcPts val="0"/>
              </a:spcBef>
              <a:spcAft>
                <a:spcPts val="500"/>
              </a:spcAft>
            </a:pPr>
            <a:r>
              <a:rPr sz="1050" b="1">
                <a:solidFill>
                  <a:srgbClr val="087F8C"/>
                </a:solidFill>
                <a:latin typeface="Arial"/>
              </a:rPr>
              <a:t>TARGET OPERATING MODEL</a:t>
            </a:r>
          </a:p>
        </p:txBody>
      </p:sp>
      <p:sp>
        <p:nvSpPr>
          <p:cNvPr id="3" name="TextBox 2"/>
          <p:cNvSpPr txBox="1"/>
          <p:nvPr/>
        </p:nvSpPr>
        <p:spPr>
          <a:xfrm>
            <a:off x="566928" y="758952"/>
            <a:ext cx="11064240" cy="1005840"/>
          </a:xfrm>
          <a:prstGeom prst="rect">
            <a:avLst/>
          </a:prstGeom>
          <a:noFill/>
        </p:spPr>
        <p:txBody>
          <a:bodyPr wrap="square" lIns="0" rIns="0" tIns="0" bIns="0" anchor="t">
            <a:spAutoFit/>
          </a:bodyPr>
          <a:lstStyle/>
          <a:p>
            <a:pPr algn="l">
              <a:lnSpc>
                <a:spcPct val="108000"/>
              </a:lnSpc>
              <a:spcBef>
                <a:spcPts val="0"/>
              </a:spcBef>
              <a:spcAft>
                <a:spcPts val="500"/>
              </a:spcAft>
            </a:pPr>
            <a:r>
              <a:rPr sz="3100" b="1">
                <a:solidFill>
                  <a:srgbClr val="172C43"/>
                </a:solidFill>
                <a:latin typeface="Arial"/>
              </a:rPr>
              <a:t>Private access first; public applications by choice</a:t>
            </a:r>
          </a:p>
        </p:txBody>
      </p:sp>
      <p:sp>
        <p:nvSpPr>
          <p:cNvPr id="4" name="TextBox 3"/>
          <p:cNvSpPr txBox="1"/>
          <p:nvPr/>
        </p:nvSpPr>
        <p:spPr>
          <a:xfrm>
            <a:off x="594360" y="1636776"/>
            <a:ext cx="10972800" cy="548640"/>
          </a:xfrm>
          <a:prstGeom prst="rect">
            <a:avLst/>
          </a:prstGeom>
          <a:noFill/>
        </p:spPr>
        <p:txBody>
          <a:bodyPr wrap="square" lIns="0" rIns="0" tIns="0" bIns="0" anchor="t">
            <a:spAutoFit/>
          </a:bodyPr>
          <a:lstStyle/>
          <a:p>
            <a:pPr algn="l">
              <a:lnSpc>
                <a:spcPct val="108000"/>
              </a:lnSpc>
              <a:spcBef>
                <a:spcPts val="0"/>
              </a:spcBef>
              <a:spcAft>
                <a:spcPts val="500"/>
              </a:spcAft>
            </a:pPr>
            <a:r>
              <a:rPr sz="1600" b="0">
                <a:solidFill>
                  <a:srgbClr val="53677C"/>
                </a:solidFill>
                <a:latin typeface="Arial"/>
              </a:rPr>
              <a:t>Public application access does not require public administration.</a:t>
            </a:r>
          </a:p>
        </p:txBody>
      </p:sp>
      <p:sp>
        <p:nvSpPr>
          <p:cNvPr id="5" name="Rectangle 4"/>
          <p:cNvSpPr/>
          <p:nvPr/>
        </p:nvSpPr>
        <p:spPr>
          <a:xfrm>
            <a:off x="576072" y="6446520"/>
            <a:ext cx="11018520" cy="10972"/>
          </a:xfrm>
          <a:prstGeom prst="rect">
            <a:avLst/>
          </a:prstGeom>
          <a:solidFill>
            <a:srgbClr val="D6DE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56248"/>
            <a:ext cx="8229600" cy="155448"/>
          </a:xfrm>
          <a:prstGeom prst="rect">
            <a:avLst/>
          </a:prstGeom>
          <a:noFill/>
        </p:spPr>
        <p:txBody>
          <a:bodyPr wrap="square" lIns="0" rIns="0" tIns="0" bIns="0" anchor="t">
            <a:spAutoFit/>
          </a:bodyPr>
          <a:lstStyle/>
          <a:p>
            <a:pPr algn="l">
              <a:lnSpc>
                <a:spcPct val="108000"/>
              </a:lnSpc>
              <a:spcBef>
                <a:spcPts val="0"/>
              </a:spcBef>
              <a:spcAft>
                <a:spcPts val="500"/>
              </a:spcAft>
            </a:pPr>
            <a:r>
              <a:rPr sz="850" b="0">
                <a:solidFill>
                  <a:srgbClr val="53677C"/>
                </a:solidFill>
                <a:latin typeface="Arial"/>
              </a:rPr>
              <a:t>SELF-HOSTED KUBERNETES APPLICATION PLATFORM</a:t>
            </a:r>
          </a:p>
        </p:txBody>
      </p:sp>
      <p:sp>
        <p:nvSpPr>
          <p:cNvPr id="7" name="TextBox 6"/>
          <p:cNvSpPr txBox="1"/>
          <p:nvPr/>
        </p:nvSpPr>
        <p:spPr>
          <a:xfrm>
            <a:off x="11064240" y="6510528"/>
            <a:ext cx="502920" cy="228600"/>
          </a:xfrm>
          <a:prstGeom prst="rect">
            <a:avLst/>
          </a:prstGeom>
          <a:noFill/>
        </p:spPr>
        <p:txBody>
          <a:bodyPr wrap="square" lIns="0" rIns="0" tIns="0" bIns="0" anchor="t">
            <a:spAutoFit/>
          </a:bodyPr>
          <a:lstStyle/>
          <a:p>
            <a:pPr algn="r">
              <a:lnSpc>
                <a:spcPct val="108000"/>
              </a:lnSpc>
              <a:spcBef>
                <a:spcPts val="0"/>
              </a:spcBef>
              <a:spcAft>
                <a:spcPts val="500"/>
              </a:spcAft>
            </a:pPr>
            <a:r>
              <a:rPr sz="1200" b="0">
                <a:solidFill>
                  <a:srgbClr val="53677C"/>
                </a:solidFill>
                <a:latin typeface="Arial"/>
              </a:rPr>
              <a:t>09</a:t>
            </a:r>
          </a:p>
        </p:txBody>
      </p:sp>
      <p:sp>
        <p:nvSpPr>
          <p:cNvPr id="8" name="Rounded Rectangle 7"/>
          <p:cNvSpPr/>
          <p:nvPr/>
        </p:nvSpPr>
        <p:spPr>
          <a:xfrm>
            <a:off x="640080" y="2423160"/>
            <a:ext cx="6876288" cy="1234440"/>
          </a:xfrm>
          <a:prstGeom prst="roundRect">
            <a:avLst>
              <a:gd name="adj" fmla="val 12000"/>
            </a:avLst>
          </a:prstGeom>
          <a:solidFill>
            <a:srgbClr val="E8EE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2624328"/>
            <a:ext cx="1188720" cy="228600"/>
          </a:xfrm>
          <a:prstGeom prst="rect">
            <a:avLst/>
          </a:prstGeom>
          <a:noFill/>
        </p:spPr>
        <p:txBody>
          <a:bodyPr wrap="square" lIns="0" rIns="0" tIns="0" bIns="0" anchor="t">
            <a:spAutoFit/>
          </a:bodyPr>
          <a:lstStyle/>
          <a:p>
            <a:pPr algn="l">
              <a:lnSpc>
                <a:spcPct val="108000"/>
              </a:lnSpc>
              <a:spcBef>
                <a:spcPts val="0"/>
              </a:spcBef>
              <a:spcAft>
                <a:spcPts val="500"/>
              </a:spcAft>
            </a:pPr>
            <a:r>
              <a:rPr sz="1200" b="1">
                <a:solidFill>
                  <a:srgbClr val="2457D6"/>
                </a:solidFill>
                <a:latin typeface="Arial"/>
              </a:rPr>
              <a:t>PRIVATE</a:t>
            </a:r>
          </a:p>
        </p:txBody>
      </p:sp>
      <p:sp>
        <p:nvSpPr>
          <p:cNvPr id="10" name="TextBox 9"/>
          <p:cNvSpPr txBox="1"/>
          <p:nvPr/>
        </p:nvSpPr>
        <p:spPr>
          <a:xfrm>
            <a:off x="841248" y="3063240"/>
            <a:ext cx="6446520" cy="338328"/>
          </a:xfrm>
          <a:prstGeom prst="rect">
            <a:avLst/>
          </a:prstGeom>
          <a:noFill/>
        </p:spPr>
        <p:txBody>
          <a:bodyPr wrap="square" lIns="0" rIns="0" tIns="0" bIns="0" anchor="t">
            <a:spAutoFit/>
          </a:bodyPr>
          <a:lstStyle/>
          <a:p>
            <a:pPr algn="l">
              <a:lnSpc>
                <a:spcPct val="108000"/>
              </a:lnSpc>
              <a:spcBef>
                <a:spcPts val="0"/>
              </a:spcBef>
              <a:spcAft>
                <a:spcPts val="500"/>
              </a:spcAft>
            </a:pPr>
            <a:r>
              <a:rPr sz="2200" b="1">
                <a:solidFill>
                  <a:srgbClr val="172C43"/>
                </a:solidFill>
                <a:latin typeface="Arial"/>
              </a:rPr>
              <a:t>Administrator / internal users → LAN or VPN</a:t>
            </a:r>
          </a:p>
        </p:txBody>
      </p:sp>
      <p:sp>
        <p:nvSpPr>
          <p:cNvPr id="11" name="Rounded Rectangle 10"/>
          <p:cNvSpPr/>
          <p:nvPr/>
        </p:nvSpPr>
        <p:spPr>
          <a:xfrm>
            <a:off x="640080" y="3886200"/>
            <a:ext cx="6876288" cy="1234440"/>
          </a:xfrm>
          <a:prstGeom prst="roundRect">
            <a:avLst>
              <a:gd name="adj" fmla="val 12000"/>
            </a:avLst>
          </a:prstGeom>
          <a:solidFill>
            <a:srgbClr val="E4F3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8" y="4087368"/>
            <a:ext cx="4480560" cy="228600"/>
          </a:xfrm>
          <a:prstGeom prst="rect">
            <a:avLst/>
          </a:prstGeom>
          <a:noFill/>
        </p:spPr>
        <p:txBody>
          <a:bodyPr wrap="square" lIns="0" rIns="0" tIns="0" bIns="0" anchor="t">
            <a:spAutoFit/>
          </a:bodyPr>
          <a:lstStyle/>
          <a:p>
            <a:pPr algn="l">
              <a:lnSpc>
                <a:spcPct val="108000"/>
              </a:lnSpc>
              <a:spcBef>
                <a:spcPts val="0"/>
              </a:spcBef>
              <a:spcAft>
                <a:spcPts val="500"/>
              </a:spcAft>
            </a:pPr>
            <a:r>
              <a:rPr sz="1200" b="1">
                <a:solidFill>
                  <a:srgbClr val="087F8C"/>
                </a:solidFill>
                <a:latin typeface="Arial"/>
              </a:rPr>
              <a:t>OPTIONAL PUBLIC ACCESS</a:t>
            </a:r>
          </a:p>
        </p:txBody>
      </p:sp>
      <p:sp>
        <p:nvSpPr>
          <p:cNvPr id="13" name="TextBox 12"/>
          <p:cNvSpPr txBox="1"/>
          <p:nvPr/>
        </p:nvSpPr>
        <p:spPr>
          <a:xfrm>
            <a:off x="841248" y="4517136"/>
            <a:ext cx="6446520" cy="365760"/>
          </a:xfrm>
          <a:prstGeom prst="rect">
            <a:avLst/>
          </a:prstGeom>
          <a:noFill/>
        </p:spPr>
        <p:txBody>
          <a:bodyPr wrap="square" lIns="0" rIns="0" tIns="0" bIns="0" anchor="t">
            <a:spAutoFit/>
          </a:bodyPr>
          <a:lstStyle/>
          <a:p>
            <a:pPr algn="l">
              <a:lnSpc>
                <a:spcPct val="108000"/>
              </a:lnSpc>
              <a:spcBef>
                <a:spcPts val="0"/>
              </a:spcBef>
              <a:spcAft>
                <a:spcPts val="500"/>
              </a:spcAft>
            </a:pPr>
            <a:r>
              <a:rPr sz="2100" b="1">
                <a:solidFill>
                  <a:srgbClr val="172C43"/>
                </a:solidFill>
                <a:latin typeface="Arial"/>
              </a:rPr>
              <a:t>Internet visitors → HTTPS → selected application</a:t>
            </a:r>
          </a:p>
        </p:txBody>
      </p:sp>
      <p:sp>
        <p:nvSpPr>
          <p:cNvPr id="14" name="Rounded Rectangle 13"/>
          <p:cNvSpPr/>
          <p:nvPr/>
        </p:nvSpPr>
        <p:spPr>
          <a:xfrm>
            <a:off x="7772400" y="2423160"/>
            <a:ext cx="3776472" cy="269748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91856" y="2670048"/>
            <a:ext cx="3337560" cy="365760"/>
          </a:xfrm>
          <a:prstGeom prst="rect">
            <a:avLst/>
          </a:prstGeom>
          <a:noFill/>
        </p:spPr>
        <p:txBody>
          <a:bodyPr wrap="square" lIns="0" rIns="0" tIns="0" bIns="0" anchor="t">
            <a:spAutoFit/>
          </a:bodyPr>
          <a:lstStyle/>
          <a:p>
            <a:pPr algn="l">
              <a:lnSpc>
                <a:spcPct val="108000"/>
              </a:lnSpc>
              <a:spcBef>
                <a:spcPts val="0"/>
              </a:spcBef>
              <a:spcAft>
                <a:spcPts val="500"/>
              </a:spcAft>
            </a:pPr>
            <a:r>
              <a:rPr sz="2400" b="1">
                <a:solidFill>
                  <a:srgbClr val="172C43"/>
                </a:solidFill>
                <a:latin typeface="Arial"/>
              </a:rPr>
              <a:t>Required controls</a:t>
            </a:r>
          </a:p>
        </p:txBody>
      </p:sp>
      <p:sp>
        <p:nvSpPr>
          <p:cNvPr id="16" name="TextBox 15"/>
          <p:cNvSpPr txBox="1"/>
          <p:nvPr/>
        </p:nvSpPr>
        <p:spPr>
          <a:xfrm>
            <a:off x="7991856" y="3337560"/>
            <a:ext cx="3337560" cy="1444752"/>
          </a:xfrm>
          <a:prstGeom prst="rect">
            <a:avLst/>
          </a:prstGeom>
          <a:noFill/>
        </p:spPr>
        <p:txBody>
          <a:bodyPr wrap="square" lIns="0" rIns="0" tIns="0" bIns="0" anchor="t">
            <a:spAutoFit/>
          </a:bodyPr>
          <a:lstStyle/>
          <a:p>
            <a:pPr algn="l">
              <a:lnSpc>
                <a:spcPct val="108000"/>
              </a:lnSpc>
              <a:spcBef>
                <a:spcPts val="0"/>
              </a:spcBef>
              <a:spcAft>
                <a:spcPts val="500"/>
              </a:spcAft>
            </a:pPr>
            <a:r>
              <a:rPr sz="2000" b="0">
                <a:solidFill>
                  <a:srgbClr val="53677C"/>
                </a:solidFill>
                <a:latin typeface="Arial"/>
              </a:rPr>
              <a:t>Restricted management</a:t>
            </a:r>
          </a:p>
          <a:p>
            <a:pPr algn="l">
              <a:lnSpc>
                <a:spcPct val="108000"/>
              </a:lnSpc>
              <a:spcBef>
                <a:spcPts val="0"/>
              </a:spcBef>
              <a:spcAft>
                <a:spcPts val="500"/>
              </a:spcAft>
            </a:pPr>
            <a:r>
              <a:rPr sz="2000" b="0">
                <a:solidFill>
                  <a:srgbClr val="53677C"/>
                </a:solidFill>
                <a:latin typeface="Arial"/>
              </a:rPr>
              <a:t>Scoped permissions</a:t>
            </a:r>
          </a:p>
          <a:p>
            <a:pPr algn="l">
              <a:lnSpc>
                <a:spcPct val="108000"/>
              </a:lnSpc>
              <a:spcBef>
                <a:spcPts val="0"/>
              </a:spcBef>
              <a:spcAft>
                <a:spcPts val="500"/>
              </a:spcAft>
            </a:pPr>
            <a:r>
              <a:rPr sz="2000" b="0">
                <a:solidFill>
                  <a:srgbClr val="53677C"/>
                </a:solidFill>
                <a:latin typeface="Arial"/>
              </a:rPr>
              <a:t>Secret handling</a:t>
            </a:r>
          </a:p>
          <a:p>
            <a:pPr algn="l">
              <a:lnSpc>
                <a:spcPct val="108000"/>
              </a:lnSpc>
              <a:spcBef>
                <a:spcPts val="0"/>
              </a:spcBef>
              <a:spcAft>
                <a:spcPts val="500"/>
              </a:spcAft>
            </a:pPr>
            <a:r>
              <a:rPr sz="2000" b="0">
                <a:solidFill>
                  <a:srgbClr val="53677C"/>
                </a:solidFill>
                <a:latin typeface="Arial"/>
              </a:rPr>
              <a:t>Backup and recovery</a:t>
            </a:r>
          </a:p>
        </p:txBody>
      </p:sp>
      <p:sp>
        <p:nvSpPr>
          <p:cNvPr id="17" name="TextBox 16"/>
          <p:cNvSpPr txBox="1"/>
          <p:nvPr/>
        </p:nvSpPr>
        <p:spPr>
          <a:xfrm>
            <a:off x="713232" y="5577840"/>
            <a:ext cx="10789920" cy="502920"/>
          </a:xfrm>
          <a:prstGeom prst="rect">
            <a:avLst/>
          </a:prstGeom>
          <a:noFill/>
        </p:spPr>
        <p:txBody>
          <a:bodyPr wrap="square" lIns="0" rIns="0" tIns="0" bIns="0" anchor="t">
            <a:spAutoFit/>
          </a:bodyPr>
          <a:lstStyle/>
          <a:p>
            <a:pPr algn="l">
              <a:lnSpc>
                <a:spcPct val="108000"/>
              </a:lnSpc>
              <a:spcBef>
                <a:spcPts val="0"/>
              </a:spcBef>
              <a:spcAft>
                <a:spcPts val="500"/>
              </a:spcAft>
            </a:pPr>
            <a:r>
              <a:rPr sz="1800" b="0">
                <a:solidFill>
                  <a:srgbClr val="53677C"/>
                </a:solidFill>
                <a:latin typeface="Arial"/>
              </a:rPr>
              <a:t>Institutional adoption adds identity integration, resilience requirements and organisational security review.</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7F9"/>
        </a:solidFill>
        <a:effectLst/>
      </p:bgPr>
    </p:bg>
    <p:spTree>
      <p:nvGrpSpPr>
        <p:cNvPr id="1" name=""/>
        <p:cNvGrpSpPr/>
        <p:nvPr/>
      </p:nvGrpSpPr>
      <p:grpSpPr/>
      <p:sp>
        <p:nvSpPr>
          <p:cNvPr id="2" name="TextBox 1"/>
          <p:cNvSpPr txBox="1"/>
          <p:nvPr/>
        </p:nvSpPr>
        <p:spPr>
          <a:xfrm>
            <a:off x="566928" y="320040"/>
            <a:ext cx="10789920" cy="201168"/>
          </a:xfrm>
          <a:prstGeom prst="rect">
            <a:avLst/>
          </a:prstGeom>
          <a:noFill/>
        </p:spPr>
        <p:txBody>
          <a:bodyPr wrap="square" lIns="0" rIns="0" tIns="0" bIns="0" anchor="t">
            <a:spAutoFit/>
          </a:bodyPr>
          <a:lstStyle/>
          <a:p>
            <a:pPr algn="l">
              <a:lnSpc>
                <a:spcPct val="108000"/>
              </a:lnSpc>
              <a:spcBef>
                <a:spcPts val="0"/>
              </a:spcBef>
              <a:spcAft>
                <a:spcPts val="500"/>
              </a:spcAft>
            </a:pPr>
            <a:r>
              <a:rPr sz="1050" b="1">
                <a:solidFill>
                  <a:srgbClr val="087F8C"/>
                </a:solidFill>
                <a:latin typeface="Arial"/>
              </a:rPr>
              <a:t>IMPLEMENTATION STATUS</a:t>
            </a:r>
          </a:p>
        </p:txBody>
      </p:sp>
      <p:sp>
        <p:nvSpPr>
          <p:cNvPr id="3" name="TextBox 2"/>
          <p:cNvSpPr txBox="1"/>
          <p:nvPr/>
        </p:nvSpPr>
        <p:spPr>
          <a:xfrm>
            <a:off x="566928" y="758952"/>
            <a:ext cx="11064240" cy="1005840"/>
          </a:xfrm>
          <a:prstGeom prst="rect">
            <a:avLst/>
          </a:prstGeom>
          <a:noFill/>
        </p:spPr>
        <p:txBody>
          <a:bodyPr wrap="square" lIns="0" rIns="0" tIns="0" bIns="0" anchor="t">
            <a:spAutoFit/>
          </a:bodyPr>
          <a:lstStyle/>
          <a:p>
            <a:pPr algn="l">
              <a:lnSpc>
                <a:spcPct val="108000"/>
              </a:lnSpc>
              <a:spcBef>
                <a:spcPts val="0"/>
              </a:spcBef>
              <a:spcAft>
                <a:spcPts val="500"/>
              </a:spcAft>
            </a:pPr>
            <a:r>
              <a:rPr sz="3100" b="1">
                <a:solidFill>
                  <a:srgbClr val="172C43"/>
                </a:solidFill>
                <a:latin typeface="Arial"/>
              </a:rPr>
              <a:t>The local deployment baseline is verified</a:t>
            </a:r>
          </a:p>
        </p:txBody>
      </p:sp>
      <p:sp>
        <p:nvSpPr>
          <p:cNvPr id="4" name="TextBox 3"/>
          <p:cNvSpPr txBox="1"/>
          <p:nvPr/>
        </p:nvSpPr>
        <p:spPr>
          <a:xfrm>
            <a:off x="594360" y="1636776"/>
            <a:ext cx="10972800" cy="548640"/>
          </a:xfrm>
          <a:prstGeom prst="rect">
            <a:avLst/>
          </a:prstGeom>
          <a:noFill/>
        </p:spPr>
        <p:txBody>
          <a:bodyPr wrap="square" lIns="0" rIns="0" tIns="0" bIns="0" anchor="t">
            <a:spAutoFit/>
          </a:bodyPr>
          <a:lstStyle/>
          <a:p>
            <a:pPr algn="l">
              <a:lnSpc>
                <a:spcPct val="108000"/>
              </a:lnSpc>
              <a:spcBef>
                <a:spcPts val="0"/>
              </a:spcBef>
              <a:spcAft>
                <a:spcPts val="500"/>
              </a:spcAft>
            </a:pPr>
            <a:r>
              <a:rPr sz="1600" b="0">
                <a:solidFill>
                  <a:srgbClr val="53677C"/>
                </a:solidFill>
                <a:latin typeface="Arial"/>
              </a:rPr>
              <a:t>Current evidence covers a Docker-based K3s test cluster, not yet the reference Raspberry Pi.</a:t>
            </a:r>
          </a:p>
        </p:txBody>
      </p:sp>
      <p:sp>
        <p:nvSpPr>
          <p:cNvPr id="5" name="Rectangle 4"/>
          <p:cNvSpPr/>
          <p:nvPr/>
        </p:nvSpPr>
        <p:spPr>
          <a:xfrm>
            <a:off x="576072" y="6446520"/>
            <a:ext cx="11018520" cy="10972"/>
          </a:xfrm>
          <a:prstGeom prst="rect">
            <a:avLst/>
          </a:prstGeom>
          <a:solidFill>
            <a:srgbClr val="D6DE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56248"/>
            <a:ext cx="8229600" cy="155448"/>
          </a:xfrm>
          <a:prstGeom prst="rect">
            <a:avLst/>
          </a:prstGeom>
          <a:noFill/>
        </p:spPr>
        <p:txBody>
          <a:bodyPr wrap="square" lIns="0" rIns="0" tIns="0" bIns="0" anchor="t">
            <a:spAutoFit/>
          </a:bodyPr>
          <a:lstStyle/>
          <a:p>
            <a:pPr algn="l">
              <a:lnSpc>
                <a:spcPct val="108000"/>
              </a:lnSpc>
              <a:spcBef>
                <a:spcPts val="0"/>
              </a:spcBef>
              <a:spcAft>
                <a:spcPts val="500"/>
              </a:spcAft>
            </a:pPr>
            <a:r>
              <a:rPr sz="850" b="0">
                <a:solidFill>
                  <a:srgbClr val="53677C"/>
                </a:solidFill>
                <a:latin typeface="Arial"/>
              </a:rPr>
              <a:t>SELF-HOSTED KUBERNETES APPLICATION PLATFORM</a:t>
            </a:r>
          </a:p>
        </p:txBody>
      </p:sp>
      <p:sp>
        <p:nvSpPr>
          <p:cNvPr id="7" name="TextBox 6"/>
          <p:cNvSpPr txBox="1"/>
          <p:nvPr/>
        </p:nvSpPr>
        <p:spPr>
          <a:xfrm>
            <a:off x="11064240" y="6510528"/>
            <a:ext cx="502920" cy="228600"/>
          </a:xfrm>
          <a:prstGeom prst="rect">
            <a:avLst/>
          </a:prstGeom>
          <a:noFill/>
        </p:spPr>
        <p:txBody>
          <a:bodyPr wrap="square" lIns="0" rIns="0" tIns="0" bIns="0" anchor="t">
            <a:spAutoFit/>
          </a:bodyPr>
          <a:lstStyle/>
          <a:p>
            <a:pPr algn="r">
              <a:lnSpc>
                <a:spcPct val="108000"/>
              </a:lnSpc>
              <a:spcBef>
                <a:spcPts val="0"/>
              </a:spcBef>
              <a:spcAft>
                <a:spcPts val="500"/>
              </a:spcAft>
            </a:pPr>
            <a:r>
              <a:rPr sz="1200" b="0">
                <a:solidFill>
                  <a:srgbClr val="53677C"/>
                </a:solidFill>
                <a:latin typeface="Arial"/>
              </a:rPr>
              <a:t>10</a:t>
            </a:r>
          </a:p>
        </p:txBody>
      </p:sp>
      <p:sp>
        <p:nvSpPr>
          <p:cNvPr id="8" name="TextBox 7"/>
          <p:cNvSpPr txBox="1"/>
          <p:nvPr/>
        </p:nvSpPr>
        <p:spPr>
          <a:xfrm>
            <a:off x="594360" y="6172200"/>
            <a:ext cx="10789920" cy="182880"/>
          </a:xfrm>
          <a:prstGeom prst="rect">
            <a:avLst/>
          </a:prstGeom>
          <a:noFill/>
        </p:spPr>
        <p:txBody>
          <a:bodyPr wrap="square" lIns="0" rIns="0" tIns="0" bIns="0" anchor="t">
            <a:spAutoFit/>
          </a:bodyPr>
          <a:lstStyle/>
          <a:p>
            <a:pPr algn="l">
              <a:lnSpc>
                <a:spcPct val="108000"/>
              </a:lnSpc>
              <a:spcBef>
                <a:spcPts val="0"/>
              </a:spcBef>
              <a:spcAft>
                <a:spcPts val="500"/>
              </a:spcAft>
            </a:pPr>
            <a:r>
              <a:rPr sz="950" b="0">
                <a:solidFill>
                  <a:srgbClr val="53677C"/>
                </a:solidFill>
                <a:latin typeface="Arial"/>
              </a:rPr>
              <a:t>Evidence: tests/experiments/2026-10-26-pr6-review-fixes.md in the project repository [7].</a:t>
            </a:r>
          </a:p>
        </p:txBody>
      </p:sp>
      <p:sp>
        <p:nvSpPr>
          <p:cNvPr id="9" name="Rounded Rectangle 8"/>
          <p:cNvSpPr/>
          <p:nvPr/>
        </p:nvSpPr>
        <p:spPr>
          <a:xfrm>
            <a:off x="640080" y="2423160"/>
            <a:ext cx="5376672" cy="3246120"/>
          </a:xfrm>
          <a:prstGeom prst="roundRect">
            <a:avLst>
              <a:gd name="adj" fmla="val 12000"/>
            </a:avLst>
          </a:prstGeom>
          <a:solidFill>
            <a:srgbClr val="E4F3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423160"/>
            <a:ext cx="50292" cy="32461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0392" y="2606040"/>
            <a:ext cx="4956048" cy="256032"/>
          </a:xfrm>
          <a:prstGeom prst="rect">
            <a:avLst/>
          </a:prstGeom>
          <a:noFill/>
        </p:spPr>
        <p:txBody>
          <a:bodyPr wrap="square" lIns="0" rIns="0" tIns="0" bIns="0" anchor="t">
            <a:spAutoFit/>
          </a:bodyPr>
          <a:lstStyle/>
          <a:p>
            <a:pPr algn="l">
              <a:lnSpc>
                <a:spcPct val="108000"/>
              </a:lnSpc>
              <a:spcBef>
                <a:spcPts val="0"/>
              </a:spcBef>
              <a:spcAft>
                <a:spcPts val="500"/>
              </a:spcAft>
            </a:pPr>
            <a:r>
              <a:rPr sz="1100" b="1">
                <a:solidFill>
                  <a:srgbClr val="087F8C"/>
                </a:solidFill>
                <a:latin typeface="Arial"/>
              </a:rPr>
              <a:t>IMPLEMENTED · LOCAL M0–M1</a:t>
            </a:r>
          </a:p>
        </p:txBody>
      </p:sp>
      <p:sp>
        <p:nvSpPr>
          <p:cNvPr id="12" name="TextBox 11"/>
          <p:cNvSpPr txBox="1"/>
          <p:nvPr/>
        </p:nvSpPr>
        <p:spPr>
          <a:xfrm>
            <a:off x="850392" y="3035808"/>
            <a:ext cx="4956048" cy="731520"/>
          </a:xfrm>
          <a:prstGeom prst="rect">
            <a:avLst/>
          </a:prstGeom>
          <a:noFill/>
        </p:spPr>
        <p:txBody>
          <a:bodyPr wrap="square" lIns="0" rIns="0" tIns="0" bIns="0" anchor="t">
            <a:spAutoFit/>
          </a:bodyPr>
          <a:lstStyle/>
          <a:p>
            <a:pPr algn="l">
              <a:lnSpc>
                <a:spcPct val="108000"/>
              </a:lnSpc>
              <a:spcBef>
                <a:spcPts val="0"/>
              </a:spcBef>
              <a:spcAft>
                <a:spcPts val="500"/>
              </a:spcAft>
            </a:pPr>
            <a:r>
              <a:rPr sz="2500" b="1">
                <a:solidFill>
                  <a:srgbClr val="172C43"/>
                </a:solidFill>
                <a:latin typeface="Arial"/>
              </a:rPr>
              <a:t>Application foundation</a:t>
            </a:r>
          </a:p>
        </p:txBody>
      </p:sp>
      <p:sp>
        <p:nvSpPr>
          <p:cNvPr id="13" name="TextBox 12"/>
          <p:cNvSpPr txBox="1"/>
          <p:nvPr/>
        </p:nvSpPr>
        <p:spPr>
          <a:xfrm>
            <a:off x="850392" y="3931920"/>
            <a:ext cx="4956048" cy="1581911"/>
          </a:xfrm>
          <a:prstGeom prst="rect">
            <a:avLst/>
          </a:prstGeom>
          <a:noFill/>
        </p:spPr>
        <p:txBody>
          <a:bodyPr wrap="square" lIns="0" rIns="0" tIns="0" bIns="0" anchor="t">
            <a:spAutoFit/>
          </a:bodyPr>
          <a:lstStyle/>
          <a:p>
            <a:pPr algn="l">
              <a:lnSpc>
                <a:spcPct val="108000"/>
              </a:lnSpc>
              <a:spcBef>
                <a:spcPts val="0"/>
              </a:spcBef>
              <a:spcAft>
                <a:spcPts val="500"/>
              </a:spcAft>
            </a:pPr>
            <a:r>
              <a:rPr sz="1900" b="0">
                <a:solidFill>
                  <a:srgbClr val="53677C"/>
                </a:solidFill>
                <a:latin typeface="Arial"/>
              </a:rPr>
              <a:t>Go demonstration application</a:t>
            </a:r>
          </a:p>
          <a:p>
            <a:pPr algn="l">
              <a:lnSpc>
                <a:spcPct val="108000"/>
              </a:lnSpc>
              <a:spcBef>
                <a:spcPts val="0"/>
              </a:spcBef>
              <a:spcAft>
                <a:spcPts val="500"/>
              </a:spcAft>
            </a:pPr>
            <a:r>
              <a:rPr sz="1900" b="0">
                <a:solidFill>
                  <a:srgbClr val="53677C"/>
                </a:solidFill>
                <a:latin typeface="Arial"/>
              </a:rPr>
              <a:t>Reusable Helm chart</a:t>
            </a:r>
          </a:p>
          <a:p>
            <a:pPr algn="l">
              <a:lnSpc>
                <a:spcPct val="108000"/>
              </a:lnSpc>
              <a:spcBef>
                <a:spcPts val="0"/>
              </a:spcBef>
              <a:spcAft>
                <a:spcPts val="500"/>
              </a:spcAft>
            </a:pPr>
            <a:r>
              <a:rPr sz="1900" b="0">
                <a:solidFill>
                  <a:srgbClr val="53677C"/>
                </a:solidFill>
                <a:latin typeface="Arial"/>
              </a:rPr>
              <a:t>Update, failed rollout and rollback</a:t>
            </a:r>
          </a:p>
          <a:p>
            <a:pPr algn="l">
              <a:lnSpc>
                <a:spcPct val="108000"/>
              </a:lnSpc>
              <a:spcBef>
                <a:spcPts val="0"/>
              </a:spcBef>
              <a:spcAft>
                <a:spcPts val="500"/>
              </a:spcAft>
            </a:pPr>
            <a:r>
              <a:rPr sz="1900" b="0">
                <a:solidFill>
                  <a:srgbClr val="53677C"/>
                </a:solidFill>
                <a:latin typeface="Arial"/>
              </a:rPr>
              <a:t>Port configuration and route checks</a:t>
            </a:r>
          </a:p>
        </p:txBody>
      </p:sp>
      <p:sp>
        <p:nvSpPr>
          <p:cNvPr id="14" name="Rounded Rectangle 13"/>
          <p:cNvSpPr/>
          <p:nvPr/>
        </p:nvSpPr>
        <p:spPr>
          <a:xfrm>
            <a:off x="6245352" y="2423160"/>
            <a:ext cx="5303520" cy="324612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45352" y="2423160"/>
            <a:ext cx="50292" cy="3246120"/>
          </a:xfrm>
          <a:prstGeom prst="rect">
            <a:avLst/>
          </a:prstGeom>
          <a:solidFill>
            <a:srgbClr val="2457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55664" y="2606040"/>
            <a:ext cx="4882896" cy="256032"/>
          </a:xfrm>
          <a:prstGeom prst="rect">
            <a:avLst/>
          </a:prstGeom>
          <a:noFill/>
        </p:spPr>
        <p:txBody>
          <a:bodyPr wrap="square" lIns="0" rIns="0" tIns="0" bIns="0" anchor="t">
            <a:spAutoFit/>
          </a:bodyPr>
          <a:lstStyle/>
          <a:p>
            <a:pPr algn="l">
              <a:lnSpc>
                <a:spcPct val="108000"/>
              </a:lnSpc>
              <a:spcBef>
                <a:spcPts val="0"/>
              </a:spcBef>
              <a:spcAft>
                <a:spcPts val="500"/>
              </a:spcAft>
            </a:pPr>
            <a:r>
              <a:rPr sz="1100" b="1">
                <a:solidFill>
                  <a:srgbClr val="2457D6"/>
                </a:solidFill>
                <a:latin typeface="Arial"/>
              </a:rPr>
              <a:t>PLANNED · NEXT STAGES</a:t>
            </a:r>
          </a:p>
        </p:txBody>
      </p:sp>
      <p:sp>
        <p:nvSpPr>
          <p:cNvPr id="17" name="TextBox 16"/>
          <p:cNvSpPr txBox="1"/>
          <p:nvPr/>
        </p:nvSpPr>
        <p:spPr>
          <a:xfrm>
            <a:off x="6455664" y="3035808"/>
            <a:ext cx="4882896" cy="731520"/>
          </a:xfrm>
          <a:prstGeom prst="rect">
            <a:avLst/>
          </a:prstGeom>
          <a:noFill/>
        </p:spPr>
        <p:txBody>
          <a:bodyPr wrap="square" lIns="0" rIns="0" tIns="0" bIns="0" anchor="t">
            <a:spAutoFit/>
          </a:bodyPr>
          <a:lstStyle/>
          <a:p>
            <a:pPr algn="l">
              <a:lnSpc>
                <a:spcPct val="108000"/>
              </a:lnSpc>
              <a:spcBef>
                <a:spcPts val="0"/>
              </a:spcBef>
              <a:spcAft>
                <a:spcPts val="500"/>
              </a:spcAft>
            </a:pPr>
            <a:r>
              <a:rPr sz="2500" b="1">
                <a:solidFill>
                  <a:srgbClr val="172C43"/>
                </a:solidFill>
                <a:latin typeface="Arial"/>
              </a:rPr>
              <a:t>Managed platform</a:t>
            </a:r>
          </a:p>
        </p:txBody>
      </p:sp>
      <p:sp>
        <p:nvSpPr>
          <p:cNvPr id="18" name="TextBox 17"/>
          <p:cNvSpPr txBox="1"/>
          <p:nvPr/>
        </p:nvSpPr>
        <p:spPr>
          <a:xfrm>
            <a:off x="6455664" y="3931920"/>
            <a:ext cx="4882896" cy="1581911"/>
          </a:xfrm>
          <a:prstGeom prst="rect">
            <a:avLst/>
          </a:prstGeom>
          <a:noFill/>
        </p:spPr>
        <p:txBody>
          <a:bodyPr wrap="square" lIns="0" rIns="0" tIns="0" bIns="0" anchor="t">
            <a:spAutoFit/>
          </a:bodyPr>
          <a:lstStyle/>
          <a:p>
            <a:pPr algn="l">
              <a:lnSpc>
                <a:spcPct val="108000"/>
              </a:lnSpc>
              <a:spcBef>
                <a:spcPts val="0"/>
              </a:spcBef>
              <a:spcAft>
                <a:spcPts val="500"/>
              </a:spcAft>
            </a:pPr>
            <a:r>
              <a:rPr sz="1900" b="0">
                <a:solidFill>
                  <a:srgbClr val="53677C"/>
                </a:solidFill>
                <a:latin typeface="Arial"/>
              </a:rPr>
              <a:t>Go API and durable operations</a:t>
            </a:r>
          </a:p>
          <a:p>
            <a:pPr algn="l">
              <a:lnSpc>
                <a:spcPct val="108000"/>
              </a:lnSpc>
              <a:spcBef>
                <a:spcPts val="0"/>
              </a:spcBef>
              <a:spcAft>
                <a:spcPts val="500"/>
              </a:spcAft>
            </a:pPr>
            <a:r>
              <a:rPr sz="1900" b="0">
                <a:solidFill>
                  <a:srgbClr val="53677C"/>
                </a:solidFill>
                <a:latin typeface="Arial"/>
              </a:rPr>
              <a:t>Administrator UI and authentication</a:t>
            </a:r>
          </a:p>
          <a:p>
            <a:pPr algn="l">
              <a:lnSpc>
                <a:spcPct val="108000"/>
              </a:lnSpc>
              <a:spcBef>
                <a:spcPts val="0"/>
              </a:spcBef>
              <a:spcAft>
                <a:spcPts val="500"/>
              </a:spcAft>
            </a:pPr>
            <a:r>
              <a:rPr sz="1900" b="0">
                <a:solidFill>
                  <a:srgbClr val="53677C"/>
                </a:solidFill>
                <a:latin typeface="Arial"/>
              </a:rPr>
              <a:t>Persistent data and public HTTPS</a:t>
            </a:r>
          </a:p>
          <a:p>
            <a:pPr algn="l">
              <a:lnSpc>
                <a:spcPct val="108000"/>
              </a:lnSpc>
              <a:spcBef>
                <a:spcPts val="0"/>
              </a:spcBef>
              <a:spcAft>
                <a:spcPts val="500"/>
              </a:spcAft>
            </a:pPr>
            <a:r>
              <a:rPr sz="1900" b="0">
                <a:solidFill>
                  <a:srgbClr val="53677C"/>
                </a:solidFill>
                <a:latin typeface="Arial"/>
              </a:rPr>
              <a:t>Installer, releases and Pi validation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7F9"/>
        </a:solidFill>
        <a:effectLst/>
      </p:bgPr>
    </p:bg>
    <p:spTree>
      <p:nvGrpSpPr>
        <p:cNvPr id="1" name=""/>
        <p:cNvGrpSpPr/>
        <p:nvPr/>
      </p:nvGrpSpPr>
      <p:grpSpPr/>
      <p:sp>
        <p:nvSpPr>
          <p:cNvPr id="2" name="TextBox 1"/>
          <p:cNvSpPr txBox="1"/>
          <p:nvPr/>
        </p:nvSpPr>
        <p:spPr>
          <a:xfrm>
            <a:off x="566928" y="320040"/>
            <a:ext cx="10789920" cy="201168"/>
          </a:xfrm>
          <a:prstGeom prst="rect">
            <a:avLst/>
          </a:prstGeom>
          <a:noFill/>
        </p:spPr>
        <p:txBody>
          <a:bodyPr wrap="square" lIns="0" rIns="0" tIns="0" bIns="0" anchor="t">
            <a:spAutoFit/>
          </a:bodyPr>
          <a:lstStyle/>
          <a:p>
            <a:pPr algn="l">
              <a:lnSpc>
                <a:spcPct val="108000"/>
              </a:lnSpc>
              <a:spcBef>
                <a:spcPts val="0"/>
              </a:spcBef>
              <a:spcAft>
                <a:spcPts val="500"/>
              </a:spcAft>
            </a:pPr>
            <a:r>
              <a:rPr sz="1050" b="1">
                <a:solidFill>
                  <a:srgbClr val="087F8C"/>
                </a:solidFill>
                <a:latin typeface="Arial"/>
              </a:rPr>
              <a:t>EVALUATION</a:t>
            </a:r>
          </a:p>
        </p:txBody>
      </p:sp>
      <p:sp>
        <p:nvSpPr>
          <p:cNvPr id="3" name="TextBox 2"/>
          <p:cNvSpPr txBox="1"/>
          <p:nvPr/>
        </p:nvSpPr>
        <p:spPr>
          <a:xfrm>
            <a:off x="566928" y="758952"/>
            <a:ext cx="11064240" cy="1005840"/>
          </a:xfrm>
          <a:prstGeom prst="rect">
            <a:avLst/>
          </a:prstGeom>
          <a:noFill/>
        </p:spPr>
        <p:txBody>
          <a:bodyPr wrap="square" lIns="0" rIns="0" tIns="0" bIns="0" anchor="t">
            <a:spAutoFit/>
          </a:bodyPr>
          <a:lstStyle/>
          <a:p>
            <a:pPr algn="l">
              <a:lnSpc>
                <a:spcPct val="108000"/>
              </a:lnSpc>
              <a:spcBef>
                <a:spcPts val="0"/>
              </a:spcBef>
              <a:spcAft>
                <a:spcPts val="500"/>
              </a:spcAft>
            </a:pPr>
            <a:r>
              <a:rPr sz="3100" b="1">
                <a:solidFill>
                  <a:srgbClr val="172C43"/>
                </a:solidFill>
                <a:latin typeface="Arial"/>
              </a:rPr>
              <a:t>Compare the platform with the manual Helm workflow</a:t>
            </a:r>
          </a:p>
        </p:txBody>
      </p:sp>
      <p:sp>
        <p:nvSpPr>
          <p:cNvPr id="4" name="TextBox 3"/>
          <p:cNvSpPr txBox="1"/>
          <p:nvPr/>
        </p:nvSpPr>
        <p:spPr>
          <a:xfrm>
            <a:off x="594360" y="1636776"/>
            <a:ext cx="10972800" cy="548640"/>
          </a:xfrm>
          <a:prstGeom prst="rect">
            <a:avLst/>
          </a:prstGeom>
          <a:noFill/>
        </p:spPr>
        <p:txBody>
          <a:bodyPr wrap="square" lIns="0" rIns="0" tIns="0" bIns="0" anchor="t">
            <a:spAutoFit/>
          </a:bodyPr>
          <a:lstStyle/>
          <a:p>
            <a:pPr algn="l">
              <a:lnSpc>
                <a:spcPct val="108000"/>
              </a:lnSpc>
              <a:spcBef>
                <a:spcPts val="0"/>
              </a:spcBef>
              <a:spcAft>
                <a:spcPts val="500"/>
              </a:spcAft>
            </a:pPr>
            <a:r>
              <a:rPr sz="1600" b="0">
                <a:solidFill>
                  <a:srgbClr val="53677C"/>
                </a:solidFill>
                <a:latin typeface="Arial"/>
              </a:rPr>
              <a:t>The same application, hardware and scenario provide the comparison baseline.</a:t>
            </a:r>
          </a:p>
        </p:txBody>
      </p:sp>
      <p:sp>
        <p:nvSpPr>
          <p:cNvPr id="5" name="Rectangle 4"/>
          <p:cNvSpPr/>
          <p:nvPr/>
        </p:nvSpPr>
        <p:spPr>
          <a:xfrm>
            <a:off x="576072" y="6446520"/>
            <a:ext cx="11018520" cy="10972"/>
          </a:xfrm>
          <a:prstGeom prst="rect">
            <a:avLst/>
          </a:prstGeom>
          <a:solidFill>
            <a:srgbClr val="D6DE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56248"/>
            <a:ext cx="8229600" cy="155448"/>
          </a:xfrm>
          <a:prstGeom prst="rect">
            <a:avLst/>
          </a:prstGeom>
          <a:noFill/>
        </p:spPr>
        <p:txBody>
          <a:bodyPr wrap="square" lIns="0" rIns="0" tIns="0" bIns="0" anchor="t">
            <a:spAutoFit/>
          </a:bodyPr>
          <a:lstStyle/>
          <a:p>
            <a:pPr algn="l">
              <a:lnSpc>
                <a:spcPct val="108000"/>
              </a:lnSpc>
              <a:spcBef>
                <a:spcPts val="0"/>
              </a:spcBef>
              <a:spcAft>
                <a:spcPts val="500"/>
              </a:spcAft>
            </a:pPr>
            <a:r>
              <a:rPr sz="850" b="0">
                <a:solidFill>
                  <a:srgbClr val="53677C"/>
                </a:solidFill>
                <a:latin typeface="Arial"/>
              </a:rPr>
              <a:t>SELF-HOSTED KUBERNETES APPLICATION PLATFORM</a:t>
            </a:r>
          </a:p>
        </p:txBody>
      </p:sp>
      <p:sp>
        <p:nvSpPr>
          <p:cNvPr id="7" name="TextBox 6"/>
          <p:cNvSpPr txBox="1"/>
          <p:nvPr/>
        </p:nvSpPr>
        <p:spPr>
          <a:xfrm>
            <a:off x="11064240" y="6510528"/>
            <a:ext cx="502920" cy="228600"/>
          </a:xfrm>
          <a:prstGeom prst="rect">
            <a:avLst/>
          </a:prstGeom>
          <a:noFill/>
        </p:spPr>
        <p:txBody>
          <a:bodyPr wrap="square" lIns="0" rIns="0" tIns="0" bIns="0" anchor="t">
            <a:spAutoFit/>
          </a:bodyPr>
          <a:lstStyle/>
          <a:p>
            <a:pPr algn="r">
              <a:lnSpc>
                <a:spcPct val="108000"/>
              </a:lnSpc>
              <a:spcBef>
                <a:spcPts val="0"/>
              </a:spcBef>
              <a:spcAft>
                <a:spcPts val="500"/>
              </a:spcAft>
            </a:pPr>
            <a:r>
              <a:rPr sz="1200" b="0">
                <a:solidFill>
                  <a:srgbClr val="53677C"/>
                </a:solidFill>
                <a:latin typeface="Arial"/>
              </a:rPr>
              <a:t>11</a:t>
            </a:r>
          </a:p>
        </p:txBody>
      </p:sp>
      <p:sp>
        <p:nvSpPr>
          <p:cNvPr id="8" name="Rounded Rectangle 7"/>
          <p:cNvSpPr/>
          <p:nvPr/>
        </p:nvSpPr>
        <p:spPr>
          <a:xfrm>
            <a:off x="658368" y="2350008"/>
            <a:ext cx="10881360" cy="5943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505456"/>
            <a:ext cx="2880360" cy="320040"/>
          </a:xfrm>
          <a:prstGeom prst="rect">
            <a:avLst/>
          </a:prstGeom>
          <a:noFill/>
        </p:spPr>
        <p:txBody>
          <a:bodyPr wrap="square" lIns="0" rIns="0" tIns="0" bIns="0" anchor="t">
            <a:spAutoFit/>
          </a:bodyPr>
          <a:lstStyle/>
          <a:p>
            <a:pPr algn="l">
              <a:lnSpc>
                <a:spcPct val="108000"/>
              </a:lnSpc>
              <a:spcBef>
                <a:spcPts val="0"/>
              </a:spcBef>
              <a:spcAft>
                <a:spcPts val="500"/>
              </a:spcAft>
            </a:pPr>
            <a:r>
              <a:rPr sz="2000" b="1">
                <a:solidFill>
                  <a:srgbClr val="087F8C"/>
                </a:solidFill>
                <a:latin typeface="Arial"/>
              </a:rPr>
              <a:t>Operator effort</a:t>
            </a:r>
          </a:p>
        </p:txBody>
      </p:sp>
      <p:sp>
        <p:nvSpPr>
          <p:cNvPr id="10" name="TextBox 9"/>
          <p:cNvSpPr txBox="1"/>
          <p:nvPr/>
        </p:nvSpPr>
        <p:spPr>
          <a:xfrm>
            <a:off x="3840480" y="2514600"/>
            <a:ext cx="7424927" cy="310896"/>
          </a:xfrm>
          <a:prstGeom prst="rect">
            <a:avLst/>
          </a:prstGeom>
          <a:noFill/>
        </p:spPr>
        <p:txBody>
          <a:bodyPr wrap="square" lIns="0" rIns="0" tIns="0" bIns="0" anchor="t">
            <a:spAutoFit/>
          </a:bodyPr>
          <a:lstStyle/>
          <a:p>
            <a:pPr algn="l">
              <a:lnSpc>
                <a:spcPct val="108000"/>
              </a:lnSpc>
              <a:spcBef>
                <a:spcPts val="0"/>
              </a:spcBef>
              <a:spcAft>
                <a:spcPts val="500"/>
              </a:spcAft>
            </a:pPr>
            <a:r>
              <a:rPr sz="1900" b="0">
                <a:solidFill>
                  <a:srgbClr val="172C43"/>
                </a:solidFill>
                <a:latin typeface="Arial"/>
              </a:rPr>
              <a:t>Defined step count and active operator time</a:t>
            </a:r>
          </a:p>
        </p:txBody>
      </p:sp>
      <p:sp>
        <p:nvSpPr>
          <p:cNvPr id="11" name="Rounded Rectangle 10"/>
          <p:cNvSpPr/>
          <p:nvPr/>
        </p:nvSpPr>
        <p:spPr>
          <a:xfrm>
            <a:off x="658368" y="3063239"/>
            <a:ext cx="10881360" cy="5943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218687"/>
            <a:ext cx="2880360" cy="320040"/>
          </a:xfrm>
          <a:prstGeom prst="rect">
            <a:avLst/>
          </a:prstGeom>
          <a:noFill/>
        </p:spPr>
        <p:txBody>
          <a:bodyPr wrap="square" lIns="0" rIns="0" tIns="0" bIns="0" anchor="t">
            <a:spAutoFit/>
          </a:bodyPr>
          <a:lstStyle/>
          <a:p>
            <a:pPr algn="l">
              <a:lnSpc>
                <a:spcPct val="108000"/>
              </a:lnSpc>
              <a:spcBef>
                <a:spcPts val="0"/>
              </a:spcBef>
              <a:spcAft>
                <a:spcPts val="500"/>
              </a:spcAft>
            </a:pPr>
            <a:r>
              <a:rPr sz="2000" b="1">
                <a:solidFill>
                  <a:srgbClr val="087F8C"/>
                </a:solidFill>
                <a:latin typeface="Arial"/>
              </a:rPr>
              <a:t>Deployment behaviour</a:t>
            </a:r>
          </a:p>
        </p:txBody>
      </p:sp>
      <p:sp>
        <p:nvSpPr>
          <p:cNvPr id="13" name="TextBox 12"/>
          <p:cNvSpPr txBox="1"/>
          <p:nvPr/>
        </p:nvSpPr>
        <p:spPr>
          <a:xfrm>
            <a:off x="3840480" y="3227832"/>
            <a:ext cx="7424927" cy="310896"/>
          </a:xfrm>
          <a:prstGeom prst="rect">
            <a:avLst/>
          </a:prstGeom>
          <a:noFill/>
        </p:spPr>
        <p:txBody>
          <a:bodyPr wrap="square" lIns="0" rIns="0" tIns="0" bIns="0" anchor="t">
            <a:spAutoFit/>
          </a:bodyPr>
          <a:lstStyle/>
          <a:p>
            <a:pPr algn="l">
              <a:lnSpc>
                <a:spcPct val="108000"/>
              </a:lnSpc>
              <a:spcBef>
                <a:spcPts val="0"/>
              </a:spcBef>
              <a:spcAft>
                <a:spcPts val="500"/>
              </a:spcAft>
            </a:pPr>
            <a:r>
              <a:rPr sz="1900" b="0">
                <a:solidFill>
                  <a:srgbClr val="172C43"/>
                </a:solidFill>
                <a:latin typeface="Arial"/>
              </a:rPr>
              <a:t>Time to readiness; cold and cached pulls separated</a:t>
            </a:r>
          </a:p>
        </p:txBody>
      </p:sp>
      <p:sp>
        <p:nvSpPr>
          <p:cNvPr id="14" name="Rounded Rectangle 13"/>
          <p:cNvSpPr/>
          <p:nvPr/>
        </p:nvSpPr>
        <p:spPr>
          <a:xfrm>
            <a:off x="658368" y="3776472"/>
            <a:ext cx="10881360" cy="5943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931920"/>
            <a:ext cx="2880360" cy="320040"/>
          </a:xfrm>
          <a:prstGeom prst="rect">
            <a:avLst/>
          </a:prstGeom>
          <a:noFill/>
        </p:spPr>
        <p:txBody>
          <a:bodyPr wrap="square" lIns="0" rIns="0" tIns="0" bIns="0" anchor="t">
            <a:spAutoFit/>
          </a:bodyPr>
          <a:lstStyle/>
          <a:p>
            <a:pPr algn="l">
              <a:lnSpc>
                <a:spcPct val="108000"/>
              </a:lnSpc>
              <a:spcBef>
                <a:spcPts val="0"/>
              </a:spcBef>
              <a:spcAft>
                <a:spcPts val="500"/>
              </a:spcAft>
            </a:pPr>
            <a:r>
              <a:rPr sz="2000" b="1">
                <a:solidFill>
                  <a:srgbClr val="087F8C"/>
                </a:solidFill>
                <a:latin typeface="Arial"/>
              </a:rPr>
              <a:t>Failure recovery</a:t>
            </a:r>
          </a:p>
        </p:txBody>
      </p:sp>
      <p:sp>
        <p:nvSpPr>
          <p:cNvPr id="16" name="TextBox 15"/>
          <p:cNvSpPr txBox="1"/>
          <p:nvPr/>
        </p:nvSpPr>
        <p:spPr>
          <a:xfrm>
            <a:off x="3840480" y="3941063"/>
            <a:ext cx="7424927" cy="310896"/>
          </a:xfrm>
          <a:prstGeom prst="rect">
            <a:avLst/>
          </a:prstGeom>
          <a:noFill/>
        </p:spPr>
        <p:txBody>
          <a:bodyPr wrap="square" lIns="0" rIns="0" tIns="0" bIns="0" anchor="t">
            <a:spAutoFit/>
          </a:bodyPr>
          <a:lstStyle/>
          <a:p>
            <a:pPr algn="l">
              <a:lnSpc>
                <a:spcPct val="108000"/>
              </a:lnSpc>
              <a:spcBef>
                <a:spcPts val="0"/>
              </a:spcBef>
              <a:spcAft>
                <a:spcPts val="500"/>
              </a:spcAft>
            </a:pPr>
            <a:r>
              <a:rPr sz="1900" b="0">
                <a:solidFill>
                  <a:srgbClr val="172C43"/>
                </a:solidFill>
                <a:latin typeface="Arial"/>
              </a:rPr>
              <a:t>Detection time, restored state and recovery outcome</a:t>
            </a:r>
          </a:p>
        </p:txBody>
      </p:sp>
      <p:sp>
        <p:nvSpPr>
          <p:cNvPr id="17" name="Rounded Rectangle 16"/>
          <p:cNvSpPr/>
          <p:nvPr/>
        </p:nvSpPr>
        <p:spPr>
          <a:xfrm>
            <a:off x="658368" y="4489704"/>
            <a:ext cx="10881360" cy="5943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645152"/>
            <a:ext cx="2880360" cy="320040"/>
          </a:xfrm>
          <a:prstGeom prst="rect">
            <a:avLst/>
          </a:prstGeom>
          <a:noFill/>
        </p:spPr>
        <p:txBody>
          <a:bodyPr wrap="square" lIns="0" rIns="0" tIns="0" bIns="0" anchor="t">
            <a:spAutoFit/>
          </a:bodyPr>
          <a:lstStyle/>
          <a:p>
            <a:pPr algn="l">
              <a:lnSpc>
                <a:spcPct val="108000"/>
              </a:lnSpc>
              <a:spcBef>
                <a:spcPts val="0"/>
              </a:spcBef>
              <a:spcAft>
                <a:spcPts val="500"/>
              </a:spcAft>
            </a:pPr>
            <a:r>
              <a:rPr sz="2000" b="1">
                <a:solidFill>
                  <a:srgbClr val="087F8C"/>
                </a:solidFill>
                <a:latin typeface="Arial"/>
              </a:rPr>
              <a:t>Hardware cost</a:t>
            </a:r>
          </a:p>
        </p:txBody>
      </p:sp>
      <p:sp>
        <p:nvSpPr>
          <p:cNvPr id="19" name="TextBox 18"/>
          <p:cNvSpPr txBox="1"/>
          <p:nvPr/>
        </p:nvSpPr>
        <p:spPr>
          <a:xfrm>
            <a:off x="3840480" y="4654296"/>
            <a:ext cx="7424927" cy="310896"/>
          </a:xfrm>
          <a:prstGeom prst="rect">
            <a:avLst/>
          </a:prstGeom>
          <a:noFill/>
        </p:spPr>
        <p:txBody>
          <a:bodyPr wrap="square" lIns="0" rIns="0" tIns="0" bIns="0" anchor="t">
            <a:spAutoFit/>
          </a:bodyPr>
          <a:lstStyle/>
          <a:p>
            <a:pPr algn="l">
              <a:lnSpc>
                <a:spcPct val="108000"/>
              </a:lnSpc>
              <a:spcBef>
                <a:spcPts val="0"/>
              </a:spcBef>
              <a:spcAft>
                <a:spcPts val="500"/>
              </a:spcAft>
            </a:pPr>
            <a:r>
              <a:rPr sz="1900" b="0">
                <a:solidFill>
                  <a:srgbClr val="172C43"/>
                </a:solidFill>
                <a:latin typeface="Arial"/>
              </a:rPr>
              <a:t>CPU, memory and disk use at idle and under load</a:t>
            </a:r>
          </a:p>
        </p:txBody>
      </p:sp>
      <p:sp>
        <p:nvSpPr>
          <p:cNvPr id="20" name="Rounded Rectangle 19"/>
          <p:cNvSpPr/>
          <p:nvPr/>
        </p:nvSpPr>
        <p:spPr>
          <a:xfrm>
            <a:off x="658368" y="5504688"/>
            <a:ext cx="10881360" cy="438912"/>
          </a:xfrm>
          <a:prstGeom prst="roundRect">
            <a:avLst>
              <a:gd name="adj" fmla="val 12000"/>
            </a:avLst>
          </a:prstGeom>
          <a:solidFill>
            <a:srgbClr val="E8EE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5623560"/>
            <a:ext cx="10515600" cy="237744"/>
          </a:xfrm>
          <a:prstGeom prst="rect">
            <a:avLst/>
          </a:prstGeom>
          <a:noFill/>
        </p:spPr>
        <p:txBody>
          <a:bodyPr wrap="square" lIns="0" rIns="0" tIns="0" bIns="0" anchor="t">
            <a:spAutoFit/>
          </a:bodyPr>
          <a:lstStyle/>
          <a:p>
            <a:pPr algn="l">
              <a:lnSpc>
                <a:spcPct val="108000"/>
              </a:lnSpc>
              <a:spcBef>
                <a:spcPts val="0"/>
              </a:spcBef>
              <a:spcAft>
                <a:spcPts val="500"/>
              </a:spcAft>
            </a:pPr>
            <a:r>
              <a:rPr sz="1500" b="1">
                <a:solidFill>
                  <a:srgbClr val="2457D6"/>
                </a:solidFill>
                <a:latin typeface="Arial"/>
              </a:rPr>
              <a:t>Repeated runs · recorded versions and configuration · functional and failure scenarios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02438"/>
        </a:solidFill>
        <a:effectLst/>
      </p:bgPr>
    </p:bg>
    <p:spTree>
      <p:nvGrpSpPr>
        <p:cNvPr id="1" name=""/>
        <p:cNvGrpSpPr/>
        <p:nvPr/>
      </p:nvGrpSpPr>
      <p:grpSpPr/>
      <p:sp>
        <p:nvSpPr>
          <p:cNvPr id="2" name="TextBox 1"/>
          <p:cNvSpPr txBox="1"/>
          <p:nvPr/>
        </p:nvSpPr>
        <p:spPr>
          <a:xfrm>
            <a:off x="566928" y="320040"/>
            <a:ext cx="10789920" cy="201168"/>
          </a:xfrm>
          <a:prstGeom prst="rect">
            <a:avLst/>
          </a:prstGeom>
          <a:noFill/>
        </p:spPr>
        <p:txBody>
          <a:bodyPr wrap="square" lIns="0" rIns="0" tIns="0" bIns="0" anchor="t">
            <a:spAutoFit/>
          </a:bodyPr>
          <a:lstStyle/>
          <a:p>
            <a:pPr algn="l">
              <a:lnSpc>
                <a:spcPct val="108000"/>
              </a:lnSpc>
              <a:spcBef>
                <a:spcPts val="0"/>
              </a:spcBef>
              <a:spcAft>
                <a:spcPts val="500"/>
              </a:spcAft>
            </a:pPr>
            <a:r>
              <a:rPr sz="1050" b="1">
                <a:solidFill>
                  <a:srgbClr val="67D4D1"/>
                </a:solidFill>
                <a:latin typeface="Arial"/>
              </a:rPr>
              <a:t>PROJECT GOAL</a:t>
            </a:r>
          </a:p>
        </p:txBody>
      </p:sp>
      <p:sp>
        <p:nvSpPr>
          <p:cNvPr id="3" name="TextBox 2"/>
          <p:cNvSpPr txBox="1"/>
          <p:nvPr/>
        </p:nvSpPr>
        <p:spPr>
          <a:xfrm>
            <a:off x="566928" y="758952"/>
            <a:ext cx="11064240" cy="1005840"/>
          </a:xfrm>
          <a:prstGeom prst="rect">
            <a:avLst/>
          </a:prstGeom>
          <a:noFill/>
        </p:spPr>
        <p:txBody>
          <a:bodyPr wrap="square" lIns="0" rIns="0" tIns="0" bIns="0" anchor="t">
            <a:spAutoFit/>
          </a:bodyPr>
          <a:lstStyle/>
          <a:p>
            <a:pPr algn="l">
              <a:lnSpc>
                <a:spcPct val="108000"/>
              </a:lnSpc>
              <a:spcBef>
                <a:spcPts val="0"/>
              </a:spcBef>
              <a:spcAft>
                <a:spcPts val="500"/>
              </a:spcAft>
            </a:pPr>
            <a:r>
              <a:rPr sz="3100" b="1">
                <a:solidFill>
                  <a:srgbClr val="FFFFFF"/>
                </a:solidFill>
                <a:latin typeface="Arial"/>
              </a:rPr>
              <a:t>Simpler deployment with retained infrastructure control</a:t>
            </a:r>
          </a:p>
        </p:txBody>
      </p:sp>
      <p:sp>
        <p:nvSpPr>
          <p:cNvPr id="4" name="Rectangle 3"/>
          <p:cNvSpPr/>
          <p:nvPr/>
        </p:nvSpPr>
        <p:spPr>
          <a:xfrm>
            <a:off x="576072" y="6446520"/>
            <a:ext cx="11018520" cy="10972"/>
          </a:xfrm>
          <a:prstGeom prst="rect">
            <a:avLst/>
          </a:prstGeom>
          <a:solidFill>
            <a:srgbClr val="3A4E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6556248"/>
            <a:ext cx="8229600" cy="155448"/>
          </a:xfrm>
          <a:prstGeom prst="rect">
            <a:avLst/>
          </a:prstGeom>
          <a:noFill/>
        </p:spPr>
        <p:txBody>
          <a:bodyPr wrap="square" lIns="0" rIns="0" tIns="0" bIns="0" anchor="t">
            <a:spAutoFit/>
          </a:bodyPr>
          <a:lstStyle/>
          <a:p>
            <a:pPr algn="l">
              <a:lnSpc>
                <a:spcPct val="108000"/>
              </a:lnSpc>
              <a:spcBef>
                <a:spcPts val="0"/>
              </a:spcBef>
              <a:spcAft>
                <a:spcPts val="500"/>
              </a:spcAft>
            </a:pPr>
            <a:r>
              <a:rPr sz="850" b="0">
                <a:solidFill>
                  <a:srgbClr val="B9C9D9"/>
                </a:solidFill>
                <a:latin typeface="Arial"/>
              </a:rPr>
              <a:t>SELF-HOSTED KUBERNETES APPLICATION PLATFORM</a:t>
            </a:r>
          </a:p>
        </p:txBody>
      </p:sp>
      <p:sp>
        <p:nvSpPr>
          <p:cNvPr id="6" name="TextBox 5"/>
          <p:cNvSpPr txBox="1"/>
          <p:nvPr/>
        </p:nvSpPr>
        <p:spPr>
          <a:xfrm>
            <a:off x="11064240" y="6510528"/>
            <a:ext cx="502920" cy="228600"/>
          </a:xfrm>
          <a:prstGeom prst="rect">
            <a:avLst/>
          </a:prstGeom>
          <a:noFill/>
        </p:spPr>
        <p:txBody>
          <a:bodyPr wrap="square" lIns="0" rIns="0" tIns="0" bIns="0" anchor="t">
            <a:spAutoFit/>
          </a:bodyPr>
          <a:lstStyle/>
          <a:p>
            <a:pPr algn="r">
              <a:lnSpc>
                <a:spcPct val="108000"/>
              </a:lnSpc>
              <a:spcBef>
                <a:spcPts val="0"/>
              </a:spcBef>
              <a:spcAft>
                <a:spcPts val="500"/>
              </a:spcAft>
            </a:pPr>
            <a:r>
              <a:rPr sz="1200" b="0">
                <a:solidFill>
                  <a:srgbClr val="FFFFFF"/>
                </a:solidFill>
                <a:latin typeface="Arial"/>
              </a:rPr>
              <a:t>12</a:t>
            </a:r>
          </a:p>
        </p:txBody>
      </p:sp>
      <p:sp>
        <p:nvSpPr>
          <p:cNvPr id="7" name="TextBox 6"/>
          <p:cNvSpPr txBox="1"/>
          <p:nvPr/>
        </p:nvSpPr>
        <p:spPr>
          <a:xfrm>
            <a:off x="731520" y="2258568"/>
            <a:ext cx="548640" cy="365760"/>
          </a:xfrm>
          <a:prstGeom prst="rect">
            <a:avLst/>
          </a:prstGeom>
          <a:noFill/>
        </p:spPr>
        <p:txBody>
          <a:bodyPr wrap="square" lIns="0" rIns="0" tIns="0" bIns="0" anchor="t">
            <a:spAutoFit/>
          </a:bodyPr>
          <a:lstStyle/>
          <a:p>
            <a:pPr algn="l">
              <a:lnSpc>
                <a:spcPct val="108000"/>
              </a:lnSpc>
              <a:spcBef>
                <a:spcPts val="0"/>
              </a:spcBef>
              <a:spcAft>
                <a:spcPts val="500"/>
              </a:spcAft>
            </a:pPr>
            <a:r>
              <a:rPr sz="2400" b="1">
                <a:solidFill>
                  <a:srgbClr val="67D4D1"/>
                </a:solidFill>
                <a:latin typeface="Arial"/>
              </a:rPr>
              <a:t>01</a:t>
            </a:r>
          </a:p>
        </p:txBody>
      </p:sp>
      <p:sp>
        <p:nvSpPr>
          <p:cNvPr id="8" name="TextBox 7"/>
          <p:cNvSpPr txBox="1"/>
          <p:nvPr/>
        </p:nvSpPr>
        <p:spPr>
          <a:xfrm>
            <a:off x="1508760" y="2258568"/>
            <a:ext cx="9966960" cy="365760"/>
          </a:xfrm>
          <a:prstGeom prst="rect">
            <a:avLst/>
          </a:prstGeom>
          <a:noFill/>
        </p:spPr>
        <p:txBody>
          <a:bodyPr wrap="square" lIns="0" rIns="0" tIns="0" bIns="0" anchor="t">
            <a:spAutoFit/>
          </a:bodyPr>
          <a:lstStyle/>
          <a:p>
            <a:pPr algn="l">
              <a:lnSpc>
                <a:spcPct val="108000"/>
              </a:lnSpc>
              <a:spcBef>
                <a:spcPts val="0"/>
              </a:spcBef>
              <a:spcAft>
                <a:spcPts val="500"/>
              </a:spcAft>
            </a:pPr>
            <a:r>
              <a:rPr sz="2500" b="1">
                <a:solidFill>
                  <a:srgbClr val="FFFFFF"/>
                </a:solidFill>
                <a:latin typeface="Arial"/>
              </a:rPr>
              <a:t>A clear application workflow</a:t>
            </a:r>
          </a:p>
        </p:txBody>
      </p:sp>
      <p:sp>
        <p:nvSpPr>
          <p:cNvPr id="9" name="TextBox 8"/>
          <p:cNvSpPr txBox="1"/>
          <p:nvPr/>
        </p:nvSpPr>
        <p:spPr>
          <a:xfrm>
            <a:off x="1508760" y="2734056"/>
            <a:ext cx="9966960" cy="393192"/>
          </a:xfrm>
          <a:prstGeom prst="rect">
            <a:avLst/>
          </a:prstGeom>
          <a:noFill/>
        </p:spPr>
        <p:txBody>
          <a:bodyPr wrap="square" lIns="0" rIns="0" tIns="0" bIns="0" anchor="t">
            <a:spAutoFit/>
          </a:bodyPr>
          <a:lstStyle/>
          <a:p>
            <a:pPr algn="l">
              <a:lnSpc>
                <a:spcPct val="108000"/>
              </a:lnSpc>
              <a:spcBef>
                <a:spcPts val="0"/>
              </a:spcBef>
              <a:spcAft>
                <a:spcPts val="500"/>
              </a:spcAft>
            </a:pPr>
            <a:r>
              <a:rPr sz="1900" b="0">
                <a:solidFill>
                  <a:srgbClr val="B9C9D9"/>
                </a:solidFill>
                <a:latin typeface="Arial"/>
              </a:rPr>
              <a:t>From an image reference to deployment, updates and recovery.</a:t>
            </a:r>
          </a:p>
        </p:txBody>
      </p:sp>
      <p:sp>
        <p:nvSpPr>
          <p:cNvPr id="10" name="TextBox 9"/>
          <p:cNvSpPr txBox="1"/>
          <p:nvPr/>
        </p:nvSpPr>
        <p:spPr>
          <a:xfrm>
            <a:off x="731520" y="3282696"/>
            <a:ext cx="548640" cy="365760"/>
          </a:xfrm>
          <a:prstGeom prst="rect">
            <a:avLst/>
          </a:prstGeom>
          <a:noFill/>
        </p:spPr>
        <p:txBody>
          <a:bodyPr wrap="square" lIns="0" rIns="0" tIns="0" bIns="0" anchor="t">
            <a:spAutoFit/>
          </a:bodyPr>
          <a:lstStyle/>
          <a:p>
            <a:pPr algn="l">
              <a:lnSpc>
                <a:spcPct val="108000"/>
              </a:lnSpc>
              <a:spcBef>
                <a:spcPts val="0"/>
              </a:spcBef>
              <a:spcAft>
                <a:spcPts val="500"/>
              </a:spcAft>
            </a:pPr>
            <a:r>
              <a:rPr sz="2400" b="1">
                <a:solidFill>
                  <a:srgbClr val="67D4D1"/>
                </a:solidFill>
                <a:latin typeface="Arial"/>
              </a:rPr>
              <a:t>02</a:t>
            </a:r>
          </a:p>
        </p:txBody>
      </p:sp>
      <p:sp>
        <p:nvSpPr>
          <p:cNvPr id="11" name="TextBox 10"/>
          <p:cNvSpPr txBox="1"/>
          <p:nvPr/>
        </p:nvSpPr>
        <p:spPr>
          <a:xfrm>
            <a:off x="1508760" y="3282696"/>
            <a:ext cx="9966960" cy="365760"/>
          </a:xfrm>
          <a:prstGeom prst="rect">
            <a:avLst/>
          </a:prstGeom>
          <a:noFill/>
        </p:spPr>
        <p:txBody>
          <a:bodyPr wrap="square" lIns="0" rIns="0" tIns="0" bIns="0" anchor="t">
            <a:spAutoFit/>
          </a:bodyPr>
          <a:lstStyle/>
          <a:p>
            <a:pPr algn="l">
              <a:lnSpc>
                <a:spcPct val="108000"/>
              </a:lnSpc>
              <a:spcBef>
                <a:spcPts val="0"/>
              </a:spcBef>
              <a:spcAft>
                <a:spcPts val="500"/>
              </a:spcAft>
            </a:pPr>
            <a:r>
              <a:rPr sz="2500" b="1">
                <a:solidFill>
                  <a:srgbClr val="FFFFFF"/>
                </a:solidFill>
                <a:latin typeface="Arial"/>
              </a:rPr>
              <a:t>A choice of operating environment</a:t>
            </a:r>
          </a:p>
        </p:txBody>
      </p:sp>
      <p:sp>
        <p:nvSpPr>
          <p:cNvPr id="12" name="TextBox 11"/>
          <p:cNvSpPr txBox="1"/>
          <p:nvPr/>
        </p:nvSpPr>
        <p:spPr>
          <a:xfrm>
            <a:off x="1508760" y="3758184"/>
            <a:ext cx="9966960" cy="393192"/>
          </a:xfrm>
          <a:prstGeom prst="rect">
            <a:avLst/>
          </a:prstGeom>
          <a:noFill/>
        </p:spPr>
        <p:txBody>
          <a:bodyPr wrap="square" lIns="0" rIns="0" tIns="0" bIns="0" anchor="t">
            <a:spAutoFit/>
          </a:bodyPr>
          <a:lstStyle/>
          <a:p>
            <a:pPr algn="l">
              <a:lnSpc>
                <a:spcPct val="108000"/>
              </a:lnSpc>
              <a:spcBef>
                <a:spcPts val="0"/>
              </a:spcBef>
              <a:spcAft>
                <a:spcPts val="500"/>
              </a:spcAft>
            </a:pPr>
            <a:r>
              <a:rPr sz="1900" b="0">
                <a:solidFill>
                  <a:srgbClr val="B9C9D9"/>
                </a:solidFill>
                <a:latin typeface="Arial"/>
              </a:rPr>
              <a:t>Private institutional infrastructure, a Raspberry Pi or a Linux VPS.</a:t>
            </a:r>
          </a:p>
        </p:txBody>
      </p:sp>
      <p:sp>
        <p:nvSpPr>
          <p:cNvPr id="13" name="TextBox 12"/>
          <p:cNvSpPr txBox="1"/>
          <p:nvPr/>
        </p:nvSpPr>
        <p:spPr>
          <a:xfrm>
            <a:off x="731520" y="4306824"/>
            <a:ext cx="548640" cy="365760"/>
          </a:xfrm>
          <a:prstGeom prst="rect">
            <a:avLst/>
          </a:prstGeom>
          <a:noFill/>
        </p:spPr>
        <p:txBody>
          <a:bodyPr wrap="square" lIns="0" rIns="0" tIns="0" bIns="0" anchor="t">
            <a:spAutoFit/>
          </a:bodyPr>
          <a:lstStyle/>
          <a:p>
            <a:pPr algn="l">
              <a:lnSpc>
                <a:spcPct val="108000"/>
              </a:lnSpc>
              <a:spcBef>
                <a:spcPts val="0"/>
              </a:spcBef>
              <a:spcAft>
                <a:spcPts val="500"/>
              </a:spcAft>
            </a:pPr>
            <a:r>
              <a:rPr sz="2400" b="1">
                <a:solidFill>
                  <a:srgbClr val="67D4D1"/>
                </a:solidFill>
                <a:latin typeface="Arial"/>
              </a:rPr>
              <a:t>03</a:t>
            </a:r>
          </a:p>
        </p:txBody>
      </p:sp>
      <p:sp>
        <p:nvSpPr>
          <p:cNvPr id="14" name="TextBox 13"/>
          <p:cNvSpPr txBox="1"/>
          <p:nvPr/>
        </p:nvSpPr>
        <p:spPr>
          <a:xfrm>
            <a:off x="1508760" y="4306824"/>
            <a:ext cx="9966960" cy="365760"/>
          </a:xfrm>
          <a:prstGeom prst="rect">
            <a:avLst/>
          </a:prstGeom>
          <a:noFill/>
        </p:spPr>
        <p:txBody>
          <a:bodyPr wrap="square" lIns="0" rIns="0" tIns="0" bIns="0" anchor="t">
            <a:spAutoFit/>
          </a:bodyPr>
          <a:lstStyle/>
          <a:p>
            <a:pPr algn="l">
              <a:lnSpc>
                <a:spcPct val="108000"/>
              </a:lnSpc>
              <a:spcBef>
                <a:spcPts val="0"/>
              </a:spcBef>
              <a:spcAft>
                <a:spcPts val="500"/>
              </a:spcAft>
            </a:pPr>
            <a:r>
              <a:rPr sz="2500" b="1">
                <a:solidFill>
                  <a:srgbClr val="FFFFFF"/>
                </a:solidFill>
                <a:latin typeface="Arial"/>
              </a:rPr>
              <a:t>Evidence for the chosen design</a:t>
            </a:r>
          </a:p>
        </p:txBody>
      </p:sp>
      <p:sp>
        <p:nvSpPr>
          <p:cNvPr id="15" name="TextBox 14"/>
          <p:cNvSpPr txBox="1"/>
          <p:nvPr/>
        </p:nvSpPr>
        <p:spPr>
          <a:xfrm>
            <a:off x="1508760" y="4782312"/>
            <a:ext cx="9966960" cy="393192"/>
          </a:xfrm>
          <a:prstGeom prst="rect">
            <a:avLst/>
          </a:prstGeom>
          <a:noFill/>
        </p:spPr>
        <p:txBody>
          <a:bodyPr wrap="square" lIns="0" rIns="0" tIns="0" bIns="0" anchor="t">
            <a:spAutoFit/>
          </a:bodyPr>
          <a:lstStyle/>
          <a:p>
            <a:pPr algn="l">
              <a:lnSpc>
                <a:spcPct val="108000"/>
              </a:lnSpc>
              <a:spcBef>
                <a:spcPts val="0"/>
              </a:spcBef>
              <a:spcAft>
                <a:spcPts val="500"/>
              </a:spcAft>
            </a:pPr>
            <a:r>
              <a:rPr sz="1900" b="0">
                <a:solidFill>
                  <a:srgbClr val="B9C9D9"/>
                </a:solidFill>
                <a:latin typeface="Arial"/>
              </a:rPr>
              <a:t>Measured behaviour, resource use and improvement over the baseline.</a:t>
            </a:r>
          </a:p>
        </p:txBody>
      </p:sp>
      <p:sp>
        <p:nvSpPr>
          <p:cNvPr id="16" name="TextBox 15"/>
          <p:cNvSpPr txBox="1"/>
          <p:nvPr/>
        </p:nvSpPr>
        <p:spPr>
          <a:xfrm>
            <a:off x="749808" y="5824728"/>
            <a:ext cx="10881360" cy="310896"/>
          </a:xfrm>
          <a:prstGeom prst="rect">
            <a:avLst/>
          </a:prstGeom>
          <a:noFill/>
        </p:spPr>
        <p:txBody>
          <a:bodyPr wrap="square" lIns="0" rIns="0" tIns="0" bIns="0" anchor="t">
            <a:spAutoFit/>
          </a:bodyPr>
          <a:lstStyle/>
          <a:p>
            <a:pPr algn="l">
              <a:lnSpc>
                <a:spcPct val="108000"/>
              </a:lnSpc>
              <a:spcBef>
                <a:spcPts val="0"/>
              </a:spcBef>
              <a:spcAft>
                <a:spcPts val="500"/>
              </a:spcAft>
            </a:pPr>
            <a:r>
              <a:rPr sz="1600" b="1">
                <a:solidFill>
                  <a:srgbClr val="67D4D1"/>
                </a:solidFill>
                <a:latin typeface="Arial"/>
              </a:rPr>
              <a:t>NEXT: automate the verified lifecycle through the Go broker and administrator UI.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7F9"/>
        </a:solidFill>
        <a:effectLst/>
      </p:bgPr>
    </p:bg>
    <p:spTree>
      <p:nvGrpSpPr>
        <p:cNvPr id="1" name=""/>
        <p:cNvGrpSpPr/>
        <p:nvPr/>
      </p:nvGrpSpPr>
      <p:grpSpPr/>
      <p:sp>
        <p:nvSpPr>
          <p:cNvPr id="2" name="TextBox 1"/>
          <p:cNvSpPr txBox="1"/>
          <p:nvPr/>
        </p:nvSpPr>
        <p:spPr>
          <a:xfrm>
            <a:off x="566928" y="320040"/>
            <a:ext cx="10789920" cy="201168"/>
          </a:xfrm>
          <a:prstGeom prst="rect">
            <a:avLst/>
          </a:prstGeom>
          <a:noFill/>
        </p:spPr>
        <p:txBody>
          <a:bodyPr wrap="square" lIns="0" rIns="0" tIns="0" bIns="0" anchor="t">
            <a:spAutoFit/>
          </a:bodyPr>
          <a:lstStyle/>
          <a:p>
            <a:pPr algn="l">
              <a:lnSpc>
                <a:spcPct val="108000"/>
              </a:lnSpc>
              <a:spcBef>
                <a:spcPts val="0"/>
              </a:spcBef>
              <a:spcAft>
                <a:spcPts val="500"/>
              </a:spcAft>
            </a:pPr>
            <a:r>
              <a:rPr sz="1050" b="1">
                <a:solidFill>
                  <a:srgbClr val="087F8C"/>
                </a:solidFill>
                <a:latin typeface="Arial"/>
              </a:rPr>
              <a:t>REFERENCES</a:t>
            </a:r>
          </a:p>
        </p:txBody>
      </p:sp>
      <p:sp>
        <p:nvSpPr>
          <p:cNvPr id="3" name="TextBox 2"/>
          <p:cNvSpPr txBox="1"/>
          <p:nvPr/>
        </p:nvSpPr>
        <p:spPr>
          <a:xfrm>
            <a:off x="566928" y="758952"/>
            <a:ext cx="11064240" cy="1005840"/>
          </a:xfrm>
          <a:prstGeom prst="rect">
            <a:avLst/>
          </a:prstGeom>
          <a:noFill/>
        </p:spPr>
        <p:txBody>
          <a:bodyPr wrap="square" lIns="0" rIns="0" tIns="0" bIns="0" anchor="t">
            <a:spAutoFit/>
          </a:bodyPr>
          <a:lstStyle/>
          <a:p>
            <a:pPr algn="l">
              <a:lnSpc>
                <a:spcPct val="108000"/>
              </a:lnSpc>
              <a:spcBef>
                <a:spcPts val="0"/>
              </a:spcBef>
              <a:spcAft>
                <a:spcPts val="500"/>
              </a:spcAft>
            </a:pPr>
            <a:r>
              <a:rPr sz="3100" b="1">
                <a:solidFill>
                  <a:srgbClr val="172C43"/>
                </a:solidFill>
                <a:latin typeface="Arial"/>
              </a:rPr>
              <a:t>Selected primary sources</a:t>
            </a:r>
          </a:p>
        </p:txBody>
      </p:sp>
      <p:sp>
        <p:nvSpPr>
          <p:cNvPr id="4" name="TextBox 3"/>
          <p:cNvSpPr txBox="1"/>
          <p:nvPr/>
        </p:nvSpPr>
        <p:spPr>
          <a:xfrm>
            <a:off x="594360" y="1636776"/>
            <a:ext cx="10972800" cy="548640"/>
          </a:xfrm>
          <a:prstGeom prst="rect">
            <a:avLst/>
          </a:prstGeom>
          <a:noFill/>
        </p:spPr>
        <p:txBody>
          <a:bodyPr wrap="square" lIns="0" rIns="0" tIns="0" bIns="0" anchor="t">
            <a:spAutoFit/>
          </a:bodyPr>
          <a:lstStyle/>
          <a:p>
            <a:pPr algn="l">
              <a:lnSpc>
                <a:spcPct val="108000"/>
              </a:lnSpc>
              <a:spcBef>
                <a:spcPts val="0"/>
              </a:spcBef>
              <a:spcAft>
                <a:spcPts val="500"/>
              </a:spcAft>
            </a:pPr>
            <a:r>
              <a:rPr sz="1600" b="0">
                <a:solidFill>
                  <a:srgbClr val="53677C"/>
                </a:solidFill>
                <a:latin typeface="Arial"/>
              </a:rPr>
              <a:t>Official product documentation and project evidence · accessed 26 October 2026</a:t>
            </a:r>
          </a:p>
        </p:txBody>
      </p:sp>
      <p:sp>
        <p:nvSpPr>
          <p:cNvPr id="5" name="Rectangle 4"/>
          <p:cNvSpPr/>
          <p:nvPr/>
        </p:nvSpPr>
        <p:spPr>
          <a:xfrm>
            <a:off x="576072" y="6446520"/>
            <a:ext cx="11018520" cy="10972"/>
          </a:xfrm>
          <a:prstGeom prst="rect">
            <a:avLst/>
          </a:prstGeom>
          <a:solidFill>
            <a:srgbClr val="D6DE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56248"/>
            <a:ext cx="8229600" cy="155448"/>
          </a:xfrm>
          <a:prstGeom prst="rect">
            <a:avLst/>
          </a:prstGeom>
          <a:noFill/>
        </p:spPr>
        <p:txBody>
          <a:bodyPr wrap="square" lIns="0" rIns="0" tIns="0" bIns="0" anchor="t">
            <a:spAutoFit/>
          </a:bodyPr>
          <a:lstStyle/>
          <a:p>
            <a:pPr algn="l">
              <a:lnSpc>
                <a:spcPct val="108000"/>
              </a:lnSpc>
              <a:spcBef>
                <a:spcPts val="0"/>
              </a:spcBef>
              <a:spcAft>
                <a:spcPts val="500"/>
              </a:spcAft>
            </a:pPr>
            <a:r>
              <a:rPr sz="850" b="0">
                <a:solidFill>
                  <a:srgbClr val="53677C"/>
                </a:solidFill>
                <a:latin typeface="Arial"/>
              </a:rPr>
              <a:t>SELF-HOSTED KUBERNETES APPLICATION PLATFORM</a:t>
            </a:r>
          </a:p>
        </p:txBody>
      </p:sp>
      <p:sp>
        <p:nvSpPr>
          <p:cNvPr id="7" name="TextBox 6"/>
          <p:cNvSpPr txBox="1"/>
          <p:nvPr/>
        </p:nvSpPr>
        <p:spPr>
          <a:xfrm>
            <a:off x="11064240" y="6510528"/>
            <a:ext cx="502920" cy="228600"/>
          </a:xfrm>
          <a:prstGeom prst="rect">
            <a:avLst/>
          </a:prstGeom>
          <a:noFill/>
        </p:spPr>
        <p:txBody>
          <a:bodyPr wrap="square" lIns="0" rIns="0" tIns="0" bIns="0" anchor="t">
            <a:spAutoFit/>
          </a:bodyPr>
          <a:lstStyle/>
          <a:p>
            <a:pPr algn="r">
              <a:lnSpc>
                <a:spcPct val="108000"/>
              </a:lnSpc>
              <a:spcBef>
                <a:spcPts val="0"/>
              </a:spcBef>
              <a:spcAft>
                <a:spcPts val="500"/>
              </a:spcAft>
            </a:pPr>
            <a:r>
              <a:rPr sz="1200" b="0">
                <a:solidFill>
                  <a:srgbClr val="53677C"/>
                </a:solidFill>
                <a:latin typeface="Arial"/>
              </a:rPr>
              <a:t>13</a:t>
            </a:r>
          </a:p>
        </p:txBody>
      </p:sp>
      <p:sp>
        <p:nvSpPr>
          <p:cNvPr id="8" name="TextBox 7"/>
          <p:cNvSpPr txBox="1"/>
          <p:nvPr/>
        </p:nvSpPr>
        <p:spPr>
          <a:xfrm>
            <a:off x="694944" y="2377440"/>
            <a:ext cx="5212080" cy="393192"/>
          </a:xfrm>
          <a:prstGeom prst="rect">
            <a:avLst/>
          </a:prstGeom>
          <a:noFill/>
        </p:spPr>
        <p:txBody>
          <a:bodyPr wrap="square" lIns="0" rIns="0" tIns="0" bIns="0" anchor="t">
            <a:spAutoFit/>
          </a:bodyPr>
          <a:lstStyle/>
          <a:p>
            <a:pPr algn="l">
              <a:lnSpc>
                <a:spcPct val="108000"/>
              </a:lnSpc>
              <a:spcBef>
                <a:spcPts val="0"/>
              </a:spcBef>
              <a:spcAft>
                <a:spcPts val="500"/>
              </a:spcAft>
            </a:pPr>
            <a:r>
              <a:rPr sz="1700" b="1">
                <a:solidFill>
                  <a:srgbClr val="172C43"/>
                </a:solidFill>
                <a:latin typeface="Arial"/>
                <a:hlinkClick r:id="rId2"/>
              </a:rPr>
              <a:t>[1] Kubernetes — Overview</a:t>
            </a:r>
          </a:p>
        </p:txBody>
      </p:sp>
      <p:sp>
        <p:nvSpPr>
          <p:cNvPr id="9" name="TextBox 8"/>
          <p:cNvSpPr txBox="1"/>
          <p:nvPr/>
        </p:nvSpPr>
        <p:spPr>
          <a:xfrm>
            <a:off x="694944" y="2770632"/>
            <a:ext cx="5138928" cy="393192"/>
          </a:xfrm>
          <a:prstGeom prst="rect">
            <a:avLst/>
          </a:prstGeom>
          <a:noFill/>
        </p:spPr>
        <p:txBody>
          <a:bodyPr wrap="square" lIns="0" rIns="0" tIns="0" bIns="0" anchor="t">
            <a:spAutoFit/>
          </a:bodyPr>
          <a:lstStyle/>
          <a:p>
            <a:pPr algn="l">
              <a:lnSpc>
                <a:spcPct val="108000"/>
              </a:lnSpc>
              <a:spcBef>
                <a:spcPts val="0"/>
              </a:spcBef>
              <a:spcAft>
                <a:spcPts val="500"/>
              </a:spcAft>
            </a:pPr>
            <a:r>
              <a:rPr sz="1050" b="0">
                <a:solidFill>
                  <a:srgbClr val="2457D6"/>
                </a:solidFill>
                <a:latin typeface="Arial"/>
                <a:hlinkClick r:id="rId2"/>
              </a:rPr>
              <a:t>https://kubernetes.io/docs/concepts/overview/</a:t>
            </a:r>
          </a:p>
        </p:txBody>
      </p:sp>
      <p:sp>
        <p:nvSpPr>
          <p:cNvPr id="10" name="TextBox 9"/>
          <p:cNvSpPr txBox="1"/>
          <p:nvPr/>
        </p:nvSpPr>
        <p:spPr>
          <a:xfrm>
            <a:off x="694944" y="3236976"/>
            <a:ext cx="5212080" cy="393192"/>
          </a:xfrm>
          <a:prstGeom prst="rect">
            <a:avLst/>
          </a:prstGeom>
          <a:noFill/>
        </p:spPr>
        <p:txBody>
          <a:bodyPr wrap="square" lIns="0" rIns="0" tIns="0" bIns="0" anchor="t">
            <a:spAutoFit/>
          </a:bodyPr>
          <a:lstStyle/>
          <a:p>
            <a:pPr algn="l">
              <a:lnSpc>
                <a:spcPct val="108000"/>
              </a:lnSpc>
              <a:spcBef>
                <a:spcPts val="0"/>
              </a:spcBef>
              <a:spcAft>
                <a:spcPts val="500"/>
              </a:spcAft>
            </a:pPr>
            <a:r>
              <a:rPr sz="1700" b="1">
                <a:solidFill>
                  <a:srgbClr val="172C43"/>
                </a:solidFill>
                <a:latin typeface="Arial"/>
                <a:hlinkClick r:id="rId3"/>
              </a:rPr>
              <a:t>[2] K3s — Lightweight Kubernetes</a:t>
            </a:r>
          </a:p>
        </p:txBody>
      </p:sp>
      <p:sp>
        <p:nvSpPr>
          <p:cNvPr id="11" name="TextBox 10"/>
          <p:cNvSpPr txBox="1"/>
          <p:nvPr/>
        </p:nvSpPr>
        <p:spPr>
          <a:xfrm>
            <a:off x="694944" y="3630168"/>
            <a:ext cx="5138928" cy="393192"/>
          </a:xfrm>
          <a:prstGeom prst="rect">
            <a:avLst/>
          </a:prstGeom>
          <a:noFill/>
        </p:spPr>
        <p:txBody>
          <a:bodyPr wrap="square" lIns="0" rIns="0" tIns="0" bIns="0" anchor="t">
            <a:spAutoFit/>
          </a:bodyPr>
          <a:lstStyle/>
          <a:p>
            <a:pPr algn="l">
              <a:lnSpc>
                <a:spcPct val="108000"/>
              </a:lnSpc>
              <a:spcBef>
                <a:spcPts val="0"/>
              </a:spcBef>
              <a:spcAft>
                <a:spcPts val="500"/>
              </a:spcAft>
            </a:pPr>
            <a:r>
              <a:rPr sz="1050" b="0">
                <a:solidFill>
                  <a:srgbClr val="2457D6"/>
                </a:solidFill>
                <a:latin typeface="Arial"/>
                <a:hlinkClick r:id="rId3"/>
              </a:rPr>
              <a:t>https://docs.k3s.io/</a:t>
            </a:r>
          </a:p>
        </p:txBody>
      </p:sp>
      <p:sp>
        <p:nvSpPr>
          <p:cNvPr id="12" name="TextBox 11"/>
          <p:cNvSpPr txBox="1"/>
          <p:nvPr/>
        </p:nvSpPr>
        <p:spPr>
          <a:xfrm>
            <a:off x="694944" y="4096512"/>
            <a:ext cx="5212080" cy="393192"/>
          </a:xfrm>
          <a:prstGeom prst="rect">
            <a:avLst/>
          </a:prstGeom>
          <a:noFill/>
        </p:spPr>
        <p:txBody>
          <a:bodyPr wrap="square" lIns="0" rIns="0" tIns="0" bIns="0" anchor="t">
            <a:spAutoFit/>
          </a:bodyPr>
          <a:lstStyle/>
          <a:p>
            <a:pPr algn="l">
              <a:lnSpc>
                <a:spcPct val="108000"/>
              </a:lnSpc>
              <a:spcBef>
                <a:spcPts val="0"/>
              </a:spcBef>
              <a:spcAft>
                <a:spcPts val="500"/>
              </a:spcAft>
            </a:pPr>
            <a:r>
              <a:rPr sz="1700" b="1">
                <a:solidFill>
                  <a:srgbClr val="172C43"/>
                </a:solidFill>
                <a:latin typeface="Arial"/>
                <a:hlinkClick r:id="rId4"/>
              </a:rPr>
              <a:t>[3] Coolify — What is Coolify?</a:t>
            </a:r>
          </a:p>
        </p:txBody>
      </p:sp>
      <p:sp>
        <p:nvSpPr>
          <p:cNvPr id="13" name="TextBox 12"/>
          <p:cNvSpPr txBox="1"/>
          <p:nvPr/>
        </p:nvSpPr>
        <p:spPr>
          <a:xfrm>
            <a:off x="694944" y="4489704"/>
            <a:ext cx="5138928" cy="393192"/>
          </a:xfrm>
          <a:prstGeom prst="rect">
            <a:avLst/>
          </a:prstGeom>
          <a:noFill/>
        </p:spPr>
        <p:txBody>
          <a:bodyPr wrap="square" lIns="0" rIns="0" tIns="0" bIns="0" anchor="t">
            <a:spAutoFit/>
          </a:bodyPr>
          <a:lstStyle/>
          <a:p>
            <a:pPr algn="l">
              <a:lnSpc>
                <a:spcPct val="108000"/>
              </a:lnSpc>
              <a:spcBef>
                <a:spcPts val="0"/>
              </a:spcBef>
              <a:spcAft>
                <a:spcPts val="500"/>
              </a:spcAft>
            </a:pPr>
            <a:r>
              <a:rPr sz="1050" b="0">
                <a:solidFill>
                  <a:srgbClr val="2457D6"/>
                </a:solidFill>
                <a:latin typeface="Arial"/>
                <a:hlinkClick r:id="rId4"/>
              </a:rPr>
              <a:t>https://coolify.io/docs/core/what-is-coolify</a:t>
            </a:r>
          </a:p>
        </p:txBody>
      </p:sp>
      <p:sp>
        <p:nvSpPr>
          <p:cNvPr id="14" name="TextBox 13"/>
          <p:cNvSpPr txBox="1"/>
          <p:nvPr/>
        </p:nvSpPr>
        <p:spPr>
          <a:xfrm>
            <a:off x="694944" y="4956048"/>
            <a:ext cx="5212080" cy="393192"/>
          </a:xfrm>
          <a:prstGeom prst="rect">
            <a:avLst/>
          </a:prstGeom>
          <a:noFill/>
        </p:spPr>
        <p:txBody>
          <a:bodyPr wrap="square" lIns="0" rIns="0" tIns="0" bIns="0" anchor="t">
            <a:spAutoFit/>
          </a:bodyPr>
          <a:lstStyle/>
          <a:p>
            <a:pPr algn="l">
              <a:lnSpc>
                <a:spcPct val="108000"/>
              </a:lnSpc>
              <a:spcBef>
                <a:spcPts val="0"/>
              </a:spcBef>
              <a:spcAft>
                <a:spcPts val="500"/>
              </a:spcAft>
            </a:pPr>
            <a:r>
              <a:rPr sz="1700" b="1">
                <a:solidFill>
                  <a:srgbClr val="172C43"/>
                </a:solidFill>
                <a:latin typeface="Arial"/>
                <a:hlinkClick r:id="rId5"/>
              </a:rPr>
              <a:t>[4] Portainer — Add a Kubernetes application</a:t>
            </a:r>
          </a:p>
        </p:txBody>
      </p:sp>
      <p:sp>
        <p:nvSpPr>
          <p:cNvPr id="15" name="TextBox 14"/>
          <p:cNvSpPr txBox="1"/>
          <p:nvPr/>
        </p:nvSpPr>
        <p:spPr>
          <a:xfrm>
            <a:off x="694944" y="5349240"/>
            <a:ext cx="5138928" cy="393192"/>
          </a:xfrm>
          <a:prstGeom prst="rect">
            <a:avLst/>
          </a:prstGeom>
          <a:noFill/>
        </p:spPr>
        <p:txBody>
          <a:bodyPr wrap="square" lIns="0" rIns="0" tIns="0" bIns="0" anchor="t">
            <a:spAutoFit/>
          </a:bodyPr>
          <a:lstStyle/>
          <a:p>
            <a:pPr algn="l">
              <a:lnSpc>
                <a:spcPct val="108000"/>
              </a:lnSpc>
              <a:spcBef>
                <a:spcPts val="0"/>
              </a:spcBef>
              <a:spcAft>
                <a:spcPts val="500"/>
              </a:spcAft>
            </a:pPr>
            <a:r>
              <a:rPr sz="1050" b="0">
                <a:solidFill>
                  <a:srgbClr val="2457D6"/>
                </a:solidFill>
                <a:latin typeface="Arial"/>
                <a:hlinkClick r:id="rId5"/>
              </a:rPr>
              <a:t>https://docs.portainer.io/user/kubernetes/applications/add</a:t>
            </a:r>
          </a:p>
        </p:txBody>
      </p:sp>
      <p:sp>
        <p:nvSpPr>
          <p:cNvPr id="16" name="TextBox 15"/>
          <p:cNvSpPr txBox="1"/>
          <p:nvPr/>
        </p:nvSpPr>
        <p:spPr>
          <a:xfrm>
            <a:off x="6291072" y="2377440"/>
            <a:ext cx="5212080" cy="393192"/>
          </a:xfrm>
          <a:prstGeom prst="rect">
            <a:avLst/>
          </a:prstGeom>
          <a:noFill/>
        </p:spPr>
        <p:txBody>
          <a:bodyPr wrap="square" lIns="0" rIns="0" tIns="0" bIns="0" anchor="t">
            <a:spAutoFit/>
          </a:bodyPr>
          <a:lstStyle/>
          <a:p>
            <a:pPr algn="l">
              <a:lnSpc>
                <a:spcPct val="108000"/>
              </a:lnSpc>
              <a:spcBef>
                <a:spcPts val="0"/>
              </a:spcBef>
              <a:spcAft>
                <a:spcPts val="500"/>
              </a:spcAft>
            </a:pPr>
            <a:r>
              <a:rPr sz="1700" b="1">
                <a:solidFill>
                  <a:srgbClr val="172C43"/>
                </a:solidFill>
                <a:latin typeface="Arial"/>
                <a:hlinkClick r:id="rId6"/>
              </a:rPr>
              <a:t>[5] Red Hat — OpenShift Container Platform</a:t>
            </a:r>
          </a:p>
        </p:txBody>
      </p:sp>
      <p:sp>
        <p:nvSpPr>
          <p:cNvPr id="17" name="TextBox 16"/>
          <p:cNvSpPr txBox="1"/>
          <p:nvPr/>
        </p:nvSpPr>
        <p:spPr>
          <a:xfrm>
            <a:off x="6291072" y="2770632"/>
            <a:ext cx="5138928" cy="393192"/>
          </a:xfrm>
          <a:prstGeom prst="rect">
            <a:avLst/>
          </a:prstGeom>
          <a:noFill/>
        </p:spPr>
        <p:txBody>
          <a:bodyPr wrap="square" lIns="0" rIns="0" tIns="0" bIns="0" anchor="t">
            <a:spAutoFit/>
          </a:bodyPr>
          <a:lstStyle/>
          <a:p>
            <a:pPr algn="l">
              <a:lnSpc>
                <a:spcPct val="108000"/>
              </a:lnSpc>
              <a:spcBef>
                <a:spcPts val="0"/>
              </a:spcBef>
              <a:spcAft>
                <a:spcPts val="500"/>
              </a:spcAft>
            </a:pPr>
            <a:r>
              <a:rPr sz="1050" b="0">
                <a:solidFill>
                  <a:srgbClr val="2457D6"/>
                </a:solidFill>
                <a:latin typeface="Arial"/>
                <a:hlinkClick r:id="rId6"/>
              </a:rPr>
              <a:t>https://www.redhat.com/en/technologies/cloud-computing/openshift/container-platform</a:t>
            </a:r>
          </a:p>
        </p:txBody>
      </p:sp>
      <p:sp>
        <p:nvSpPr>
          <p:cNvPr id="18" name="TextBox 17"/>
          <p:cNvSpPr txBox="1"/>
          <p:nvPr/>
        </p:nvSpPr>
        <p:spPr>
          <a:xfrm>
            <a:off x="6291072" y="3236976"/>
            <a:ext cx="5212080" cy="393192"/>
          </a:xfrm>
          <a:prstGeom prst="rect">
            <a:avLst/>
          </a:prstGeom>
          <a:noFill/>
        </p:spPr>
        <p:txBody>
          <a:bodyPr wrap="square" lIns="0" rIns="0" tIns="0" bIns="0" anchor="t">
            <a:spAutoFit/>
          </a:bodyPr>
          <a:lstStyle/>
          <a:p>
            <a:pPr algn="l">
              <a:lnSpc>
                <a:spcPct val="108000"/>
              </a:lnSpc>
              <a:spcBef>
                <a:spcPts val="0"/>
              </a:spcBef>
              <a:spcAft>
                <a:spcPts val="500"/>
              </a:spcAft>
            </a:pPr>
            <a:r>
              <a:rPr sz="1700" b="1">
                <a:solidFill>
                  <a:srgbClr val="172C43"/>
                </a:solidFill>
                <a:latin typeface="Arial"/>
                <a:hlinkClick r:id="rId7"/>
              </a:rPr>
              <a:t>[6] K3s — Installation requirements</a:t>
            </a:r>
          </a:p>
        </p:txBody>
      </p:sp>
      <p:sp>
        <p:nvSpPr>
          <p:cNvPr id="19" name="TextBox 18"/>
          <p:cNvSpPr txBox="1"/>
          <p:nvPr/>
        </p:nvSpPr>
        <p:spPr>
          <a:xfrm>
            <a:off x="6291072" y="3630168"/>
            <a:ext cx="5138928" cy="393192"/>
          </a:xfrm>
          <a:prstGeom prst="rect">
            <a:avLst/>
          </a:prstGeom>
          <a:noFill/>
        </p:spPr>
        <p:txBody>
          <a:bodyPr wrap="square" lIns="0" rIns="0" tIns="0" bIns="0" anchor="t">
            <a:spAutoFit/>
          </a:bodyPr>
          <a:lstStyle/>
          <a:p>
            <a:pPr algn="l">
              <a:lnSpc>
                <a:spcPct val="108000"/>
              </a:lnSpc>
              <a:spcBef>
                <a:spcPts val="0"/>
              </a:spcBef>
              <a:spcAft>
                <a:spcPts val="500"/>
              </a:spcAft>
            </a:pPr>
            <a:r>
              <a:rPr sz="1050" b="0">
                <a:solidFill>
                  <a:srgbClr val="2457D6"/>
                </a:solidFill>
                <a:latin typeface="Arial"/>
                <a:hlinkClick r:id="rId7"/>
              </a:rPr>
              <a:t>https://docs.k3s.io/installation/requirements</a:t>
            </a:r>
          </a:p>
        </p:txBody>
      </p:sp>
      <p:sp>
        <p:nvSpPr>
          <p:cNvPr id="20" name="TextBox 19"/>
          <p:cNvSpPr txBox="1"/>
          <p:nvPr/>
        </p:nvSpPr>
        <p:spPr>
          <a:xfrm>
            <a:off x="6291072" y="4096512"/>
            <a:ext cx="5212080" cy="393192"/>
          </a:xfrm>
          <a:prstGeom prst="rect">
            <a:avLst/>
          </a:prstGeom>
          <a:noFill/>
        </p:spPr>
        <p:txBody>
          <a:bodyPr wrap="square" lIns="0" rIns="0" tIns="0" bIns="0" anchor="t">
            <a:spAutoFit/>
          </a:bodyPr>
          <a:lstStyle/>
          <a:p>
            <a:pPr algn="l">
              <a:lnSpc>
                <a:spcPct val="108000"/>
              </a:lnSpc>
              <a:spcBef>
                <a:spcPts val="0"/>
              </a:spcBef>
              <a:spcAft>
                <a:spcPts val="500"/>
              </a:spcAft>
            </a:pPr>
            <a:r>
              <a:rPr sz="1700" b="1">
                <a:solidFill>
                  <a:srgbClr val="172C43"/>
                </a:solidFill>
                <a:latin typeface="Arial"/>
                <a:hlinkClick r:id="rId8"/>
              </a:rPr>
              <a:t>[7] Project — Design and verification evidence</a:t>
            </a:r>
          </a:p>
        </p:txBody>
      </p:sp>
      <p:sp>
        <p:nvSpPr>
          <p:cNvPr id="21" name="TextBox 20"/>
          <p:cNvSpPr txBox="1"/>
          <p:nvPr/>
        </p:nvSpPr>
        <p:spPr>
          <a:xfrm>
            <a:off x="6291072" y="4489704"/>
            <a:ext cx="5138928" cy="393192"/>
          </a:xfrm>
          <a:prstGeom prst="rect">
            <a:avLst/>
          </a:prstGeom>
          <a:noFill/>
        </p:spPr>
        <p:txBody>
          <a:bodyPr wrap="square" lIns="0" rIns="0" tIns="0" bIns="0" anchor="t">
            <a:spAutoFit/>
          </a:bodyPr>
          <a:lstStyle/>
          <a:p>
            <a:pPr algn="l">
              <a:lnSpc>
                <a:spcPct val="108000"/>
              </a:lnSpc>
              <a:spcBef>
                <a:spcPts val="0"/>
              </a:spcBef>
              <a:spcAft>
                <a:spcPts val="500"/>
              </a:spcAft>
            </a:pPr>
            <a:r>
              <a:rPr sz="1050" b="0">
                <a:solidFill>
                  <a:srgbClr val="2457D6"/>
                </a:solidFill>
                <a:latin typeface="Arial"/>
                <a:hlinkClick r:id="rId8"/>
              </a:rPr>
              <a:t>https://github.com/piotrek1459/k8s-internal-platform</a:t>
            </a:r>
          </a:p>
        </p:txBody>
      </p:sp>
      <p:sp>
        <p:nvSpPr>
          <p:cNvPr id="22" name="TextBox 21"/>
          <p:cNvSpPr txBox="1"/>
          <p:nvPr/>
        </p:nvSpPr>
        <p:spPr>
          <a:xfrm>
            <a:off x="731520" y="5980176"/>
            <a:ext cx="10789920" cy="228600"/>
          </a:xfrm>
          <a:prstGeom prst="rect">
            <a:avLst/>
          </a:prstGeom>
          <a:noFill/>
        </p:spPr>
        <p:txBody>
          <a:bodyPr wrap="square" lIns="0" rIns="0" tIns="0" bIns="0" anchor="t">
            <a:spAutoFit/>
          </a:bodyPr>
          <a:lstStyle/>
          <a:p>
            <a:pPr algn="l">
              <a:lnSpc>
                <a:spcPct val="108000"/>
              </a:lnSpc>
              <a:spcBef>
                <a:spcPts val="0"/>
              </a:spcBef>
              <a:spcAft>
                <a:spcPts val="500"/>
              </a:spcAft>
            </a:pPr>
            <a:r>
              <a:rPr sz="1200" b="0">
                <a:solidFill>
                  <a:srgbClr val="53677C"/>
                </a:solidFill>
                <a:latin typeface="Arial"/>
              </a:rPr>
              <a:t>Project documents: app-plan.md · architecture.md · milestones.md · local verification reports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Design and implementation of Kubernetes platform for containerized application deployment</dc:title>
  <dc:subject>State of the art, motivation, architecture and evaluation</dc:subject>
  <dc:creator>Piotr</dc:creator>
  <cp:keywords>Kubernetes, K3s, engineering thesis, self-hosted, application platform</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