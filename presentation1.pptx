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69" r:id="rId4"/>
    <p:sldId id="258" r:id="rId5"/>
    <p:sldId id="270" r:id="rId6"/>
    <p:sldId id="259" r:id="rId7"/>
    <p:sldId id="271" r:id="rId8"/>
    <p:sldId id="260" r:id="rId9"/>
    <p:sldId id="261" r:id="rId10"/>
    <p:sldId id="262" r:id="rId11"/>
    <p:sldId id="263" r:id="rId12"/>
    <p:sldId id="264" r:id="rId13"/>
    <p:sldId id="265" r:id="rId14"/>
    <p:sldId id="266" r:id="rId15"/>
    <p:sldId id="273" r:id="rId16"/>
    <p:sldId id="274" r:id="rId17"/>
    <p:sldId id="275" r:id="rId18"/>
    <p:sldId id="272" r:id="rId19"/>
    <p:sldId id="267" r:id="rId20"/>
    <p:sldId id="26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83"/>
    <p:restoredTop sz="94675"/>
  </p:normalViewPr>
  <p:slideViewPr>
    <p:cSldViewPr snapToGrid="0" snapToObjects="1">
      <p:cViewPr varScale="1">
        <p:scale>
          <a:sx n="119" d="100"/>
          <a:sy n="119" d="100"/>
        </p:scale>
        <p:origin x="92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5533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and central idea</a:t>
            </a:r>
          </a:p>
          <a:p>
            <a:r>
              <a:t>Target speaking time: 35 seconds.</a:t>
            </a:r>
          </a:p>
          <a:p>
            <a:endParaRPr/>
          </a:p>
          <a:p>
            <a:r>
              <a:t>This project concerns the design and implementation of a Kubernetes platform for containerized application deployment. Its central idea is to make applications easier to operate on infrastructure controlled by an administrator. That infrastructure could be a small Raspberry Pi, a rented Linux server, or an organisation's internal environment. The presentation explains the problem, compares existing approaches, and describes the proposed architecture and its evaluation.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and objective</a:t>
            </a:r>
          </a:p>
          <a:p>
            <a:r>
              <a:t>Target speaking time: 65 seconds.</a:t>
            </a:r>
          </a:p>
          <a:p>
            <a:endParaRPr/>
          </a:p>
          <a:p>
            <a:r>
              <a:t>A container image packages an application, but it does not complete its deployment. The operator still has to configure the listening port, supply variables and credentials, arrange network access, and decide how health will be checked. The work continues after the first successful start: an update can fail, storage can fill, and the previous application version may need to be restored. These tasks become repetitive when they are performed through individual commands and configuration files. The objective is therefore to provide a consistent workflow for routine application operations. Infrastructure control remains with the administrator, while the platform handles the supported deployment steps and presents the outcome in an understandable form.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rPr dirty="0"/>
              <a:t>This slide makes the problem concrete before proposing a solution. Deploying a container image on Kubernetes by hand is not one action; it is a repeated sequence: prepare supporting objects, author several manifests, apply them and then manually interpret rollout status, and on failure diagnose and roll back without any recorded history. The effort scales with every application and every update, and because it is manual it is neither reproducible nor auditable. The container ecosystem removed packaging friction but not this operational friction [3]. That gap — routine lifecycle work on infrastructure the operator controls — is what the platform targets.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cases and visibility</a:t>
            </a:r>
          </a:p>
          <a:p>
            <a:r>
              <a:t>Target speaking time: 70 seconds.</a:t>
            </a:r>
          </a:p>
          <a:p>
            <a:endParaRPr/>
          </a:p>
          <a:p>
            <a:r>
              <a:t>Three settings illustrate the intended use. The first is an institution that wants applications to run within infrastructure it controls. A bank's internal development or testing network is an example: an internal tool may have no reason to be publicly reachable. This is a potential pilot scenario, rather than a claim that the prototype is ready for production banking. The second setting is personal hardware. The reference device is a Raspberry Pi 5 with eight gigabytes of memory, thirty-two gigabytes of storage, and a sixty-four-bit operating system. It could host private home applications or an explicitly published service. The third setting is a Linux VPS. Renting the host does not require publishing every application. Hosting location and network visibility are separate decisions, and management access should remain restricted in each case.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A natural question for any self-hosting project is why not use a public cloud. The honest answer is that managed cloud is excellent for many workloads; this project targets a different operating point, on four axes. First, economics: managed Kubernetes carries recurring per-cluster control-plane fees, egress charges and per-service minimums, whereas a single small always-on application runs on fixed low-cost hardware. Second, data sovereignty: keeping applications and data on controlled infrastructure is the enabling condition for the institutional internal-network case. Third, portability: one application model spans a Pi, a VPS and institutional hardware without re-architecting around a provider [5, 11]. Fourth, transparency: a fully visible stack is what makes reproducible measurement possible [4, 9]. The closing line is deliberate — cloud is the right tool at larger scale; this work studies the small, operator-controlled case.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of the art</a:t>
            </a:r>
          </a:p>
          <a:p>
            <a:r>
              <a:t>Target speaking time: 85 seconds.</a:t>
            </a:r>
          </a:p>
          <a:p>
            <a:endParaRPr/>
          </a:p>
          <a:p>
            <a:r>
              <a:t>The existing landscape already contains strong solutions. Kubernetes supplies the orchestration mechanisms: desired state, workload scheduling, service discovery, scaling, and recovery. K3s packages Kubernetes and supporting components for smaller installations. Coolify focuses on delivering applications to servers controlled by the operator, including deployments from prebuilt images. Portainer provides visual management of container environments and already supports form-based Kubernetes application deployment. OpenShift provides a broader enterprise application platform built around Kubernetes. These products overlap with the proposed project's features, so self-hosting or a graphical deployment form cannot be presented as a new invention. The relevant question is how much of the operating environment is exposed to the administrator and which workflow the platform deliberately supports. This thesis selects a narrower scope: a small installation, one administrator, and a controlled application lifecycle that can be implemented and evaluated in detail.</a:t>
            </a:r>
          </a:p>
          <a:p>
            <a:endParaRPr/>
          </a:p>
          <a:p>
            <a:r>
              <a:t>Sources:</a:t>
            </a:r>
          </a:p>
          <a:p>
            <a:r>
              <a:t>https://kubernetes.io/docs/concepts/overview/</a:t>
            </a:r>
          </a:p>
          <a:p>
            <a:r>
              <a:t>https://docs.k3s.io/</a:t>
            </a:r>
          </a:p>
          <a:p>
            <a:r>
              <a:t>https://coolify.io/docs/core/what-is-coolify</a:t>
            </a:r>
          </a:p>
          <a:p>
            <a:r>
              <a:t>https://docs.portainer.io/user/kubernetes/applications/add</a:t>
            </a:r>
          </a:p>
          <a:p>
            <a:r>
              <a:t>https://www.redhat.com/en/technologies/cloud-computing/openshift/container-platform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This matrix positions the project against established tools. Kubernetes and K3s provide the orchestration primitives [1, 2]; Coolify delivers applications to operator-controlled hosts [3]; Portainer offers visual container and Kubernetes management [4]; OpenShift is a broad enterprise platform [5]. Every one supports self-hosting, and several offer a deployment UI, so neither is a novel claim. The distinguishing combination, shown in the highlighted row, is the deliberately narrow single-administrator scope, an explicit modest-hardware target, and — crucially for a thesis — a measured comparison against the manual baseline, which none of the others set out to provide. Overlap is expected; the contribution is the specific combination and its evaluation.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is different</a:t>
            </a:r>
          </a:p>
          <a:p>
            <a:r>
              <a:t>Target speaking time: 75 seconds.</a:t>
            </a:r>
          </a:p>
          <a:p>
            <a:endParaRPr/>
          </a:p>
          <a:p>
            <a:r>
              <a:t>The differentiation is the combination of a deliberately limited scope and a measurable implementation. The initial product serves one administrator operating one cluster. Applications begin as existing container images, which avoids adding a source-code build service to the first version. Routine actions are expressed as application operations rather than requiring the administrator to edit Kubernetes resources. Each operation is intended to retain its inputs, status, and resulting revision, so recovery can be verified rather than inferred from a successful command. The Raspberry Pi provides a concrete constraint for evaluating memory, storage, and deployment behaviour. Existing platforms offer overlapping capabilities; the thesis contribution is to implement this particular design, explain its trade-offs, and measure whether it improves the selected workflow compared with the same deployment performed manually.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user experience</a:t>
            </a:r>
          </a:p>
          <a:p>
            <a:r>
              <a:t>Target speaking time: 65 seconds.</a:t>
            </a:r>
          </a:p>
          <a:p>
            <a:endParaRPr/>
          </a:p>
          <a:p>
            <a:r>
              <a:t>The intended experience begins with installation on a supported Linux host. After administrator setup, the main input is a container image reference together with the application's port, health endpoint, and required configuration. The platform validates that request, applies the supported application chart, and observes whether the workload becomes ready. The result is an application address and an understandable status, with logs and deployment history available for investigation. The same interface then supports updates, manual replica changes for compatible applications, and recovery. This workflow is planned product behaviour. It does not remove application-specific responsibilities such as choosing suitable images, managing database migrations, or providing sufficient hardware. It reduces repeated infrastructure work within the explicitly supported application contract.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Single-cluster architecture</a:t>
            </a:r>
          </a:p>
          <a:p>
            <a:r>
              <a:t>Target speaking time: 80 seconds.</a:t>
            </a:r>
          </a:p>
          <a:p>
            <a:endParaRPr/>
          </a:p>
          <a:p>
            <a:r>
              <a:t>Both the platform and the deployed applications run in the same K3s cluster. The reference topology contains one Linux host, so that machine runs the control plane as well as the workloads. The platform resides in its own namespace. Its Go process serves the user interface and API, executes deployment operations through the Helm library, and stores metadata in SQLite on persistent storage. Managed applications occupy another namespace, with a separate set of resources for each release. The blue path represents management: the broker asks the Kubernetes API to create or change workloads and observes their state. The green path represents application traffic: users reach a permitted ingress route, then the application Service and Pods. The broker is not in this traffic path. Existing applications should continue during broker unavailability if their dependencies remain healthy. However, namespaces do not provide physical isolation, and a failure of the single host affects the shared installation.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Deployment and recovery workflow</a:t>
            </a:r>
          </a:p>
          <a:p>
            <a:r>
              <a:t>Target speaking time: 70 seconds.</a:t>
            </a:r>
          </a:p>
          <a:p>
            <a:endParaRPr/>
          </a:p>
          <a:p>
            <a:r>
              <a:t>A deployment is modelled as an operation with a recorded outcome. The administrator submits an image and configuration. Validation checks whether the request is supported, and the operation is persisted before execution begins. The worker applies the desired resources and observes the resulting workload rather than treating request acceptance as completion. The version sequence illustrates why this matters. Version one is deployed, version two is a healthy update, and version three deliberately fails readiness. Healthy version-two Pods can continue serving while that update fails. Recovery must therefore verify more than an HTTP response containing version two. It must also confirm the restored desired state, the release outcome, and removal of the failed Pods. That distinction is already reflected in the local baseline tests; automating the complete workflow through the broker remains the next implementation stage.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Network exposure and responsibilities</a:t>
            </a:r>
          </a:p>
          <a:p>
            <a:r>
              <a:t>Target speaking time: 60 seconds.</a:t>
            </a:r>
          </a:p>
          <a:p>
            <a:endParaRPr/>
          </a:p>
          <a:p>
            <a:r>
              <a:t>The operating model begins with private access. Administrators connect through a restricted network path, such as a LAN or VPN, and internal applications can remain private. Public access is an additional choice for a selected application, with an explicit hostname and HTTPS configuration. The management interface should remain outside that public routing path. This separation matters on a home network and on a VPS with a public address. It requires actual network restrictions, not merely a private-looking hostname. The planned controls also include scoped permissions, protected credentials, and backup and recovery procedures. An institution would have further requirements, including identity integration, availability objectives, and its own security approval. The project can demonstrate the design principles, while production institutional adoption requires additional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Current implementation and next stages</a:t>
            </a:r>
          </a:p>
          <a:p>
            <a:r>
              <a:t>Target speaking time: 65 seconds.</a:t>
            </a:r>
          </a:p>
          <a:p>
            <a:endParaRPr/>
          </a:p>
          <a:p>
            <a:r>
              <a:t>The project already has a verified local foundation. A small Go application provides healthy versions and a deliberately unhealthy update. A reusable Helm chart deploys the application, and the test workflow exercises installation, a healthy update, a failed rollout, explicit rollback, and route isolation. The most recent run also verified deployment on a non-default application port and strengthened the recovery assertions. This evidence comes from a local Docker-based K3s cluster. It does not establish Raspberry Pi performance or completion of the full platform. The next stages are the Go API, durable deployment operations, administrator authentication, and the web interface. Application persistence, public HTTPS, installation releases, and validation on the target hardware follow the planned sequence.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Evaluation method</a:t>
            </a:r>
          </a:p>
          <a:p>
            <a:r>
              <a:t>Target speaking time: 70 seconds.</a:t>
            </a:r>
          </a:p>
          <a:p>
            <a:endParaRPr/>
          </a:p>
          <a:p>
            <a:r>
              <a:t>Evaluation should establish whether the platform improves the selected workflow, rather than relying on the existence of a user interface. The comparison baseline is the same application deployed manually with Helm on the same hardware. Operator effort is measured using a defined step count and active operator time. Deployment measurements record the time to readiness, separating cached images from downloads. Failure experiments measure detection and recovery, including whether the desired version and healthy workload state are actually restored. CPU, memory, and disk use indicate the cost of running the platform alongside applications. Runs should be repeated, with component versions, configuration, hardware, and cache conditions recorded. Numerical acceptance targets will be established before the relevant evaluation runs. Existing single-run local results provide functional evidence, while the Raspberry Pi measurements are still to be collected.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rPr dirty="0"/>
              <a:t>To make the value concrete, here is what an administrator would actually put on the platform. The only requirement is a long-running HTTP service shipped as a container image, so the range is wide: a self-hosted AI agent or LLM-tooling service kept on controlled infrastructure so prompts and data stay in-house; an internal web tool such as a dashboard or wiki, private on the LAN; an automation or webhook endpoint reacting to Git, CI or chat events; a monitoring or status page; a stateless API backend; or a deliberately published personal site. The common thread is an operator who wants the service on infrastructure they control, with a managed lifecycle instead of hand-written manifests. The next slide walks through one of these end to end.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Here is one example end to end: deploying a self-hosted AI agent service. Step one, describe it — paste the agent's container image, confirm the listening port and the health endpoint. Step two, configure — set non-sensitive environment values, and add the model or provider API key as a versioned secret, which the platform stores write-only so it never appears in history, logs or responses. Step three, deploy — the platform freezes the image digest, applies the chart and watches readiness, accepting the request first and verifying the workload afterwards. Step four, operate — you get a private LAN URL, live logs and status, and a tracked update to a new agent version with recorded history and recovery. The result is a controlled agent service with a managed lifecycle, and the data stays on the operator's own cluster.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Agent workloads are worth calling out because they sharpen the very reasons behind this project. First, data stays in-house: prompts, documents and tool inputs are often sensitive or regulated, and self-hosting the agent avoids sending them to an external platform — the same data-sovereignty argument from earlier. Second, predictable cost: an always-on automation agent is a steady small workload that suits fixed-cost hardware better than per-request cloud pricing. Third, portability and composition: an agent, a vector store and a small web UI can run as separate connected applications in one cluster, movable between a Pi, a VPS and institutional hardware. Fourth, an honest boundary — local GPU model serving needs more capable hardware than the reference Pi, so the platform targets agent and tooling services that run as ordinary HTTP containers, not heavy model hosting. This ties the concrete examples back to the thesis: a managed lifecycle for controlled, measurable self-hosting.</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A credible thesis states its limits. The prototype is explicitly not highly available: one host runs both the control plane and the workloads, so host or storage failure affects everything, and replicas on a single node are not fault tolerance. It is not multi-tenant — it assumes one trusted administrator and is not a security boundary against hostile tenants. It is not a build service: applications begin from existing images. And it is not a managed cloud: there is no autoscaling or distributed storage, and OS and K3s maintenance stay with the administrator. These are not oversights; they match the target users and keep the design implementable and measurable within the scope of the work.</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message</a:t>
            </a:r>
          </a:p>
          <a:p>
            <a:r>
              <a:t>Target speaking time: 40 seconds.</a:t>
            </a:r>
          </a:p>
          <a:p>
            <a:endParaRPr/>
          </a:p>
          <a:p>
            <a:r>
              <a:t>The goal is a practical application platform that makes supported deployment tasks easier while keeping infrastructure decisions with the administrator. It should support both private applications and deliberately published services, across small personal hardware and suitable Linux servers. Its value will be assessed through an implemented workflow and reproducible measurements. The immediate next step is to automate the verified lifecycle through the Go broker and administrator interface, then evaluate the complete experience on the reference hardware.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appendix</a:t>
            </a:r>
          </a:p>
          <a:p>
            <a:r>
              <a:t>Target speaking time: 0 seconds.</a:t>
            </a:r>
          </a:p>
          <a:p>
            <a:endParaRPr/>
          </a:p>
          <a:p>
            <a:r>
              <a:t>Reference slide for questions and source checking; no additional speaking time is allocated.</a:t>
            </a:r>
          </a:p>
          <a:p>
            <a:endParaRPr/>
          </a:p>
          <a:p>
            <a:r>
              <a:t>Sources:</a:t>
            </a:r>
          </a:p>
          <a:p>
            <a:r>
              <a:t>https://kubernetes.io/docs/concepts/overview/</a:t>
            </a:r>
          </a:p>
          <a:p>
            <a:r>
              <a:t>https://docs.k3s.io/</a:t>
            </a:r>
          </a:p>
          <a:p>
            <a:r>
              <a:t>https://coolify.io/docs/core/what-is-coolify</a:t>
            </a:r>
          </a:p>
          <a:p>
            <a:r>
              <a:t>https://docs.portainer.io/user/kubernetes/applications/add</a:t>
            </a:r>
          </a:p>
          <a:p>
            <a:r>
              <a:t>https://www.redhat.com/en/technologies/cloud-computing/openshift/container-platform</a:t>
            </a:r>
          </a:p>
          <a:p>
            <a:r>
              <a:t>https://docs.k3s.io/installation/requirements</a:t>
            </a:r>
          </a:p>
          <a:p>
            <a:r>
              <a:t>https://github.com/piotrek1459/k8s-internal-platform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hyperlink" Target="https://docs.k3s.io/installation/requirements" TargetMode="External"/><Relationship Id="rId3" Type="http://schemas.openxmlformats.org/officeDocument/2006/relationships/hyperlink" Target="https://kubernetes.io/docs/concepts/overview/" TargetMode="External"/><Relationship Id="rId7" Type="http://schemas.openxmlformats.org/officeDocument/2006/relationships/hyperlink" Target="https://www.redhat.com/en/technologies/cloud-computing/openshift/container-platform"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hyperlink" Target="https://docs.portainer.io/user/kubernetes/applications/add" TargetMode="External"/><Relationship Id="rId5" Type="http://schemas.openxmlformats.org/officeDocument/2006/relationships/hyperlink" Target="https://coolify.io/docs/core/what-is-coolify" TargetMode="External"/><Relationship Id="rId4" Type="http://schemas.openxmlformats.org/officeDocument/2006/relationships/hyperlink" Target="https://docs.k3s.io/" TargetMode="External"/><Relationship Id="rId9" Type="http://schemas.openxmlformats.org/officeDocument/2006/relationships/hyperlink" Target="https://github.com/piotrek1459/k8s-internal-platfor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8"/>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67D4D1"/>
                </a:solidFill>
                <a:latin typeface="Arial"/>
              </a:rPr>
              <a:t>ENGINEERING THESIS · PROJECT OVERVIEW</a:t>
            </a:r>
          </a:p>
        </p:txBody>
      </p:sp>
      <p:sp>
        <p:nvSpPr>
          <p:cNvPr id="3" name="Rectangle 2"/>
          <p:cNvSpPr/>
          <p:nvPr/>
        </p:nvSpPr>
        <p:spPr>
          <a:xfrm>
            <a:off x="576072" y="6446520"/>
            <a:ext cx="11018520" cy="10972"/>
          </a:xfrm>
          <a:prstGeom prst="rect">
            <a:avLst/>
          </a:prstGeom>
          <a:solidFill>
            <a:srgbClr val="3A4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B9C9D9"/>
                </a:solidFill>
                <a:latin typeface="Arial"/>
              </a:rPr>
              <a:t>SELF-HOSTED KUBERNETES APPLICATION PLATFORM</a:t>
            </a:r>
          </a:p>
        </p:txBody>
      </p:sp>
      <p:sp>
        <p:nvSpPr>
          <p:cNvPr id="5" name="TextBox 4"/>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FFFFFF"/>
                </a:solidFill>
                <a:latin typeface="Arial"/>
              </a:rPr>
              <a:t>01</a:t>
            </a:r>
          </a:p>
        </p:txBody>
      </p:sp>
      <p:sp>
        <p:nvSpPr>
          <p:cNvPr id="6" name="TextBox 5"/>
          <p:cNvSpPr txBox="1"/>
          <p:nvPr/>
        </p:nvSpPr>
        <p:spPr>
          <a:xfrm>
            <a:off x="621792" y="1143000"/>
            <a:ext cx="10789920" cy="2423160"/>
          </a:xfrm>
          <a:prstGeom prst="rect">
            <a:avLst/>
          </a:prstGeom>
          <a:noFill/>
        </p:spPr>
        <p:txBody>
          <a:bodyPr wrap="square" lIns="0" tIns="0" rIns="0" bIns="0" anchor="t">
            <a:spAutoFit/>
          </a:bodyPr>
          <a:lstStyle/>
          <a:p>
            <a:pPr algn="l">
              <a:lnSpc>
                <a:spcPct val="108000"/>
              </a:lnSpc>
              <a:spcBef>
                <a:spcPts val="0"/>
              </a:spcBef>
              <a:spcAft>
                <a:spcPts val="500"/>
              </a:spcAft>
            </a:pPr>
            <a:r>
              <a:rPr sz="3800" b="1">
                <a:solidFill>
                  <a:srgbClr val="FFFFFF"/>
                </a:solidFill>
                <a:latin typeface="Arial"/>
              </a:rPr>
              <a:t>Design and implementation of</a:t>
            </a:r>
          </a:p>
          <a:p>
            <a:pPr algn="l">
              <a:lnSpc>
                <a:spcPct val="108000"/>
              </a:lnSpc>
              <a:spcBef>
                <a:spcPts val="0"/>
              </a:spcBef>
              <a:spcAft>
                <a:spcPts val="500"/>
              </a:spcAft>
            </a:pPr>
            <a:r>
              <a:rPr sz="3800" b="1">
                <a:solidFill>
                  <a:srgbClr val="FFFFFF"/>
                </a:solidFill>
                <a:latin typeface="Arial"/>
              </a:rPr>
              <a:t>Kubernetes platform for</a:t>
            </a:r>
          </a:p>
          <a:p>
            <a:pPr algn="l">
              <a:lnSpc>
                <a:spcPct val="108000"/>
              </a:lnSpc>
              <a:spcBef>
                <a:spcPts val="0"/>
              </a:spcBef>
              <a:spcAft>
                <a:spcPts val="500"/>
              </a:spcAft>
            </a:pPr>
            <a:r>
              <a:rPr sz="3800" b="1">
                <a:solidFill>
                  <a:srgbClr val="FFFFFF"/>
                </a:solidFill>
                <a:latin typeface="Arial"/>
              </a:rPr>
              <a:t>containerized application deployment</a:t>
            </a:r>
          </a:p>
        </p:txBody>
      </p:sp>
      <p:sp>
        <p:nvSpPr>
          <p:cNvPr id="7" name="TextBox 6"/>
          <p:cNvSpPr txBox="1"/>
          <p:nvPr/>
        </p:nvSpPr>
        <p:spPr>
          <a:xfrm>
            <a:off x="640080" y="3858768"/>
            <a:ext cx="9784080" cy="960120"/>
          </a:xfrm>
          <a:prstGeom prst="rect">
            <a:avLst/>
          </a:prstGeom>
          <a:noFill/>
        </p:spPr>
        <p:txBody>
          <a:bodyPr wrap="square" lIns="0" tIns="0" rIns="0" bIns="0" anchor="t">
            <a:spAutoFit/>
          </a:bodyPr>
          <a:lstStyle/>
          <a:p>
            <a:pPr algn="l">
              <a:lnSpc>
                <a:spcPct val="108000"/>
              </a:lnSpc>
              <a:spcBef>
                <a:spcPts val="0"/>
              </a:spcBef>
              <a:spcAft>
                <a:spcPts val="500"/>
              </a:spcAft>
            </a:pPr>
            <a:r>
              <a:rPr sz="2500" b="0">
                <a:solidFill>
                  <a:srgbClr val="B9C9D9"/>
                </a:solidFill>
                <a:latin typeface="Arial"/>
              </a:rPr>
              <a:t>A simpler application lifecycle on infrastructure</a:t>
            </a:r>
          </a:p>
          <a:p>
            <a:pPr algn="l">
              <a:lnSpc>
                <a:spcPct val="108000"/>
              </a:lnSpc>
              <a:spcBef>
                <a:spcPts val="0"/>
              </a:spcBef>
              <a:spcAft>
                <a:spcPts val="500"/>
              </a:spcAft>
            </a:pPr>
            <a:r>
              <a:rPr sz="2500" b="0">
                <a:solidFill>
                  <a:srgbClr val="B9C9D9"/>
                </a:solidFill>
                <a:latin typeface="Arial"/>
              </a:rPr>
              <a:t>controlled by its administrator.</a:t>
            </a:r>
          </a:p>
        </p:txBody>
      </p:sp>
      <p:sp>
        <p:nvSpPr>
          <p:cNvPr id="8" name="Rounded Rectangle 7"/>
          <p:cNvSpPr/>
          <p:nvPr/>
        </p:nvSpPr>
        <p:spPr>
          <a:xfrm>
            <a:off x="640080" y="5504688"/>
            <a:ext cx="2304288" cy="292608"/>
          </a:xfrm>
          <a:prstGeom prst="roundRect">
            <a:avLst>
              <a:gd name="adj" fmla="val 12000"/>
            </a:avLst>
          </a:prstGeom>
          <a:solidFill>
            <a:srgbClr val="274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19" y="5554979"/>
            <a:ext cx="2121408"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C5F5EE"/>
                </a:solidFill>
                <a:latin typeface="Arial"/>
              </a:rPr>
              <a:t>PRIVATE INFRASTRUCTURE</a:t>
            </a:r>
          </a:p>
        </p:txBody>
      </p:sp>
      <p:sp>
        <p:nvSpPr>
          <p:cNvPr id="10" name="Rounded Rectangle 9"/>
          <p:cNvSpPr/>
          <p:nvPr/>
        </p:nvSpPr>
        <p:spPr>
          <a:xfrm>
            <a:off x="3145536" y="5504688"/>
            <a:ext cx="1600200" cy="292608"/>
          </a:xfrm>
          <a:prstGeom prst="roundRect">
            <a:avLst>
              <a:gd name="adj" fmla="val 12000"/>
            </a:avLst>
          </a:prstGeom>
          <a:solidFill>
            <a:srgbClr val="274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36976" y="5554979"/>
            <a:ext cx="14173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C5F5EE"/>
                </a:solidFill>
                <a:latin typeface="Arial"/>
              </a:rPr>
              <a:t>RASPBERRY PI</a:t>
            </a:r>
          </a:p>
        </p:txBody>
      </p:sp>
      <p:sp>
        <p:nvSpPr>
          <p:cNvPr id="12" name="Rounded Rectangle 11"/>
          <p:cNvSpPr/>
          <p:nvPr/>
        </p:nvSpPr>
        <p:spPr>
          <a:xfrm>
            <a:off x="4946904" y="5504688"/>
            <a:ext cx="1417320" cy="292608"/>
          </a:xfrm>
          <a:prstGeom prst="roundRect">
            <a:avLst>
              <a:gd name="adj" fmla="val 12000"/>
            </a:avLst>
          </a:prstGeom>
          <a:solidFill>
            <a:srgbClr val="274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38344" y="5554979"/>
            <a:ext cx="123444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C5F5EE"/>
                </a:solidFill>
                <a:latin typeface="Arial"/>
              </a:rPr>
              <a:t>LINUX VPS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MOTIVATION</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172C43"/>
                </a:solidFill>
                <a:latin typeface="Arial"/>
              </a:rPr>
              <a:t>A container image is only the starting point</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lnSpc>
                <a:spcPct val="108000"/>
              </a:lnSpc>
              <a:spcBef>
                <a:spcPts val="0"/>
              </a:spcBef>
              <a:spcAft>
                <a:spcPts val="500"/>
              </a:spcAft>
            </a:pPr>
            <a:r>
              <a:rPr sz="1600" b="0">
                <a:solidFill>
                  <a:srgbClr val="53677C"/>
                </a:solidFill>
                <a:latin typeface="Arial"/>
              </a:rPr>
              <a:t>Application delivery also requires configuration, routing, health checks and recovery.</a:t>
            </a:r>
          </a:p>
        </p:txBody>
      </p:sp>
      <p:sp>
        <p:nvSpPr>
          <p:cNvPr id="5" name="Rectangle 4"/>
          <p:cNvSpPr/>
          <p:nvPr/>
        </p:nvSpPr>
        <p:spPr>
          <a:xfrm>
            <a:off x="576072" y="6446520"/>
            <a:ext cx="11018520" cy="10972"/>
          </a:xfrm>
          <a:prstGeom prst="rect">
            <a:avLst/>
          </a:prstGeom>
          <a:solidFill>
            <a:srgbClr val="D6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53677C"/>
                </a:solidFill>
                <a:latin typeface="Arial"/>
              </a:rPr>
              <a:t>02</a:t>
            </a:r>
          </a:p>
        </p:txBody>
      </p:sp>
      <p:sp>
        <p:nvSpPr>
          <p:cNvPr id="8" name="Rounded Rectangle 7"/>
          <p:cNvSpPr/>
          <p:nvPr/>
        </p:nvSpPr>
        <p:spPr>
          <a:xfrm>
            <a:off x="594360" y="2468880"/>
            <a:ext cx="2615184" cy="24414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468880"/>
            <a:ext cx="50292" cy="24414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651760"/>
            <a:ext cx="2194560" cy="256032"/>
          </a:xfrm>
          <a:prstGeom prst="rect">
            <a:avLst/>
          </a:prstGeom>
          <a:noFill/>
        </p:spPr>
        <p:txBody>
          <a:bodyPr wrap="square" lIns="0" tIns="0" rIns="0" bIns="0" anchor="t">
            <a:spAutoFit/>
          </a:bodyPr>
          <a:lstStyle/>
          <a:p>
            <a:pPr algn="l">
              <a:lnSpc>
                <a:spcPct val="108000"/>
              </a:lnSpc>
              <a:spcBef>
                <a:spcPts val="0"/>
              </a:spcBef>
              <a:spcAft>
                <a:spcPts val="500"/>
              </a:spcAft>
            </a:pPr>
            <a:r>
              <a:rPr sz="1100" b="1">
                <a:solidFill>
                  <a:srgbClr val="087F8C"/>
                </a:solidFill>
                <a:latin typeface="Arial"/>
              </a:rPr>
              <a:t>01</a:t>
            </a:r>
          </a:p>
        </p:txBody>
      </p:sp>
      <p:sp>
        <p:nvSpPr>
          <p:cNvPr id="11" name="TextBox 10"/>
          <p:cNvSpPr txBox="1"/>
          <p:nvPr/>
        </p:nvSpPr>
        <p:spPr>
          <a:xfrm>
            <a:off x="804672" y="3081528"/>
            <a:ext cx="2194560" cy="73152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172C43"/>
                </a:solidFill>
                <a:latin typeface="Arial"/>
              </a:rPr>
              <a:t>Configure</a:t>
            </a:r>
          </a:p>
        </p:txBody>
      </p:sp>
      <p:sp>
        <p:nvSpPr>
          <p:cNvPr id="12" name="TextBox 11"/>
          <p:cNvSpPr txBox="1"/>
          <p:nvPr/>
        </p:nvSpPr>
        <p:spPr>
          <a:xfrm>
            <a:off x="804672" y="3977639"/>
            <a:ext cx="2194560" cy="777239"/>
          </a:xfrm>
          <a:prstGeom prst="rect">
            <a:avLst/>
          </a:prstGeom>
          <a:noFill/>
        </p:spPr>
        <p:txBody>
          <a:bodyPr wrap="square" lIns="0" tIns="0" rIns="0" bIns="0" anchor="t">
            <a:spAutoFit/>
          </a:bodyPr>
          <a:lstStyle/>
          <a:p>
            <a:pPr algn="l">
              <a:lnSpc>
                <a:spcPct val="108000"/>
              </a:lnSpc>
              <a:spcBef>
                <a:spcPts val="0"/>
              </a:spcBef>
              <a:spcAft>
                <a:spcPts val="500"/>
              </a:spcAft>
            </a:pPr>
            <a:r>
              <a:rPr sz="1800" b="0">
                <a:solidFill>
                  <a:srgbClr val="53677C"/>
                </a:solidFill>
                <a:latin typeface="Arial"/>
              </a:rPr>
              <a:t>Ports, variables</a:t>
            </a:r>
          </a:p>
          <a:p>
            <a:pPr algn="l">
              <a:lnSpc>
                <a:spcPct val="108000"/>
              </a:lnSpc>
              <a:spcBef>
                <a:spcPts val="0"/>
              </a:spcBef>
              <a:spcAft>
                <a:spcPts val="500"/>
              </a:spcAft>
            </a:pPr>
            <a:r>
              <a:rPr sz="1800" b="0">
                <a:solidFill>
                  <a:srgbClr val="53677C"/>
                </a:solidFill>
                <a:latin typeface="Arial"/>
              </a:rPr>
              <a:t>and credentials</a:t>
            </a:r>
          </a:p>
        </p:txBody>
      </p:sp>
      <p:sp>
        <p:nvSpPr>
          <p:cNvPr id="13" name="Rounded Rectangle 12"/>
          <p:cNvSpPr/>
          <p:nvPr/>
        </p:nvSpPr>
        <p:spPr>
          <a:xfrm>
            <a:off x="3392424" y="2468880"/>
            <a:ext cx="2615184" cy="24414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92424" y="2468880"/>
            <a:ext cx="50292" cy="24414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02736" y="2651760"/>
            <a:ext cx="2194560" cy="256032"/>
          </a:xfrm>
          <a:prstGeom prst="rect">
            <a:avLst/>
          </a:prstGeom>
          <a:noFill/>
        </p:spPr>
        <p:txBody>
          <a:bodyPr wrap="square" lIns="0" tIns="0" rIns="0" bIns="0" anchor="t">
            <a:spAutoFit/>
          </a:bodyPr>
          <a:lstStyle/>
          <a:p>
            <a:pPr algn="l">
              <a:lnSpc>
                <a:spcPct val="108000"/>
              </a:lnSpc>
              <a:spcBef>
                <a:spcPts val="0"/>
              </a:spcBef>
              <a:spcAft>
                <a:spcPts val="500"/>
              </a:spcAft>
            </a:pPr>
            <a:r>
              <a:rPr sz="1100" b="1">
                <a:solidFill>
                  <a:srgbClr val="087F8C"/>
                </a:solidFill>
                <a:latin typeface="Arial"/>
              </a:rPr>
              <a:t>02</a:t>
            </a:r>
          </a:p>
        </p:txBody>
      </p:sp>
      <p:sp>
        <p:nvSpPr>
          <p:cNvPr id="16" name="TextBox 15"/>
          <p:cNvSpPr txBox="1"/>
          <p:nvPr/>
        </p:nvSpPr>
        <p:spPr>
          <a:xfrm>
            <a:off x="3602736" y="3081528"/>
            <a:ext cx="2194560" cy="73152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172C43"/>
                </a:solidFill>
                <a:latin typeface="Arial"/>
              </a:rPr>
              <a:t>Expose</a:t>
            </a:r>
          </a:p>
        </p:txBody>
      </p:sp>
      <p:sp>
        <p:nvSpPr>
          <p:cNvPr id="17" name="TextBox 16"/>
          <p:cNvSpPr txBox="1"/>
          <p:nvPr/>
        </p:nvSpPr>
        <p:spPr>
          <a:xfrm>
            <a:off x="3602736" y="3977639"/>
            <a:ext cx="2194560" cy="777239"/>
          </a:xfrm>
          <a:prstGeom prst="rect">
            <a:avLst/>
          </a:prstGeom>
          <a:noFill/>
        </p:spPr>
        <p:txBody>
          <a:bodyPr wrap="square" lIns="0" tIns="0" rIns="0" bIns="0" anchor="t">
            <a:spAutoFit/>
          </a:bodyPr>
          <a:lstStyle/>
          <a:p>
            <a:pPr algn="l">
              <a:lnSpc>
                <a:spcPct val="108000"/>
              </a:lnSpc>
              <a:spcBef>
                <a:spcPts val="0"/>
              </a:spcBef>
              <a:spcAft>
                <a:spcPts val="500"/>
              </a:spcAft>
            </a:pPr>
            <a:r>
              <a:rPr sz="1800" b="0">
                <a:solidFill>
                  <a:srgbClr val="53677C"/>
                </a:solidFill>
                <a:latin typeface="Arial"/>
              </a:rPr>
              <a:t>Private routes</a:t>
            </a:r>
          </a:p>
          <a:p>
            <a:pPr algn="l">
              <a:lnSpc>
                <a:spcPct val="108000"/>
              </a:lnSpc>
              <a:spcBef>
                <a:spcPts val="0"/>
              </a:spcBef>
              <a:spcAft>
                <a:spcPts val="500"/>
              </a:spcAft>
            </a:pPr>
            <a:r>
              <a:rPr sz="1800" b="0">
                <a:solidFill>
                  <a:srgbClr val="53677C"/>
                </a:solidFill>
                <a:latin typeface="Arial"/>
              </a:rPr>
              <a:t>or public HTTPS</a:t>
            </a:r>
          </a:p>
        </p:txBody>
      </p:sp>
      <p:sp>
        <p:nvSpPr>
          <p:cNvPr id="18" name="Rounded Rectangle 17"/>
          <p:cNvSpPr/>
          <p:nvPr/>
        </p:nvSpPr>
        <p:spPr>
          <a:xfrm>
            <a:off x="6190488" y="2468880"/>
            <a:ext cx="2615184" cy="24414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90488" y="2468880"/>
            <a:ext cx="50292" cy="24414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2651760"/>
            <a:ext cx="2194560" cy="256032"/>
          </a:xfrm>
          <a:prstGeom prst="rect">
            <a:avLst/>
          </a:prstGeom>
          <a:noFill/>
        </p:spPr>
        <p:txBody>
          <a:bodyPr wrap="square" lIns="0" tIns="0" rIns="0" bIns="0" anchor="t">
            <a:spAutoFit/>
          </a:bodyPr>
          <a:lstStyle/>
          <a:p>
            <a:pPr algn="l">
              <a:lnSpc>
                <a:spcPct val="108000"/>
              </a:lnSpc>
              <a:spcBef>
                <a:spcPts val="0"/>
              </a:spcBef>
              <a:spcAft>
                <a:spcPts val="500"/>
              </a:spcAft>
            </a:pPr>
            <a:r>
              <a:rPr sz="1100" b="1">
                <a:solidFill>
                  <a:srgbClr val="087F8C"/>
                </a:solidFill>
                <a:latin typeface="Arial"/>
              </a:rPr>
              <a:t>03</a:t>
            </a:r>
          </a:p>
        </p:txBody>
      </p:sp>
      <p:sp>
        <p:nvSpPr>
          <p:cNvPr id="21" name="TextBox 20"/>
          <p:cNvSpPr txBox="1"/>
          <p:nvPr/>
        </p:nvSpPr>
        <p:spPr>
          <a:xfrm>
            <a:off x="6400800" y="3081528"/>
            <a:ext cx="2194560" cy="73152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172C43"/>
                </a:solidFill>
                <a:latin typeface="Arial"/>
              </a:rPr>
              <a:t>Observe</a:t>
            </a:r>
          </a:p>
        </p:txBody>
      </p:sp>
      <p:sp>
        <p:nvSpPr>
          <p:cNvPr id="22" name="TextBox 21"/>
          <p:cNvSpPr txBox="1"/>
          <p:nvPr/>
        </p:nvSpPr>
        <p:spPr>
          <a:xfrm>
            <a:off x="6400800" y="3977639"/>
            <a:ext cx="2194560" cy="777239"/>
          </a:xfrm>
          <a:prstGeom prst="rect">
            <a:avLst/>
          </a:prstGeom>
          <a:noFill/>
        </p:spPr>
        <p:txBody>
          <a:bodyPr wrap="square" lIns="0" tIns="0" rIns="0" bIns="0" anchor="t">
            <a:spAutoFit/>
          </a:bodyPr>
          <a:lstStyle/>
          <a:p>
            <a:pPr algn="l">
              <a:lnSpc>
                <a:spcPct val="108000"/>
              </a:lnSpc>
              <a:spcBef>
                <a:spcPts val="0"/>
              </a:spcBef>
              <a:spcAft>
                <a:spcPts val="500"/>
              </a:spcAft>
            </a:pPr>
            <a:r>
              <a:rPr sz="1800" b="0">
                <a:solidFill>
                  <a:srgbClr val="53677C"/>
                </a:solidFill>
                <a:latin typeface="Arial"/>
              </a:rPr>
              <a:t>Readiness, logs</a:t>
            </a:r>
          </a:p>
          <a:p>
            <a:pPr algn="l">
              <a:lnSpc>
                <a:spcPct val="108000"/>
              </a:lnSpc>
              <a:spcBef>
                <a:spcPts val="0"/>
              </a:spcBef>
              <a:spcAft>
                <a:spcPts val="500"/>
              </a:spcAft>
            </a:pPr>
            <a:r>
              <a:rPr sz="1800" b="0">
                <a:solidFill>
                  <a:srgbClr val="53677C"/>
                </a:solidFill>
                <a:latin typeface="Arial"/>
              </a:rPr>
              <a:t>and resource use</a:t>
            </a:r>
          </a:p>
        </p:txBody>
      </p:sp>
      <p:sp>
        <p:nvSpPr>
          <p:cNvPr id="23" name="Rounded Rectangle 22"/>
          <p:cNvSpPr/>
          <p:nvPr/>
        </p:nvSpPr>
        <p:spPr>
          <a:xfrm>
            <a:off x="8988552" y="2468880"/>
            <a:ext cx="2615184" cy="24414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88552" y="2468880"/>
            <a:ext cx="50292" cy="24414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98864" y="2651760"/>
            <a:ext cx="2194560" cy="256032"/>
          </a:xfrm>
          <a:prstGeom prst="rect">
            <a:avLst/>
          </a:prstGeom>
          <a:noFill/>
        </p:spPr>
        <p:txBody>
          <a:bodyPr wrap="square" lIns="0" tIns="0" rIns="0" bIns="0" anchor="t">
            <a:spAutoFit/>
          </a:bodyPr>
          <a:lstStyle/>
          <a:p>
            <a:pPr algn="l">
              <a:lnSpc>
                <a:spcPct val="108000"/>
              </a:lnSpc>
              <a:spcBef>
                <a:spcPts val="0"/>
              </a:spcBef>
              <a:spcAft>
                <a:spcPts val="500"/>
              </a:spcAft>
            </a:pPr>
            <a:r>
              <a:rPr sz="1100" b="1">
                <a:solidFill>
                  <a:srgbClr val="087F8C"/>
                </a:solidFill>
                <a:latin typeface="Arial"/>
              </a:rPr>
              <a:t>04</a:t>
            </a:r>
          </a:p>
        </p:txBody>
      </p:sp>
      <p:sp>
        <p:nvSpPr>
          <p:cNvPr id="26" name="TextBox 25"/>
          <p:cNvSpPr txBox="1"/>
          <p:nvPr/>
        </p:nvSpPr>
        <p:spPr>
          <a:xfrm>
            <a:off x="9198864" y="3081528"/>
            <a:ext cx="2194560" cy="73152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172C43"/>
                </a:solidFill>
                <a:latin typeface="Arial"/>
              </a:rPr>
              <a:t>Maintain</a:t>
            </a:r>
          </a:p>
        </p:txBody>
      </p:sp>
      <p:sp>
        <p:nvSpPr>
          <p:cNvPr id="27" name="TextBox 26"/>
          <p:cNvSpPr txBox="1"/>
          <p:nvPr/>
        </p:nvSpPr>
        <p:spPr>
          <a:xfrm>
            <a:off x="9198864" y="3977639"/>
            <a:ext cx="2194560" cy="777239"/>
          </a:xfrm>
          <a:prstGeom prst="rect">
            <a:avLst/>
          </a:prstGeom>
          <a:noFill/>
        </p:spPr>
        <p:txBody>
          <a:bodyPr wrap="square" lIns="0" tIns="0" rIns="0" bIns="0" anchor="t">
            <a:spAutoFit/>
          </a:bodyPr>
          <a:lstStyle/>
          <a:p>
            <a:pPr algn="l">
              <a:lnSpc>
                <a:spcPct val="108000"/>
              </a:lnSpc>
              <a:spcBef>
                <a:spcPts val="0"/>
              </a:spcBef>
              <a:spcAft>
                <a:spcPts val="500"/>
              </a:spcAft>
            </a:pPr>
            <a:r>
              <a:rPr sz="1800" b="0">
                <a:solidFill>
                  <a:srgbClr val="53677C"/>
                </a:solidFill>
                <a:latin typeface="Arial"/>
              </a:rPr>
              <a:t>Updates, recovery</a:t>
            </a:r>
          </a:p>
          <a:p>
            <a:pPr algn="l">
              <a:lnSpc>
                <a:spcPct val="108000"/>
              </a:lnSpc>
              <a:spcBef>
                <a:spcPts val="0"/>
              </a:spcBef>
              <a:spcAft>
                <a:spcPts val="500"/>
              </a:spcAft>
            </a:pPr>
            <a:r>
              <a:rPr sz="1800" b="0">
                <a:solidFill>
                  <a:srgbClr val="53677C"/>
                </a:solidFill>
                <a:latin typeface="Arial"/>
              </a:rPr>
              <a:t>and replica counts</a:t>
            </a:r>
          </a:p>
        </p:txBody>
      </p:sp>
      <p:sp>
        <p:nvSpPr>
          <p:cNvPr id="28" name="Rounded Rectangle 27"/>
          <p:cNvSpPr/>
          <p:nvPr/>
        </p:nvSpPr>
        <p:spPr>
          <a:xfrm>
            <a:off x="594360" y="5257800"/>
            <a:ext cx="10991088" cy="603504"/>
          </a:xfrm>
          <a:prstGeom prst="roundRect">
            <a:avLst>
              <a:gd name="adj" fmla="val 12000"/>
            </a:avLst>
          </a:prstGeom>
          <a:solidFill>
            <a:srgbClr val="E4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458968"/>
            <a:ext cx="1005840" cy="201168"/>
          </a:xfrm>
          <a:prstGeom prst="rect">
            <a:avLst/>
          </a:prstGeom>
          <a:noFill/>
        </p:spPr>
        <p:txBody>
          <a:bodyPr wrap="square" lIns="0" tIns="0" rIns="0" bIns="0" anchor="t">
            <a:spAutoFit/>
          </a:bodyPr>
          <a:lstStyle/>
          <a:p>
            <a:pPr algn="l">
              <a:lnSpc>
                <a:spcPct val="108000"/>
              </a:lnSpc>
              <a:spcBef>
                <a:spcPts val="0"/>
              </a:spcBef>
              <a:spcAft>
                <a:spcPts val="500"/>
              </a:spcAft>
            </a:pPr>
            <a:r>
              <a:rPr sz="1200" b="1">
                <a:solidFill>
                  <a:srgbClr val="087F8C"/>
                </a:solidFill>
                <a:latin typeface="Arial"/>
              </a:rPr>
              <a:t>GOAL</a:t>
            </a:r>
          </a:p>
        </p:txBody>
      </p:sp>
      <p:sp>
        <p:nvSpPr>
          <p:cNvPr id="30" name="TextBox 29"/>
          <p:cNvSpPr txBox="1"/>
          <p:nvPr/>
        </p:nvSpPr>
        <p:spPr>
          <a:xfrm>
            <a:off x="1828800" y="5413248"/>
            <a:ext cx="9326880" cy="365760"/>
          </a:xfrm>
          <a:prstGeom prst="rect">
            <a:avLst/>
          </a:prstGeom>
          <a:noFill/>
        </p:spPr>
        <p:txBody>
          <a:bodyPr wrap="square" lIns="0" tIns="0" rIns="0" bIns="0" anchor="t">
            <a:spAutoFit/>
          </a:bodyPr>
          <a:lstStyle/>
          <a:p>
            <a:pPr algn="l">
              <a:lnSpc>
                <a:spcPct val="108000"/>
              </a:lnSpc>
              <a:spcBef>
                <a:spcPts val="0"/>
              </a:spcBef>
              <a:spcAft>
                <a:spcPts val="500"/>
              </a:spcAft>
            </a:pPr>
            <a:r>
              <a:rPr sz="2100" b="1">
                <a:solidFill>
                  <a:srgbClr val="172C43"/>
                </a:solidFill>
                <a:latin typeface="Arial"/>
              </a:rPr>
              <a:t>Reduce routine deployment work while retaining infrastructure control.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91088" cy="201168"/>
          </a:xfrm>
          <a:prstGeom prst="rect">
            <a:avLst/>
          </a:prstGeom>
          <a:noFill/>
        </p:spPr>
        <p:txBody>
          <a:bodyPr wrap="square" lIns="0" tIns="0" rIns="0" bIns="0" anchor="t">
            <a:spAutoFit/>
          </a:bodyPr>
          <a:lstStyle/>
          <a:p>
            <a:pPr algn="l"/>
            <a:r>
              <a:rPr sz="1300" b="1" spc="180">
                <a:solidFill>
                  <a:srgbClr val="087F8C"/>
                </a:solidFill>
                <a:latin typeface="Arial"/>
              </a:rPr>
              <a:t>THE PROBLEM</a:t>
            </a:r>
          </a:p>
        </p:txBody>
      </p:sp>
      <p:sp>
        <p:nvSpPr>
          <p:cNvPr id="3" name="TextBox 2"/>
          <p:cNvSpPr txBox="1"/>
          <p:nvPr/>
        </p:nvSpPr>
        <p:spPr>
          <a:xfrm>
            <a:off x="566928" y="758952"/>
            <a:ext cx="11064240" cy="820000"/>
          </a:xfrm>
          <a:prstGeom prst="rect">
            <a:avLst/>
          </a:prstGeom>
          <a:noFill/>
        </p:spPr>
        <p:txBody>
          <a:bodyPr wrap="square" lIns="0" tIns="0" rIns="0" bIns="0" anchor="t">
            <a:spAutoFit/>
          </a:bodyPr>
          <a:lstStyle/>
          <a:p>
            <a:pPr algn="l"/>
            <a:r>
              <a:rPr sz="3000" b="1">
                <a:solidFill>
                  <a:srgbClr val="172C43"/>
                </a:solidFill>
                <a:latin typeface="Arial"/>
              </a:rPr>
              <a:t>Where the manual effort actually goes</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r>
              <a:rPr sz="1500" b="0">
                <a:solidFill>
                  <a:srgbClr val="53677C"/>
                </a:solidFill>
                <a:latin typeface="Arial"/>
              </a:rPr>
              <a:t>Each routine change is a sequence of manual, error-prone steps repeated per application and per update.</a:t>
            </a:r>
          </a:p>
        </p:txBody>
      </p:sp>
      <p:sp>
        <p:nvSpPr>
          <p:cNvPr id="5" name="Rectangle 4"/>
          <p:cNvSpPr/>
          <p:nvPr/>
        </p:nvSpPr>
        <p:spPr>
          <a:xfrm>
            <a:off x="576072" y="6446520"/>
            <a:ext cx="11018520" cy="10972"/>
          </a:xfrm>
          <a:prstGeom prst="rect">
            <a:avLst/>
          </a:prstGeom>
          <a:solidFill>
            <a:srgbClr val="D6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r>
              <a:rPr sz="800" b="0" spc="12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r>
              <a:rPr sz="1200" b="1">
                <a:solidFill>
                  <a:srgbClr val="53677C"/>
                </a:solidFill>
                <a:latin typeface="Arial"/>
              </a:rPr>
              <a:t>03</a:t>
            </a:r>
          </a:p>
        </p:txBody>
      </p:sp>
      <p:sp>
        <p:nvSpPr>
          <p:cNvPr id="8" name="Rounded Rectangle 7"/>
          <p:cNvSpPr/>
          <p:nvPr/>
        </p:nvSpPr>
        <p:spPr>
          <a:xfrm>
            <a:off x="594360" y="2468880"/>
            <a:ext cx="2615184" cy="24414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468880"/>
            <a:ext cx="50292" cy="2441448"/>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360" y="2618880"/>
            <a:ext cx="2255184" cy="430000"/>
          </a:xfrm>
          <a:prstGeom prst="rect">
            <a:avLst/>
          </a:prstGeom>
          <a:noFill/>
        </p:spPr>
        <p:txBody>
          <a:bodyPr wrap="square" lIns="0" tIns="0" rIns="0" bIns="0" anchor="t">
            <a:spAutoFit/>
          </a:bodyPr>
          <a:lstStyle/>
          <a:p>
            <a:pPr algn="l"/>
            <a:r>
              <a:rPr sz="1600" b="1">
                <a:solidFill>
                  <a:srgbClr val="172C43"/>
                </a:solidFill>
                <a:latin typeface="Arial"/>
              </a:rPr>
              <a:t>Prepare</a:t>
            </a:r>
          </a:p>
        </p:txBody>
      </p:sp>
      <p:sp>
        <p:nvSpPr>
          <p:cNvPr id="11" name="TextBox 10"/>
          <p:cNvSpPr txBox="1"/>
          <p:nvPr/>
        </p:nvSpPr>
        <p:spPr>
          <a:xfrm>
            <a:off x="804360" y="3048880"/>
            <a:ext cx="2255184" cy="1821448"/>
          </a:xfrm>
          <a:prstGeom prst="rect">
            <a:avLst/>
          </a:prstGeom>
          <a:noFill/>
        </p:spPr>
        <p:txBody>
          <a:bodyPr wrap="square" lIns="0" tIns="0" rIns="0" bIns="0" anchor="t">
            <a:spAutoFit/>
          </a:bodyPr>
          <a:lstStyle/>
          <a:p>
            <a:pPr algn="l"/>
            <a:r>
              <a:rPr sz="1200" b="0">
                <a:solidFill>
                  <a:srgbClr val="53677C"/>
                </a:solidFill>
                <a:latin typeface="Arial"/>
              </a:rPr>
              <a:t>Namespace, image pull secret, config and secret objects — created and kept consistent by hand.</a:t>
            </a:r>
          </a:p>
        </p:txBody>
      </p:sp>
      <p:sp>
        <p:nvSpPr>
          <p:cNvPr id="13" name="Rounded Rectangle 12"/>
          <p:cNvSpPr/>
          <p:nvPr/>
        </p:nvSpPr>
        <p:spPr>
          <a:xfrm>
            <a:off x="3392208" y="2468880"/>
            <a:ext cx="2615184" cy="24414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92208" y="2468880"/>
            <a:ext cx="50292" cy="2441448"/>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02208" y="2618880"/>
            <a:ext cx="2255184" cy="430000"/>
          </a:xfrm>
          <a:prstGeom prst="rect">
            <a:avLst/>
          </a:prstGeom>
          <a:noFill/>
        </p:spPr>
        <p:txBody>
          <a:bodyPr wrap="square" lIns="0" tIns="0" rIns="0" bIns="0" anchor="t">
            <a:spAutoFit/>
          </a:bodyPr>
          <a:lstStyle/>
          <a:p>
            <a:pPr algn="l"/>
            <a:r>
              <a:rPr sz="1600" b="1">
                <a:solidFill>
                  <a:srgbClr val="172C43"/>
                </a:solidFill>
                <a:latin typeface="Arial"/>
              </a:rPr>
              <a:t>Author manifests</a:t>
            </a:r>
          </a:p>
        </p:txBody>
      </p:sp>
      <p:sp>
        <p:nvSpPr>
          <p:cNvPr id="16" name="TextBox 15"/>
          <p:cNvSpPr txBox="1"/>
          <p:nvPr/>
        </p:nvSpPr>
        <p:spPr>
          <a:xfrm>
            <a:off x="3602208" y="3048880"/>
            <a:ext cx="2255184" cy="1821448"/>
          </a:xfrm>
          <a:prstGeom prst="rect">
            <a:avLst/>
          </a:prstGeom>
          <a:noFill/>
        </p:spPr>
        <p:txBody>
          <a:bodyPr wrap="square" lIns="0" tIns="0" rIns="0" bIns="0" anchor="t">
            <a:spAutoFit/>
          </a:bodyPr>
          <a:lstStyle/>
          <a:p>
            <a:pPr algn="l"/>
            <a:r>
              <a:rPr sz="1200" b="0">
                <a:solidFill>
                  <a:srgbClr val="53677C"/>
                </a:solidFill>
                <a:latin typeface="Arial"/>
              </a:rPr>
              <a:t>Deployment, Service, Ingress, probes and resource limits, each edited as YAML.</a:t>
            </a:r>
          </a:p>
        </p:txBody>
      </p:sp>
      <p:sp>
        <p:nvSpPr>
          <p:cNvPr id="18" name="Rounded Rectangle 17"/>
          <p:cNvSpPr/>
          <p:nvPr/>
        </p:nvSpPr>
        <p:spPr>
          <a:xfrm>
            <a:off x="6190056" y="2468880"/>
            <a:ext cx="2615184" cy="24414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90056" y="2468880"/>
            <a:ext cx="50292" cy="2441448"/>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056" y="2618880"/>
            <a:ext cx="2255184" cy="430000"/>
          </a:xfrm>
          <a:prstGeom prst="rect">
            <a:avLst/>
          </a:prstGeom>
          <a:noFill/>
        </p:spPr>
        <p:txBody>
          <a:bodyPr wrap="square" lIns="0" tIns="0" rIns="0" bIns="0" anchor="t">
            <a:spAutoFit/>
          </a:bodyPr>
          <a:lstStyle/>
          <a:p>
            <a:pPr algn="l"/>
            <a:r>
              <a:rPr sz="1600" b="1">
                <a:solidFill>
                  <a:srgbClr val="172C43"/>
                </a:solidFill>
                <a:latin typeface="Arial"/>
              </a:rPr>
              <a:t>Apply &amp; watch</a:t>
            </a:r>
          </a:p>
        </p:txBody>
      </p:sp>
      <p:sp>
        <p:nvSpPr>
          <p:cNvPr id="21" name="TextBox 20"/>
          <p:cNvSpPr txBox="1"/>
          <p:nvPr/>
        </p:nvSpPr>
        <p:spPr>
          <a:xfrm>
            <a:off x="6400056" y="3048880"/>
            <a:ext cx="2255184" cy="1821448"/>
          </a:xfrm>
          <a:prstGeom prst="rect">
            <a:avLst/>
          </a:prstGeom>
          <a:noFill/>
        </p:spPr>
        <p:txBody>
          <a:bodyPr wrap="square" lIns="0" tIns="0" rIns="0" bIns="0" anchor="t">
            <a:spAutoFit/>
          </a:bodyPr>
          <a:lstStyle/>
          <a:p>
            <a:pPr algn="l"/>
            <a:r>
              <a:rPr sz="1200" b="0">
                <a:solidFill>
                  <a:srgbClr val="53677C"/>
                </a:solidFill>
                <a:latin typeface="Arial"/>
              </a:rPr>
              <a:t>kubectl apply, then manually read rollout status, events and logs to judge success.</a:t>
            </a:r>
          </a:p>
        </p:txBody>
      </p:sp>
      <p:sp>
        <p:nvSpPr>
          <p:cNvPr id="23" name="Rounded Rectangle 22"/>
          <p:cNvSpPr/>
          <p:nvPr/>
        </p:nvSpPr>
        <p:spPr>
          <a:xfrm>
            <a:off x="8987904" y="2468880"/>
            <a:ext cx="2615184" cy="24414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87904" y="2468880"/>
            <a:ext cx="50292" cy="2441448"/>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97904" y="2618880"/>
            <a:ext cx="2255184" cy="430000"/>
          </a:xfrm>
          <a:prstGeom prst="rect">
            <a:avLst/>
          </a:prstGeom>
          <a:noFill/>
        </p:spPr>
        <p:txBody>
          <a:bodyPr wrap="square" lIns="0" tIns="0" rIns="0" bIns="0" anchor="t">
            <a:spAutoFit/>
          </a:bodyPr>
          <a:lstStyle/>
          <a:p>
            <a:pPr algn="l"/>
            <a:r>
              <a:rPr sz="1600" b="1">
                <a:solidFill>
                  <a:srgbClr val="172C43"/>
                </a:solidFill>
                <a:latin typeface="Arial"/>
              </a:rPr>
              <a:t>Recover</a:t>
            </a:r>
          </a:p>
        </p:txBody>
      </p:sp>
      <p:sp>
        <p:nvSpPr>
          <p:cNvPr id="26" name="TextBox 25"/>
          <p:cNvSpPr txBox="1"/>
          <p:nvPr/>
        </p:nvSpPr>
        <p:spPr>
          <a:xfrm>
            <a:off x="9197904" y="3048880"/>
            <a:ext cx="2255184" cy="1821448"/>
          </a:xfrm>
          <a:prstGeom prst="rect">
            <a:avLst/>
          </a:prstGeom>
          <a:noFill/>
        </p:spPr>
        <p:txBody>
          <a:bodyPr wrap="square" lIns="0" tIns="0" rIns="0" bIns="0" anchor="t">
            <a:spAutoFit/>
          </a:bodyPr>
          <a:lstStyle/>
          <a:p>
            <a:pPr algn="l"/>
            <a:r>
              <a:rPr sz="1200" b="0">
                <a:solidFill>
                  <a:srgbClr val="53677C"/>
                </a:solidFill>
                <a:latin typeface="Arial"/>
              </a:rPr>
              <a:t>On a failed update, decide what broke and roll back by hand; nothing records what happened.</a:t>
            </a:r>
          </a:p>
        </p:txBody>
      </p:sp>
      <p:sp>
        <p:nvSpPr>
          <p:cNvPr id="28" name="Rectangle 27"/>
          <p:cNvSpPr/>
          <p:nvPr/>
        </p:nvSpPr>
        <p:spPr>
          <a:xfrm>
            <a:off x="594360" y="5257800"/>
            <a:ext cx="10991088" cy="603504"/>
          </a:xfrm>
          <a:prstGeom prst="rect">
            <a:avLst/>
          </a:prstGeom>
          <a:solidFill>
            <a:srgbClr val="E4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4360" y="5257800"/>
            <a:ext cx="50292" cy="603504"/>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 y="5458968"/>
            <a:ext cx="1300000" cy="201168"/>
          </a:xfrm>
          <a:prstGeom prst="rect">
            <a:avLst/>
          </a:prstGeom>
          <a:noFill/>
        </p:spPr>
        <p:txBody>
          <a:bodyPr wrap="square" lIns="0" tIns="0" rIns="0" bIns="0" anchor="ctr">
            <a:spAutoFit/>
          </a:bodyPr>
          <a:lstStyle/>
          <a:p>
            <a:pPr algn="l"/>
            <a:r>
              <a:rPr sz="1300" b="1" spc="160">
                <a:solidFill>
                  <a:srgbClr val="087F8C"/>
                </a:solidFill>
                <a:latin typeface="Arial"/>
              </a:rPr>
              <a:t>COST</a:t>
            </a:r>
          </a:p>
        </p:txBody>
      </p:sp>
      <p:sp>
        <p:nvSpPr>
          <p:cNvPr id="31" name="TextBox 30"/>
          <p:cNvSpPr txBox="1"/>
          <p:nvPr/>
        </p:nvSpPr>
        <p:spPr>
          <a:xfrm>
            <a:off x="2100000" y="5377800"/>
            <a:ext cx="9200000" cy="365760"/>
          </a:xfrm>
          <a:prstGeom prst="rect">
            <a:avLst/>
          </a:prstGeom>
          <a:noFill/>
        </p:spPr>
        <p:txBody>
          <a:bodyPr wrap="square" lIns="0" tIns="0" rIns="0" bIns="0" anchor="ctr">
            <a:spAutoFit/>
          </a:bodyPr>
          <a:lstStyle/>
          <a:p>
            <a:pPr algn="l"/>
            <a:r>
              <a:rPr sz="1300" b="0">
                <a:solidFill>
                  <a:srgbClr val="172C43"/>
                </a:solidFill>
                <a:latin typeface="Arial"/>
              </a:rPr>
              <a:t>Effort scales with the number of applications and updates, and the result is not reproducible or auditable.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USE CASES</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172C43"/>
                </a:solidFill>
                <a:latin typeface="Arial"/>
              </a:rPr>
              <a:t>One platform model, three deployment settings</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lnSpc>
                <a:spcPct val="108000"/>
              </a:lnSpc>
              <a:spcBef>
                <a:spcPts val="0"/>
              </a:spcBef>
              <a:spcAft>
                <a:spcPts val="500"/>
              </a:spcAft>
            </a:pPr>
            <a:r>
              <a:rPr sz="1600" b="0">
                <a:solidFill>
                  <a:srgbClr val="53677C"/>
                </a:solidFill>
                <a:latin typeface="Arial"/>
              </a:rPr>
              <a:t>Application visibility is selected independently of where the host is located.</a:t>
            </a:r>
          </a:p>
        </p:txBody>
      </p:sp>
      <p:sp>
        <p:nvSpPr>
          <p:cNvPr id="5" name="Rectangle 4"/>
          <p:cNvSpPr/>
          <p:nvPr/>
        </p:nvSpPr>
        <p:spPr>
          <a:xfrm>
            <a:off x="576072" y="6446520"/>
            <a:ext cx="11018520" cy="10972"/>
          </a:xfrm>
          <a:prstGeom prst="rect">
            <a:avLst/>
          </a:prstGeom>
          <a:solidFill>
            <a:srgbClr val="D6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53677C"/>
                </a:solidFill>
                <a:latin typeface="Arial"/>
              </a:rPr>
              <a:t>04</a:t>
            </a:r>
          </a:p>
        </p:txBody>
      </p:sp>
      <p:sp>
        <p:nvSpPr>
          <p:cNvPr id="8" name="Rounded Rectangle 7"/>
          <p:cNvSpPr/>
          <p:nvPr/>
        </p:nvSpPr>
        <p:spPr>
          <a:xfrm>
            <a:off x="594360" y="2377440"/>
            <a:ext cx="3547872"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377440"/>
            <a:ext cx="50292" cy="33375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560320"/>
            <a:ext cx="3127248" cy="256032"/>
          </a:xfrm>
          <a:prstGeom prst="rect">
            <a:avLst/>
          </a:prstGeom>
          <a:noFill/>
        </p:spPr>
        <p:txBody>
          <a:bodyPr wrap="square" lIns="0" tIns="0" rIns="0" bIns="0" anchor="t">
            <a:spAutoFit/>
          </a:bodyPr>
          <a:lstStyle/>
          <a:p>
            <a:pPr algn="l">
              <a:lnSpc>
                <a:spcPct val="108000"/>
              </a:lnSpc>
              <a:spcBef>
                <a:spcPts val="0"/>
              </a:spcBef>
              <a:spcAft>
                <a:spcPts val="500"/>
              </a:spcAft>
            </a:pPr>
            <a:r>
              <a:rPr sz="1100" b="1">
                <a:solidFill>
                  <a:srgbClr val="087F8C"/>
                </a:solidFill>
                <a:latin typeface="Arial"/>
              </a:rPr>
              <a:t>INSTITUTION</a:t>
            </a:r>
          </a:p>
        </p:txBody>
      </p:sp>
      <p:sp>
        <p:nvSpPr>
          <p:cNvPr id="11" name="TextBox 10"/>
          <p:cNvSpPr txBox="1"/>
          <p:nvPr/>
        </p:nvSpPr>
        <p:spPr>
          <a:xfrm>
            <a:off x="804672" y="2990088"/>
            <a:ext cx="3127248" cy="73152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172C43"/>
                </a:solidFill>
                <a:latin typeface="Arial"/>
              </a:rPr>
              <a:t>Internal services</a:t>
            </a:r>
          </a:p>
        </p:txBody>
      </p:sp>
      <p:sp>
        <p:nvSpPr>
          <p:cNvPr id="12" name="TextBox 11"/>
          <p:cNvSpPr txBox="1"/>
          <p:nvPr/>
        </p:nvSpPr>
        <p:spPr>
          <a:xfrm>
            <a:off x="804672" y="3886200"/>
            <a:ext cx="3127248" cy="1673351"/>
          </a:xfrm>
          <a:prstGeom prst="rect">
            <a:avLst/>
          </a:prstGeom>
          <a:noFill/>
        </p:spPr>
        <p:txBody>
          <a:bodyPr wrap="square" lIns="0" tIns="0" rIns="0" bIns="0" anchor="t">
            <a:spAutoFit/>
          </a:bodyPr>
          <a:lstStyle/>
          <a:p>
            <a:pPr algn="l">
              <a:lnSpc>
                <a:spcPct val="108000"/>
              </a:lnSpc>
              <a:spcBef>
                <a:spcPts val="0"/>
              </a:spcBef>
              <a:spcAft>
                <a:spcPts val="500"/>
              </a:spcAft>
            </a:pPr>
            <a:r>
              <a:rPr sz="1800" b="0">
                <a:solidFill>
                  <a:srgbClr val="53677C"/>
                </a:solidFill>
                <a:latin typeface="Arial"/>
              </a:rPr>
              <a:t>Example: a bank’s</a:t>
            </a:r>
          </a:p>
          <a:p>
            <a:pPr algn="l">
              <a:lnSpc>
                <a:spcPct val="108000"/>
              </a:lnSpc>
              <a:spcBef>
                <a:spcPts val="0"/>
              </a:spcBef>
              <a:spcAft>
                <a:spcPts val="500"/>
              </a:spcAft>
            </a:pPr>
            <a:r>
              <a:rPr sz="1800" b="0">
                <a:solidFill>
                  <a:srgbClr val="53677C"/>
                </a:solidFill>
                <a:latin typeface="Arial"/>
              </a:rPr>
              <a:t>development or test network.</a:t>
            </a:r>
          </a:p>
          <a:p>
            <a:pPr algn="l">
              <a:lnSpc>
                <a:spcPct val="108000"/>
              </a:lnSpc>
              <a:spcBef>
                <a:spcPts val="0"/>
              </a:spcBef>
              <a:spcAft>
                <a:spcPts val="500"/>
              </a:spcAft>
            </a:pPr>
            <a:endParaRPr sz="1800" b="0">
              <a:solidFill>
                <a:srgbClr val="53677C"/>
              </a:solidFill>
              <a:latin typeface="Arial"/>
            </a:endParaRPr>
          </a:p>
          <a:p>
            <a:pPr algn="l">
              <a:lnSpc>
                <a:spcPct val="108000"/>
              </a:lnSpc>
              <a:spcBef>
                <a:spcPts val="0"/>
              </a:spcBef>
              <a:spcAft>
                <a:spcPts val="500"/>
              </a:spcAft>
            </a:pPr>
            <a:r>
              <a:rPr sz="1800" b="0">
                <a:solidFill>
                  <a:srgbClr val="53677C"/>
                </a:solidFill>
                <a:latin typeface="Arial"/>
              </a:rPr>
              <a:t>Applications remain on</a:t>
            </a:r>
          </a:p>
          <a:p>
            <a:pPr algn="l">
              <a:lnSpc>
                <a:spcPct val="108000"/>
              </a:lnSpc>
              <a:spcBef>
                <a:spcPts val="0"/>
              </a:spcBef>
              <a:spcAft>
                <a:spcPts val="500"/>
              </a:spcAft>
            </a:pPr>
            <a:r>
              <a:rPr sz="1800" b="0">
                <a:solidFill>
                  <a:srgbClr val="53677C"/>
                </a:solidFill>
                <a:latin typeface="Arial"/>
              </a:rPr>
              <a:t>controlled infrastructure.</a:t>
            </a:r>
          </a:p>
        </p:txBody>
      </p:sp>
      <p:sp>
        <p:nvSpPr>
          <p:cNvPr id="13" name="Rounded Rectangle 12"/>
          <p:cNvSpPr/>
          <p:nvPr/>
        </p:nvSpPr>
        <p:spPr>
          <a:xfrm>
            <a:off x="4325112" y="2377440"/>
            <a:ext cx="3547872"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25112" y="2377440"/>
            <a:ext cx="50292" cy="33375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35424" y="2560320"/>
            <a:ext cx="3127248" cy="256032"/>
          </a:xfrm>
          <a:prstGeom prst="rect">
            <a:avLst/>
          </a:prstGeom>
          <a:noFill/>
        </p:spPr>
        <p:txBody>
          <a:bodyPr wrap="square" lIns="0" tIns="0" rIns="0" bIns="0" anchor="t">
            <a:spAutoFit/>
          </a:bodyPr>
          <a:lstStyle/>
          <a:p>
            <a:pPr algn="l">
              <a:lnSpc>
                <a:spcPct val="108000"/>
              </a:lnSpc>
              <a:spcBef>
                <a:spcPts val="0"/>
              </a:spcBef>
              <a:spcAft>
                <a:spcPts val="500"/>
              </a:spcAft>
            </a:pPr>
            <a:r>
              <a:rPr sz="1100" b="1">
                <a:solidFill>
                  <a:srgbClr val="087F8C"/>
                </a:solidFill>
                <a:latin typeface="Arial"/>
              </a:rPr>
              <a:t>PERSONAL HARDWARE</a:t>
            </a:r>
          </a:p>
        </p:txBody>
      </p:sp>
      <p:sp>
        <p:nvSpPr>
          <p:cNvPr id="16" name="TextBox 15"/>
          <p:cNvSpPr txBox="1"/>
          <p:nvPr/>
        </p:nvSpPr>
        <p:spPr>
          <a:xfrm>
            <a:off x="4535424" y="2990088"/>
            <a:ext cx="3127248" cy="73152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172C43"/>
                </a:solidFill>
                <a:latin typeface="Arial"/>
              </a:rPr>
              <a:t>Raspberry Pi</a:t>
            </a:r>
          </a:p>
        </p:txBody>
      </p:sp>
      <p:sp>
        <p:nvSpPr>
          <p:cNvPr id="17" name="TextBox 16"/>
          <p:cNvSpPr txBox="1"/>
          <p:nvPr/>
        </p:nvSpPr>
        <p:spPr>
          <a:xfrm>
            <a:off x="4535424" y="3886200"/>
            <a:ext cx="3127248" cy="1673351"/>
          </a:xfrm>
          <a:prstGeom prst="rect">
            <a:avLst/>
          </a:prstGeom>
          <a:noFill/>
        </p:spPr>
        <p:txBody>
          <a:bodyPr wrap="square" lIns="0" tIns="0" rIns="0" bIns="0" anchor="t">
            <a:spAutoFit/>
          </a:bodyPr>
          <a:lstStyle/>
          <a:p>
            <a:pPr algn="l">
              <a:lnSpc>
                <a:spcPct val="108000"/>
              </a:lnSpc>
              <a:spcBef>
                <a:spcPts val="0"/>
              </a:spcBef>
              <a:spcAft>
                <a:spcPts val="500"/>
              </a:spcAft>
            </a:pPr>
            <a:r>
              <a:rPr sz="1800" b="0">
                <a:solidFill>
                  <a:srgbClr val="53677C"/>
                </a:solidFill>
                <a:latin typeface="Arial"/>
              </a:rPr>
              <a:t>Private home tools or</a:t>
            </a:r>
          </a:p>
          <a:p>
            <a:pPr algn="l">
              <a:lnSpc>
                <a:spcPct val="108000"/>
              </a:lnSpc>
              <a:spcBef>
                <a:spcPts val="0"/>
              </a:spcBef>
              <a:spcAft>
                <a:spcPts val="500"/>
              </a:spcAft>
            </a:pPr>
            <a:r>
              <a:rPr sz="1800" b="0">
                <a:solidFill>
                  <a:srgbClr val="53677C"/>
                </a:solidFill>
                <a:latin typeface="Arial"/>
              </a:rPr>
              <a:t>a small hosted application.</a:t>
            </a:r>
          </a:p>
          <a:p>
            <a:pPr algn="l">
              <a:lnSpc>
                <a:spcPct val="108000"/>
              </a:lnSpc>
              <a:spcBef>
                <a:spcPts val="0"/>
              </a:spcBef>
              <a:spcAft>
                <a:spcPts val="500"/>
              </a:spcAft>
            </a:pPr>
            <a:endParaRPr sz="1800" b="0">
              <a:solidFill>
                <a:srgbClr val="53677C"/>
              </a:solidFill>
              <a:latin typeface="Arial"/>
            </a:endParaRPr>
          </a:p>
          <a:p>
            <a:pPr algn="l">
              <a:lnSpc>
                <a:spcPct val="108000"/>
              </a:lnSpc>
              <a:spcBef>
                <a:spcPts val="0"/>
              </a:spcBef>
              <a:spcAft>
                <a:spcPts val="500"/>
              </a:spcAft>
            </a:pPr>
            <a:r>
              <a:rPr sz="1800" b="0">
                <a:solidFill>
                  <a:srgbClr val="53677C"/>
                </a:solidFill>
                <a:latin typeface="Arial"/>
              </a:rPr>
              <a:t>Reference: Pi 5, 8 GB RAM,</a:t>
            </a:r>
          </a:p>
          <a:p>
            <a:pPr algn="l">
              <a:lnSpc>
                <a:spcPct val="108000"/>
              </a:lnSpc>
              <a:spcBef>
                <a:spcPts val="0"/>
              </a:spcBef>
              <a:spcAft>
                <a:spcPts val="500"/>
              </a:spcAft>
            </a:pPr>
            <a:r>
              <a:rPr sz="1800" b="0">
                <a:solidFill>
                  <a:srgbClr val="53677C"/>
                </a:solidFill>
                <a:latin typeface="Arial"/>
              </a:rPr>
              <a:t>32 GB storage, 64-bit OS.</a:t>
            </a:r>
          </a:p>
        </p:txBody>
      </p:sp>
      <p:sp>
        <p:nvSpPr>
          <p:cNvPr id="18" name="Rounded Rectangle 17"/>
          <p:cNvSpPr/>
          <p:nvPr/>
        </p:nvSpPr>
        <p:spPr>
          <a:xfrm>
            <a:off x="8055864" y="2377440"/>
            <a:ext cx="3547872"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5864" y="2377440"/>
            <a:ext cx="50292" cy="33375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66176" y="2560320"/>
            <a:ext cx="3127248" cy="256032"/>
          </a:xfrm>
          <a:prstGeom prst="rect">
            <a:avLst/>
          </a:prstGeom>
          <a:noFill/>
        </p:spPr>
        <p:txBody>
          <a:bodyPr wrap="square" lIns="0" tIns="0" rIns="0" bIns="0" anchor="t">
            <a:spAutoFit/>
          </a:bodyPr>
          <a:lstStyle/>
          <a:p>
            <a:pPr algn="l">
              <a:lnSpc>
                <a:spcPct val="108000"/>
              </a:lnSpc>
              <a:spcBef>
                <a:spcPts val="0"/>
              </a:spcBef>
              <a:spcAft>
                <a:spcPts val="500"/>
              </a:spcAft>
            </a:pPr>
            <a:r>
              <a:rPr sz="1100" b="1">
                <a:solidFill>
                  <a:srgbClr val="087F8C"/>
                </a:solidFill>
                <a:latin typeface="Arial"/>
              </a:rPr>
              <a:t>RENTED LINUX HOST</a:t>
            </a:r>
          </a:p>
        </p:txBody>
      </p:sp>
      <p:sp>
        <p:nvSpPr>
          <p:cNvPr id="21" name="TextBox 20"/>
          <p:cNvSpPr txBox="1"/>
          <p:nvPr/>
        </p:nvSpPr>
        <p:spPr>
          <a:xfrm>
            <a:off x="8266176" y="2990088"/>
            <a:ext cx="3127248" cy="73152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172C43"/>
                </a:solidFill>
                <a:latin typeface="Arial"/>
              </a:rPr>
              <a:t>VPS or server</a:t>
            </a:r>
          </a:p>
        </p:txBody>
      </p:sp>
      <p:sp>
        <p:nvSpPr>
          <p:cNvPr id="22" name="TextBox 21"/>
          <p:cNvSpPr txBox="1"/>
          <p:nvPr/>
        </p:nvSpPr>
        <p:spPr>
          <a:xfrm>
            <a:off x="8266176" y="3886200"/>
            <a:ext cx="3127248" cy="1673351"/>
          </a:xfrm>
          <a:prstGeom prst="rect">
            <a:avLst/>
          </a:prstGeom>
          <a:noFill/>
        </p:spPr>
        <p:txBody>
          <a:bodyPr wrap="square" lIns="0" tIns="0" rIns="0" bIns="0" anchor="t">
            <a:spAutoFit/>
          </a:bodyPr>
          <a:lstStyle/>
          <a:p>
            <a:pPr algn="l">
              <a:lnSpc>
                <a:spcPct val="108000"/>
              </a:lnSpc>
              <a:spcBef>
                <a:spcPts val="0"/>
              </a:spcBef>
              <a:spcAft>
                <a:spcPts val="500"/>
              </a:spcAft>
            </a:pPr>
            <a:r>
              <a:rPr sz="1800" b="0">
                <a:solidFill>
                  <a:srgbClr val="53677C"/>
                </a:solidFill>
                <a:latin typeface="Arial"/>
              </a:rPr>
              <a:t>The same application model</a:t>
            </a:r>
          </a:p>
          <a:p>
            <a:pPr algn="l">
              <a:lnSpc>
                <a:spcPct val="108000"/>
              </a:lnSpc>
              <a:spcBef>
                <a:spcPts val="0"/>
              </a:spcBef>
              <a:spcAft>
                <a:spcPts val="500"/>
              </a:spcAft>
            </a:pPr>
            <a:r>
              <a:rPr sz="1800" b="0">
                <a:solidFill>
                  <a:srgbClr val="53677C"/>
                </a:solidFill>
                <a:latin typeface="Arial"/>
              </a:rPr>
              <a:t>on a rented Linux machine.</a:t>
            </a:r>
          </a:p>
          <a:p>
            <a:pPr algn="l">
              <a:lnSpc>
                <a:spcPct val="108000"/>
              </a:lnSpc>
              <a:spcBef>
                <a:spcPts val="0"/>
              </a:spcBef>
              <a:spcAft>
                <a:spcPts val="500"/>
              </a:spcAft>
            </a:pPr>
            <a:endParaRPr sz="1800" b="0">
              <a:solidFill>
                <a:srgbClr val="53677C"/>
              </a:solidFill>
              <a:latin typeface="Arial"/>
            </a:endParaRPr>
          </a:p>
          <a:p>
            <a:pPr algn="l">
              <a:lnSpc>
                <a:spcPct val="108000"/>
              </a:lnSpc>
              <a:spcBef>
                <a:spcPts val="0"/>
              </a:spcBef>
              <a:spcAft>
                <a:spcPts val="500"/>
              </a:spcAft>
            </a:pPr>
            <a:r>
              <a:rPr sz="1800" b="0">
                <a:solidFill>
                  <a:srgbClr val="53677C"/>
                </a:solidFill>
                <a:latin typeface="Arial"/>
              </a:rPr>
              <a:t>Private applications on</a:t>
            </a:r>
          </a:p>
          <a:p>
            <a:pPr algn="l">
              <a:lnSpc>
                <a:spcPct val="108000"/>
              </a:lnSpc>
              <a:spcBef>
                <a:spcPts val="0"/>
              </a:spcBef>
              <a:spcAft>
                <a:spcPts val="500"/>
              </a:spcAft>
            </a:pPr>
            <a:r>
              <a:rPr sz="1800" b="0">
                <a:solidFill>
                  <a:srgbClr val="53677C"/>
                </a:solidFill>
                <a:latin typeface="Arial"/>
              </a:rPr>
              <a:t>a host with a public IP.</a:t>
            </a:r>
          </a:p>
        </p:txBody>
      </p:sp>
      <p:sp>
        <p:nvSpPr>
          <p:cNvPr id="23" name="TextBox 22"/>
          <p:cNvSpPr txBox="1"/>
          <p:nvPr/>
        </p:nvSpPr>
        <p:spPr>
          <a:xfrm>
            <a:off x="640080" y="5925312"/>
            <a:ext cx="10881360" cy="292608"/>
          </a:xfrm>
          <a:prstGeom prst="rect">
            <a:avLst/>
          </a:prstGeom>
          <a:noFill/>
        </p:spPr>
        <p:txBody>
          <a:bodyPr wrap="square" lIns="0" tIns="0" rIns="0" bIns="0" anchor="t">
            <a:spAutoFit/>
          </a:bodyPr>
          <a:lstStyle/>
          <a:p>
            <a:pPr algn="l">
              <a:lnSpc>
                <a:spcPct val="108000"/>
              </a:lnSpc>
              <a:spcBef>
                <a:spcPts val="0"/>
              </a:spcBef>
              <a:spcAft>
                <a:spcPts val="500"/>
              </a:spcAft>
            </a:pPr>
            <a:r>
              <a:rPr sz="1500" b="0">
                <a:solidFill>
                  <a:srgbClr val="53677C"/>
                </a:solidFill>
                <a:latin typeface="Arial"/>
              </a:rPr>
              <a:t>Institutional production use requires additional security, resilience and operational validation.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91088" cy="201168"/>
          </a:xfrm>
          <a:prstGeom prst="rect">
            <a:avLst/>
          </a:prstGeom>
          <a:noFill/>
        </p:spPr>
        <p:txBody>
          <a:bodyPr wrap="square" lIns="0" tIns="0" rIns="0" bIns="0" anchor="t">
            <a:spAutoFit/>
          </a:bodyPr>
          <a:lstStyle/>
          <a:p>
            <a:pPr algn="l"/>
            <a:r>
              <a:rPr sz="1300" b="1" spc="180">
                <a:solidFill>
                  <a:srgbClr val="087F8C"/>
                </a:solidFill>
                <a:latin typeface="Arial"/>
              </a:rPr>
              <a:t>WHY SELF-HOST</a:t>
            </a:r>
          </a:p>
        </p:txBody>
      </p:sp>
      <p:sp>
        <p:nvSpPr>
          <p:cNvPr id="3" name="TextBox 2"/>
          <p:cNvSpPr txBox="1"/>
          <p:nvPr/>
        </p:nvSpPr>
        <p:spPr>
          <a:xfrm>
            <a:off x="566928" y="758952"/>
            <a:ext cx="11064240" cy="820000"/>
          </a:xfrm>
          <a:prstGeom prst="rect">
            <a:avLst/>
          </a:prstGeom>
          <a:noFill/>
        </p:spPr>
        <p:txBody>
          <a:bodyPr wrap="square" lIns="0" tIns="0" rIns="0" bIns="0" anchor="t">
            <a:spAutoFit/>
          </a:bodyPr>
          <a:lstStyle/>
          <a:p>
            <a:pPr algn="l"/>
            <a:r>
              <a:rPr sz="3000" b="1">
                <a:solidFill>
                  <a:srgbClr val="172C43"/>
                </a:solidFill>
                <a:latin typeface="Arial"/>
              </a:rPr>
              <a:t>Why not simply run this on a public cloud?</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r>
              <a:rPr sz="1500" b="0">
                <a:solidFill>
                  <a:srgbClr val="53677C"/>
                </a:solidFill>
                <a:latin typeface="Arial"/>
              </a:rPr>
              <a:t>Managed cloud suits many workloads; this project deliberately targets a different operating point.</a:t>
            </a:r>
          </a:p>
        </p:txBody>
      </p:sp>
      <p:sp>
        <p:nvSpPr>
          <p:cNvPr id="5" name="Rectangle 4"/>
          <p:cNvSpPr/>
          <p:nvPr/>
        </p:nvSpPr>
        <p:spPr>
          <a:xfrm>
            <a:off x="576072" y="6446520"/>
            <a:ext cx="11018520" cy="10972"/>
          </a:xfrm>
          <a:prstGeom prst="rect">
            <a:avLst/>
          </a:prstGeom>
          <a:solidFill>
            <a:srgbClr val="D6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r>
              <a:rPr sz="800" b="0" spc="12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r>
              <a:rPr sz="1200" b="1">
                <a:solidFill>
                  <a:srgbClr val="53677C"/>
                </a:solidFill>
                <a:latin typeface="Arial"/>
              </a:rPr>
              <a:t>05</a:t>
            </a:r>
          </a:p>
        </p:txBody>
      </p:sp>
      <p:sp>
        <p:nvSpPr>
          <p:cNvPr id="8" name="Rounded Rectangle 7"/>
          <p:cNvSpPr/>
          <p:nvPr/>
        </p:nvSpPr>
        <p:spPr>
          <a:xfrm>
            <a:off x="594360" y="2340000"/>
            <a:ext cx="5400000" cy="1840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340000"/>
            <a:ext cx="50292" cy="184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360" y="2490000"/>
            <a:ext cx="5040000" cy="430000"/>
          </a:xfrm>
          <a:prstGeom prst="rect">
            <a:avLst/>
          </a:prstGeom>
          <a:noFill/>
        </p:spPr>
        <p:txBody>
          <a:bodyPr wrap="square" lIns="0" tIns="0" rIns="0" bIns="0" anchor="t">
            <a:spAutoFit/>
          </a:bodyPr>
          <a:lstStyle/>
          <a:p>
            <a:pPr algn="l"/>
            <a:r>
              <a:rPr sz="1600" b="1">
                <a:solidFill>
                  <a:srgbClr val="172C43"/>
                </a:solidFill>
                <a:latin typeface="Arial"/>
              </a:rPr>
              <a:t>Cost &amp; economics</a:t>
            </a:r>
          </a:p>
        </p:txBody>
      </p:sp>
      <p:sp>
        <p:nvSpPr>
          <p:cNvPr id="11" name="TextBox 10"/>
          <p:cNvSpPr txBox="1"/>
          <p:nvPr/>
        </p:nvSpPr>
        <p:spPr>
          <a:xfrm>
            <a:off x="804360" y="2920000"/>
            <a:ext cx="5040000" cy="1220000"/>
          </a:xfrm>
          <a:prstGeom prst="rect">
            <a:avLst/>
          </a:prstGeom>
          <a:noFill/>
        </p:spPr>
        <p:txBody>
          <a:bodyPr wrap="square" lIns="0" tIns="0" rIns="0" bIns="0" anchor="t">
            <a:spAutoFit/>
          </a:bodyPr>
          <a:lstStyle/>
          <a:p>
            <a:pPr algn="l"/>
            <a:r>
              <a:rPr sz="1100" b="0">
                <a:solidFill>
                  <a:srgbClr val="53677C"/>
                </a:solidFill>
                <a:latin typeface="Arial"/>
              </a:rPr>
              <a:t>Managed Kubernetes adds recurring per-cluster control-plane fees, data-egress charges and per-service minimums. A single small always-on application can run on fixed, low-cost hardware the operator already owns.</a:t>
            </a:r>
          </a:p>
        </p:txBody>
      </p:sp>
      <p:sp>
        <p:nvSpPr>
          <p:cNvPr id="12" name="Rounded Rectangle 11"/>
          <p:cNvSpPr/>
          <p:nvPr/>
        </p:nvSpPr>
        <p:spPr>
          <a:xfrm>
            <a:off x="6190488" y="2340000"/>
            <a:ext cx="5400000" cy="1840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0488" y="2340000"/>
            <a:ext cx="50292" cy="184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488" y="2490000"/>
            <a:ext cx="5040000" cy="430000"/>
          </a:xfrm>
          <a:prstGeom prst="rect">
            <a:avLst/>
          </a:prstGeom>
          <a:noFill/>
        </p:spPr>
        <p:txBody>
          <a:bodyPr wrap="square" lIns="0" tIns="0" rIns="0" bIns="0" anchor="t">
            <a:spAutoFit/>
          </a:bodyPr>
          <a:lstStyle/>
          <a:p>
            <a:pPr algn="l"/>
            <a:r>
              <a:rPr sz="1600" b="1">
                <a:solidFill>
                  <a:srgbClr val="172C43"/>
                </a:solidFill>
                <a:latin typeface="Arial"/>
              </a:rPr>
              <a:t>Data sovereignty</a:t>
            </a:r>
          </a:p>
        </p:txBody>
      </p:sp>
      <p:sp>
        <p:nvSpPr>
          <p:cNvPr id="15" name="TextBox 14"/>
          <p:cNvSpPr txBox="1"/>
          <p:nvPr/>
        </p:nvSpPr>
        <p:spPr>
          <a:xfrm>
            <a:off x="6400488" y="2920000"/>
            <a:ext cx="5040000" cy="1220000"/>
          </a:xfrm>
          <a:prstGeom prst="rect">
            <a:avLst/>
          </a:prstGeom>
          <a:noFill/>
        </p:spPr>
        <p:txBody>
          <a:bodyPr wrap="square" lIns="0" tIns="0" rIns="0" bIns="0" anchor="t">
            <a:spAutoFit/>
          </a:bodyPr>
          <a:lstStyle/>
          <a:p>
            <a:pPr algn="l"/>
            <a:r>
              <a:rPr sz="1100" b="0">
                <a:solidFill>
                  <a:srgbClr val="53677C"/>
                </a:solidFill>
                <a:latin typeface="Arial"/>
              </a:rPr>
              <a:t>Applications and their data remain on infrastructure the administrator controls — the enabling condition for the institutional internal-network use case, where public reachability may be neither needed nor permitted.</a:t>
            </a:r>
          </a:p>
        </p:txBody>
      </p:sp>
      <p:sp>
        <p:nvSpPr>
          <p:cNvPr id="16" name="Rounded Rectangle 15"/>
          <p:cNvSpPr/>
          <p:nvPr/>
        </p:nvSpPr>
        <p:spPr>
          <a:xfrm>
            <a:off x="594360" y="4330000"/>
            <a:ext cx="5400000" cy="1840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4330000"/>
            <a:ext cx="50292" cy="184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360" y="4480000"/>
            <a:ext cx="5040000" cy="430000"/>
          </a:xfrm>
          <a:prstGeom prst="rect">
            <a:avLst/>
          </a:prstGeom>
          <a:noFill/>
        </p:spPr>
        <p:txBody>
          <a:bodyPr wrap="square" lIns="0" tIns="0" rIns="0" bIns="0" anchor="t">
            <a:spAutoFit/>
          </a:bodyPr>
          <a:lstStyle/>
          <a:p>
            <a:pPr algn="l"/>
            <a:r>
              <a:rPr sz="1600" b="1">
                <a:solidFill>
                  <a:srgbClr val="172C43"/>
                </a:solidFill>
                <a:latin typeface="Arial"/>
              </a:rPr>
              <a:t>No vendor lock-in</a:t>
            </a:r>
          </a:p>
        </p:txBody>
      </p:sp>
      <p:sp>
        <p:nvSpPr>
          <p:cNvPr id="19" name="TextBox 18"/>
          <p:cNvSpPr txBox="1"/>
          <p:nvPr/>
        </p:nvSpPr>
        <p:spPr>
          <a:xfrm>
            <a:off x="804360" y="4910000"/>
            <a:ext cx="5040000" cy="1220000"/>
          </a:xfrm>
          <a:prstGeom prst="rect">
            <a:avLst/>
          </a:prstGeom>
          <a:noFill/>
        </p:spPr>
        <p:txBody>
          <a:bodyPr wrap="square" lIns="0" tIns="0" rIns="0" bIns="0" anchor="t">
            <a:spAutoFit/>
          </a:bodyPr>
          <a:lstStyle/>
          <a:p>
            <a:pPr algn="l"/>
            <a:r>
              <a:rPr sz="1100" b="0">
                <a:solidFill>
                  <a:srgbClr val="53677C"/>
                </a:solidFill>
                <a:latin typeface="Arial"/>
              </a:rPr>
              <a:t>One application model across a Raspberry Pi, a rented Linux VPS and institutional hardware, without re-architecting around a specific provider's managed services [5, 11].</a:t>
            </a:r>
          </a:p>
        </p:txBody>
      </p:sp>
      <p:sp>
        <p:nvSpPr>
          <p:cNvPr id="20" name="Rounded Rectangle 19"/>
          <p:cNvSpPr/>
          <p:nvPr/>
        </p:nvSpPr>
        <p:spPr>
          <a:xfrm>
            <a:off x="6190488" y="4330000"/>
            <a:ext cx="5400000" cy="1840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90488" y="4330000"/>
            <a:ext cx="50292" cy="184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488" y="4480000"/>
            <a:ext cx="5040000" cy="430000"/>
          </a:xfrm>
          <a:prstGeom prst="rect">
            <a:avLst/>
          </a:prstGeom>
          <a:noFill/>
        </p:spPr>
        <p:txBody>
          <a:bodyPr wrap="square" lIns="0" tIns="0" rIns="0" bIns="0" anchor="t">
            <a:spAutoFit/>
          </a:bodyPr>
          <a:lstStyle/>
          <a:p>
            <a:pPr algn="l"/>
            <a:r>
              <a:rPr sz="1600" b="1">
                <a:solidFill>
                  <a:srgbClr val="172C43"/>
                </a:solidFill>
                <a:latin typeface="Arial"/>
              </a:rPr>
              <a:t>Operational transparency</a:t>
            </a:r>
          </a:p>
        </p:txBody>
      </p:sp>
      <p:sp>
        <p:nvSpPr>
          <p:cNvPr id="23" name="TextBox 22"/>
          <p:cNvSpPr txBox="1"/>
          <p:nvPr/>
        </p:nvSpPr>
        <p:spPr>
          <a:xfrm>
            <a:off x="6400488" y="4910000"/>
            <a:ext cx="5040000" cy="1220000"/>
          </a:xfrm>
          <a:prstGeom prst="rect">
            <a:avLst/>
          </a:prstGeom>
          <a:noFill/>
        </p:spPr>
        <p:txBody>
          <a:bodyPr wrap="square" lIns="0" tIns="0" rIns="0" bIns="0" anchor="t">
            <a:spAutoFit/>
          </a:bodyPr>
          <a:lstStyle/>
          <a:p>
            <a:pPr algn="l"/>
            <a:r>
              <a:rPr sz="1100" b="0">
                <a:solidFill>
                  <a:srgbClr val="53677C"/>
                </a:solidFill>
                <a:latin typeface="Arial"/>
              </a:rPr>
              <a:t>The whole stack is observable and controllable. That transparency is also what makes the thesis's measured, reproducible evaluation possible [4, 9].</a:t>
            </a:r>
          </a:p>
        </p:txBody>
      </p:sp>
      <p:sp>
        <p:nvSpPr>
          <p:cNvPr id="24" name="TextBox 23"/>
          <p:cNvSpPr txBox="1"/>
          <p:nvPr/>
        </p:nvSpPr>
        <p:spPr>
          <a:xfrm>
            <a:off x="594360" y="6210000"/>
            <a:ext cx="10991088" cy="200000"/>
          </a:xfrm>
          <a:prstGeom prst="rect">
            <a:avLst/>
          </a:prstGeom>
          <a:noFill/>
        </p:spPr>
        <p:txBody>
          <a:bodyPr wrap="square" lIns="0" tIns="0" rIns="0" bIns="0" anchor="t">
            <a:spAutoFit/>
          </a:bodyPr>
          <a:lstStyle/>
          <a:p>
            <a:pPr algn="l"/>
            <a:r>
              <a:rPr sz="1100" b="0">
                <a:solidFill>
                  <a:srgbClr val="53677C"/>
                </a:solidFill>
                <a:latin typeface="Arial"/>
              </a:rPr>
              <a:t>Cloud is not rejected — it is the right tool at larger scale; this work studies the small, operator-controlled case.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STATE OF THE ART</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172C43"/>
                </a:solidFill>
                <a:latin typeface="Arial"/>
              </a:rPr>
              <a:t>Existing platforms address overlapping needs</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lnSpc>
                <a:spcPct val="108000"/>
              </a:lnSpc>
              <a:spcBef>
                <a:spcPts val="0"/>
              </a:spcBef>
              <a:spcAft>
                <a:spcPts val="500"/>
              </a:spcAft>
            </a:pPr>
            <a:r>
              <a:rPr sz="1600" b="0">
                <a:solidFill>
                  <a:srgbClr val="53677C"/>
                </a:solidFill>
                <a:latin typeface="Arial"/>
              </a:rPr>
              <a:t>The project builds on established ideas and narrows the operating scope.</a:t>
            </a:r>
          </a:p>
        </p:txBody>
      </p:sp>
      <p:sp>
        <p:nvSpPr>
          <p:cNvPr id="5" name="Rectangle 4"/>
          <p:cNvSpPr/>
          <p:nvPr/>
        </p:nvSpPr>
        <p:spPr>
          <a:xfrm>
            <a:off x="576072" y="6446520"/>
            <a:ext cx="11018520" cy="10972"/>
          </a:xfrm>
          <a:prstGeom prst="rect">
            <a:avLst/>
          </a:prstGeom>
          <a:solidFill>
            <a:srgbClr val="D6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53677C"/>
                </a:solidFill>
                <a:latin typeface="Arial"/>
              </a:rPr>
              <a:t>06</a:t>
            </a:r>
          </a:p>
        </p:txBody>
      </p:sp>
      <p:sp>
        <p:nvSpPr>
          <p:cNvPr id="8" name="TextBox 7"/>
          <p:cNvSpPr txBox="1"/>
          <p:nvPr/>
        </p:nvSpPr>
        <p:spPr>
          <a:xfrm>
            <a:off x="594360" y="6172200"/>
            <a:ext cx="10789920" cy="182880"/>
          </a:xfrm>
          <a:prstGeom prst="rect">
            <a:avLst/>
          </a:prstGeom>
          <a:noFill/>
        </p:spPr>
        <p:txBody>
          <a:bodyPr wrap="square" lIns="0" tIns="0" rIns="0" bIns="0" anchor="t">
            <a:spAutoFit/>
          </a:bodyPr>
          <a:lstStyle/>
          <a:p>
            <a:pPr algn="l">
              <a:lnSpc>
                <a:spcPct val="108000"/>
              </a:lnSpc>
              <a:spcBef>
                <a:spcPts val="0"/>
              </a:spcBef>
              <a:spcAft>
                <a:spcPts val="500"/>
              </a:spcAft>
            </a:pPr>
            <a:r>
              <a:rPr sz="950" b="0" dirty="0">
                <a:solidFill>
                  <a:srgbClr val="53677C"/>
                </a:solidFill>
                <a:latin typeface="Arial"/>
              </a:rPr>
              <a:t>Official documentation: Kubernetes [1], K3s [2], </a:t>
            </a:r>
            <a:r>
              <a:rPr sz="950" b="0" dirty="0" err="1">
                <a:solidFill>
                  <a:srgbClr val="53677C"/>
                </a:solidFill>
                <a:latin typeface="Arial"/>
              </a:rPr>
              <a:t>Coolify</a:t>
            </a:r>
            <a:r>
              <a:rPr sz="950" b="0" dirty="0">
                <a:solidFill>
                  <a:srgbClr val="53677C"/>
                </a:solidFill>
                <a:latin typeface="Arial"/>
              </a:rPr>
              <a:t> [3], </a:t>
            </a:r>
            <a:r>
              <a:rPr sz="950" b="0" dirty="0" err="1">
                <a:solidFill>
                  <a:srgbClr val="53677C"/>
                </a:solidFill>
                <a:latin typeface="Arial"/>
              </a:rPr>
              <a:t>Portainer</a:t>
            </a:r>
            <a:r>
              <a:rPr sz="950" b="0" dirty="0">
                <a:solidFill>
                  <a:srgbClr val="53677C"/>
                </a:solidFill>
                <a:latin typeface="Arial"/>
              </a:rPr>
              <a:t> [4], OpenShift [5]. References on slide 13.</a:t>
            </a:r>
          </a:p>
        </p:txBody>
      </p:sp>
      <p:sp>
        <p:nvSpPr>
          <p:cNvPr id="9" name="Rounded Rectangle 8"/>
          <p:cNvSpPr/>
          <p:nvPr/>
        </p:nvSpPr>
        <p:spPr>
          <a:xfrm>
            <a:off x="594360" y="2331720"/>
            <a:ext cx="11000232" cy="438912"/>
          </a:xfrm>
          <a:prstGeom prst="roundRect">
            <a:avLst>
              <a:gd name="adj" fmla="val 12000"/>
            </a:avLst>
          </a:prstGeom>
          <a:solidFill>
            <a:srgbClr val="17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441448"/>
            <a:ext cx="2743200" cy="201168"/>
          </a:xfrm>
          <a:prstGeom prst="rect">
            <a:avLst/>
          </a:prstGeom>
          <a:noFill/>
        </p:spPr>
        <p:txBody>
          <a:bodyPr wrap="square" lIns="0" tIns="0" rIns="0" bIns="0" anchor="t">
            <a:spAutoFit/>
          </a:bodyPr>
          <a:lstStyle/>
          <a:p>
            <a:pPr algn="l">
              <a:lnSpc>
                <a:spcPct val="108000"/>
              </a:lnSpc>
              <a:spcBef>
                <a:spcPts val="0"/>
              </a:spcBef>
              <a:spcAft>
                <a:spcPts val="500"/>
              </a:spcAft>
            </a:pPr>
            <a:r>
              <a:rPr sz="1200" b="1">
                <a:solidFill>
                  <a:srgbClr val="FFFFFF"/>
                </a:solidFill>
                <a:latin typeface="Arial"/>
              </a:rPr>
              <a:t>APPROACH</a:t>
            </a:r>
          </a:p>
        </p:txBody>
      </p:sp>
      <p:sp>
        <p:nvSpPr>
          <p:cNvPr id="11" name="TextBox 10"/>
          <p:cNvSpPr txBox="1"/>
          <p:nvPr/>
        </p:nvSpPr>
        <p:spPr>
          <a:xfrm>
            <a:off x="3703320" y="2441448"/>
            <a:ext cx="7498079" cy="201168"/>
          </a:xfrm>
          <a:prstGeom prst="rect">
            <a:avLst/>
          </a:prstGeom>
          <a:noFill/>
        </p:spPr>
        <p:txBody>
          <a:bodyPr wrap="square" lIns="0" tIns="0" rIns="0" bIns="0" anchor="t">
            <a:spAutoFit/>
          </a:bodyPr>
          <a:lstStyle/>
          <a:p>
            <a:pPr algn="l">
              <a:lnSpc>
                <a:spcPct val="108000"/>
              </a:lnSpc>
              <a:spcBef>
                <a:spcPts val="0"/>
              </a:spcBef>
              <a:spcAft>
                <a:spcPts val="500"/>
              </a:spcAft>
            </a:pPr>
            <a:r>
              <a:rPr sz="1200" b="1">
                <a:solidFill>
                  <a:srgbClr val="FFFFFF"/>
                </a:solidFill>
                <a:latin typeface="Arial"/>
              </a:rPr>
              <a:t>MAIN EMPHASIS</a:t>
            </a:r>
          </a:p>
        </p:txBody>
      </p:sp>
      <p:sp>
        <p:nvSpPr>
          <p:cNvPr id="12" name="Rounded Rectangle 11"/>
          <p:cNvSpPr/>
          <p:nvPr/>
        </p:nvSpPr>
        <p:spPr>
          <a:xfrm>
            <a:off x="594360" y="2852928"/>
            <a:ext cx="11000232" cy="58521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008376"/>
            <a:ext cx="2862072" cy="292608"/>
          </a:xfrm>
          <a:prstGeom prst="rect">
            <a:avLst/>
          </a:prstGeom>
          <a:noFill/>
        </p:spPr>
        <p:txBody>
          <a:bodyPr wrap="square" lIns="0" tIns="0" rIns="0" bIns="0" anchor="t">
            <a:spAutoFit/>
          </a:bodyPr>
          <a:lstStyle/>
          <a:p>
            <a:pPr algn="l">
              <a:lnSpc>
                <a:spcPct val="108000"/>
              </a:lnSpc>
              <a:spcBef>
                <a:spcPts val="0"/>
              </a:spcBef>
              <a:spcAft>
                <a:spcPts val="500"/>
              </a:spcAft>
            </a:pPr>
            <a:r>
              <a:rPr sz="1800" b="1" dirty="0">
                <a:solidFill>
                  <a:srgbClr val="172C43"/>
                </a:solidFill>
                <a:latin typeface="Arial"/>
              </a:rPr>
              <a:t>Kubernetes / K3s [1, 2]</a:t>
            </a:r>
          </a:p>
        </p:txBody>
      </p:sp>
      <p:sp>
        <p:nvSpPr>
          <p:cNvPr id="14" name="TextBox 13"/>
          <p:cNvSpPr txBox="1"/>
          <p:nvPr/>
        </p:nvSpPr>
        <p:spPr>
          <a:xfrm>
            <a:off x="3703320" y="3008376"/>
            <a:ext cx="7498079" cy="329184"/>
          </a:xfrm>
          <a:prstGeom prst="rect">
            <a:avLst/>
          </a:prstGeom>
          <a:noFill/>
        </p:spPr>
        <p:txBody>
          <a:bodyPr wrap="square" lIns="0" tIns="0" rIns="0" bIns="0" anchor="t">
            <a:spAutoFit/>
          </a:bodyPr>
          <a:lstStyle/>
          <a:p>
            <a:pPr algn="l">
              <a:lnSpc>
                <a:spcPct val="108000"/>
              </a:lnSpc>
              <a:spcBef>
                <a:spcPts val="0"/>
              </a:spcBef>
              <a:spcAft>
                <a:spcPts val="500"/>
              </a:spcAft>
            </a:pPr>
            <a:r>
              <a:rPr sz="1900" b="0" dirty="0">
                <a:solidFill>
                  <a:srgbClr val="172C43"/>
                </a:solidFill>
                <a:latin typeface="Arial"/>
              </a:rPr>
              <a:t>Orchestration and packaged cluster building blocks</a:t>
            </a:r>
          </a:p>
        </p:txBody>
      </p:sp>
      <p:sp>
        <p:nvSpPr>
          <p:cNvPr id="15" name="Rounded Rectangle 14"/>
          <p:cNvSpPr/>
          <p:nvPr/>
        </p:nvSpPr>
        <p:spPr>
          <a:xfrm>
            <a:off x="594360" y="3520440"/>
            <a:ext cx="11000232" cy="585216"/>
          </a:xfrm>
          <a:prstGeom prst="roundRect">
            <a:avLst>
              <a:gd name="adj" fmla="val 12000"/>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675888"/>
            <a:ext cx="2862072" cy="292608"/>
          </a:xfrm>
          <a:prstGeom prst="rect">
            <a:avLst/>
          </a:prstGeom>
          <a:noFill/>
        </p:spPr>
        <p:txBody>
          <a:bodyPr wrap="square" lIns="0" tIns="0" rIns="0" bIns="0" anchor="t">
            <a:spAutoFit/>
          </a:bodyPr>
          <a:lstStyle/>
          <a:p>
            <a:pPr algn="l">
              <a:lnSpc>
                <a:spcPct val="108000"/>
              </a:lnSpc>
              <a:spcBef>
                <a:spcPts val="0"/>
              </a:spcBef>
              <a:spcAft>
                <a:spcPts val="500"/>
              </a:spcAft>
            </a:pPr>
            <a:r>
              <a:rPr sz="1800" b="1" dirty="0" err="1">
                <a:solidFill>
                  <a:srgbClr val="172C43"/>
                </a:solidFill>
                <a:latin typeface="Arial"/>
              </a:rPr>
              <a:t>Coolify</a:t>
            </a:r>
            <a:r>
              <a:rPr sz="1800" b="1" dirty="0">
                <a:solidFill>
                  <a:srgbClr val="172C43"/>
                </a:solidFill>
                <a:latin typeface="Arial"/>
              </a:rPr>
              <a:t> [3]</a:t>
            </a:r>
          </a:p>
        </p:txBody>
      </p:sp>
      <p:sp>
        <p:nvSpPr>
          <p:cNvPr id="17" name="TextBox 16"/>
          <p:cNvSpPr txBox="1"/>
          <p:nvPr/>
        </p:nvSpPr>
        <p:spPr>
          <a:xfrm>
            <a:off x="3703320" y="3675888"/>
            <a:ext cx="7498079" cy="329184"/>
          </a:xfrm>
          <a:prstGeom prst="rect">
            <a:avLst/>
          </a:prstGeom>
          <a:noFill/>
        </p:spPr>
        <p:txBody>
          <a:bodyPr wrap="square" lIns="0" tIns="0" rIns="0" bIns="0" anchor="t">
            <a:spAutoFit/>
          </a:bodyPr>
          <a:lstStyle/>
          <a:p>
            <a:pPr algn="l">
              <a:lnSpc>
                <a:spcPct val="108000"/>
              </a:lnSpc>
              <a:spcBef>
                <a:spcPts val="0"/>
              </a:spcBef>
              <a:spcAft>
                <a:spcPts val="500"/>
              </a:spcAft>
            </a:pPr>
            <a:r>
              <a:rPr sz="1900" b="0" dirty="0">
                <a:solidFill>
                  <a:srgbClr val="172C43"/>
                </a:solidFill>
                <a:latin typeface="Arial"/>
              </a:rPr>
              <a:t>Application delivery on operator-controlled Docker hosts</a:t>
            </a:r>
          </a:p>
        </p:txBody>
      </p:sp>
      <p:sp>
        <p:nvSpPr>
          <p:cNvPr id="18" name="Rounded Rectangle 17"/>
          <p:cNvSpPr/>
          <p:nvPr/>
        </p:nvSpPr>
        <p:spPr>
          <a:xfrm>
            <a:off x="594360" y="4187952"/>
            <a:ext cx="11000232" cy="58521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343400"/>
            <a:ext cx="2862072" cy="292608"/>
          </a:xfrm>
          <a:prstGeom prst="rect">
            <a:avLst/>
          </a:prstGeom>
          <a:noFill/>
        </p:spPr>
        <p:txBody>
          <a:bodyPr wrap="square" lIns="0" tIns="0" rIns="0" bIns="0" anchor="t">
            <a:spAutoFit/>
          </a:bodyPr>
          <a:lstStyle/>
          <a:p>
            <a:pPr algn="l">
              <a:lnSpc>
                <a:spcPct val="108000"/>
              </a:lnSpc>
              <a:spcBef>
                <a:spcPts val="0"/>
              </a:spcBef>
              <a:spcAft>
                <a:spcPts val="500"/>
              </a:spcAft>
            </a:pPr>
            <a:r>
              <a:rPr sz="1800" b="1">
                <a:solidFill>
                  <a:srgbClr val="172C43"/>
                </a:solidFill>
                <a:latin typeface="Arial"/>
              </a:rPr>
              <a:t>Portainer [4]</a:t>
            </a:r>
          </a:p>
        </p:txBody>
      </p:sp>
      <p:sp>
        <p:nvSpPr>
          <p:cNvPr id="20" name="TextBox 19"/>
          <p:cNvSpPr txBox="1"/>
          <p:nvPr/>
        </p:nvSpPr>
        <p:spPr>
          <a:xfrm>
            <a:off x="3703320" y="4343400"/>
            <a:ext cx="7498079" cy="329184"/>
          </a:xfrm>
          <a:prstGeom prst="rect">
            <a:avLst/>
          </a:prstGeom>
          <a:noFill/>
        </p:spPr>
        <p:txBody>
          <a:bodyPr wrap="square" lIns="0" tIns="0" rIns="0" bIns="0" anchor="t">
            <a:spAutoFit/>
          </a:bodyPr>
          <a:lstStyle/>
          <a:p>
            <a:pPr algn="l">
              <a:lnSpc>
                <a:spcPct val="108000"/>
              </a:lnSpc>
              <a:spcBef>
                <a:spcPts val="0"/>
              </a:spcBef>
              <a:spcAft>
                <a:spcPts val="500"/>
              </a:spcAft>
            </a:pPr>
            <a:r>
              <a:rPr sz="1900" b="0">
                <a:solidFill>
                  <a:srgbClr val="172C43"/>
                </a:solidFill>
                <a:latin typeface="Arial"/>
              </a:rPr>
              <a:t>Visual container and Kubernetes management</a:t>
            </a:r>
          </a:p>
        </p:txBody>
      </p:sp>
      <p:sp>
        <p:nvSpPr>
          <p:cNvPr id="21" name="Rounded Rectangle 20"/>
          <p:cNvSpPr/>
          <p:nvPr/>
        </p:nvSpPr>
        <p:spPr>
          <a:xfrm>
            <a:off x="594360" y="4855464"/>
            <a:ext cx="11000232" cy="585216"/>
          </a:xfrm>
          <a:prstGeom prst="roundRect">
            <a:avLst>
              <a:gd name="adj" fmla="val 12000"/>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5010912"/>
            <a:ext cx="2862072" cy="292608"/>
          </a:xfrm>
          <a:prstGeom prst="rect">
            <a:avLst/>
          </a:prstGeom>
          <a:noFill/>
        </p:spPr>
        <p:txBody>
          <a:bodyPr wrap="square" lIns="0" tIns="0" rIns="0" bIns="0" anchor="t">
            <a:spAutoFit/>
          </a:bodyPr>
          <a:lstStyle/>
          <a:p>
            <a:pPr algn="l">
              <a:lnSpc>
                <a:spcPct val="108000"/>
              </a:lnSpc>
              <a:spcBef>
                <a:spcPts val="0"/>
              </a:spcBef>
              <a:spcAft>
                <a:spcPts val="500"/>
              </a:spcAft>
            </a:pPr>
            <a:r>
              <a:rPr sz="1800" b="1">
                <a:solidFill>
                  <a:srgbClr val="172C43"/>
                </a:solidFill>
                <a:latin typeface="Arial"/>
              </a:rPr>
              <a:t>OpenShift [5]</a:t>
            </a:r>
          </a:p>
        </p:txBody>
      </p:sp>
      <p:sp>
        <p:nvSpPr>
          <p:cNvPr id="23" name="TextBox 22"/>
          <p:cNvSpPr txBox="1"/>
          <p:nvPr/>
        </p:nvSpPr>
        <p:spPr>
          <a:xfrm>
            <a:off x="3703320" y="5010912"/>
            <a:ext cx="7498079" cy="329184"/>
          </a:xfrm>
          <a:prstGeom prst="rect">
            <a:avLst/>
          </a:prstGeom>
          <a:noFill/>
        </p:spPr>
        <p:txBody>
          <a:bodyPr wrap="square" lIns="0" tIns="0" rIns="0" bIns="0" anchor="t">
            <a:spAutoFit/>
          </a:bodyPr>
          <a:lstStyle/>
          <a:p>
            <a:pPr algn="l">
              <a:lnSpc>
                <a:spcPct val="108000"/>
              </a:lnSpc>
              <a:spcBef>
                <a:spcPts val="0"/>
              </a:spcBef>
              <a:spcAft>
                <a:spcPts val="500"/>
              </a:spcAft>
            </a:pPr>
            <a:r>
              <a:rPr sz="1900" b="0">
                <a:solidFill>
                  <a:srgbClr val="172C43"/>
                </a:solidFill>
                <a:latin typeface="Arial"/>
              </a:rPr>
              <a:t>Broad enterprise Kubernetes application platform</a:t>
            </a:r>
          </a:p>
        </p:txBody>
      </p:sp>
      <p:sp>
        <p:nvSpPr>
          <p:cNvPr id="24" name="TextBox 23"/>
          <p:cNvSpPr txBox="1"/>
          <p:nvPr/>
        </p:nvSpPr>
        <p:spPr>
          <a:xfrm>
            <a:off x="777240" y="5696712"/>
            <a:ext cx="10515600" cy="320040"/>
          </a:xfrm>
          <a:prstGeom prst="rect">
            <a:avLst/>
          </a:prstGeom>
          <a:noFill/>
        </p:spPr>
        <p:txBody>
          <a:bodyPr wrap="square" lIns="0" tIns="0" rIns="0" bIns="0" anchor="t">
            <a:spAutoFit/>
          </a:bodyPr>
          <a:lstStyle/>
          <a:p>
            <a:pPr algn="l">
              <a:lnSpc>
                <a:spcPct val="108000"/>
              </a:lnSpc>
              <a:spcBef>
                <a:spcPts val="0"/>
              </a:spcBef>
              <a:spcAft>
                <a:spcPts val="500"/>
              </a:spcAft>
            </a:pPr>
            <a:r>
              <a:rPr sz="2100" b="1">
                <a:solidFill>
                  <a:srgbClr val="087F8C"/>
                </a:solidFill>
                <a:latin typeface="Arial"/>
              </a:rPr>
              <a:t>Self-hosting and a deployment UI are established capabilities.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91088" cy="201168"/>
          </a:xfrm>
          <a:prstGeom prst="rect">
            <a:avLst/>
          </a:prstGeom>
          <a:noFill/>
        </p:spPr>
        <p:txBody>
          <a:bodyPr wrap="square" lIns="0" tIns="0" rIns="0" bIns="0" anchor="t">
            <a:spAutoFit/>
          </a:bodyPr>
          <a:lstStyle/>
          <a:p>
            <a:pPr algn="l"/>
            <a:r>
              <a:rPr sz="1300" b="1" spc="180">
                <a:solidFill>
                  <a:srgbClr val="087F8C"/>
                </a:solidFill>
                <a:latin typeface="Arial"/>
              </a:rPr>
              <a:t>STATE OF THE ART · COMPARISON</a:t>
            </a:r>
          </a:p>
        </p:txBody>
      </p:sp>
      <p:sp>
        <p:nvSpPr>
          <p:cNvPr id="3" name="TextBox 2"/>
          <p:cNvSpPr txBox="1"/>
          <p:nvPr/>
        </p:nvSpPr>
        <p:spPr>
          <a:xfrm>
            <a:off x="566928" y="758952"/>
            <a:ext cx="11064240" cy="820000"/>
          </a:xfrm>
          <a:prstGeom prst="rect">
            <a:avLst/>
          </a:prstGeom>
          <a:noFill/>
        </p:spPr>
        <p:txBody>
          <a:bodyPr wrap="square" lIns="0" tIns="0" rIns="0" bIns="0" anchor="t">
            <a:spAutoFit/>
          </a:bodyPr>
          <a:lstStyle/>
          <a:p>
            <a:pPr algn="l"/>
            <a:r>
              <a:rPr sz="3000" b="1">
                <a:solidFill>
                  <a:srgbClr val="172C43"/>
                </a:solidFill>
                <a:latin typeface="Arial"/>
              </a:rPr>
              <a:t>How existing solutions compare on scope</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r>
              <a:rPr sz="1500" b="0">
                <a:solidFill>
                  <a:srgbClr val="53677C"/>
                </a:solidFill>
                <a:latin typeface="Arial"/>
              </a:rPr>
              <a:t>The project reuses established building blocks and occupies a deliberately narrow, measurable niche.</a:t>
            </a:r>
          </a:p>
        </p:txBody>
      </p:sp>
      <p:sp>
        <p:nvSpPr>
          <p:cNvPr id="5" name="Rectangle 4"/>
          <p:cNvSpPr/>
          <p:nvPr/>
        </p:nvSpPr>
        <p:spPr>
          <a:xfrm>
            <a:off x="576072" y="6446520"/>
            <a:ext cx="11018520" cy="10972"/>
          </a:xfrm>
          <a:prstGeom prst="rect">
            <a:avLst/>
          </a:prstGeom>
          <a:solidFill>
            <a:srgbClr val="D6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r>
              <a:rPr sz="800" b="0" spc="12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r>
              <a:rPr sz="1200" b="1">
                <a:solidFill>
                  <a:srgbClr val="53677C"/>
                </a:solidFill>
                <a:latin typeface="Arial"/>
              </a:rPr>
              <a:t>07</a:t>
            </a:r>
          </a:p>
        </p:txBody>
      </p:sp>
      <p:sp>
        <p:nvSpPr>
          <p:cNvPr id="8" name="Rectangle 7"/>
          <p:cNvSpPr/>
          <p:nvPr/>
        </p:nvSpPr>
        <p:spPr>
          <a:xfrm>
            <a:off x="594360" y="2360000"/>
            <a:ext cx="3200000" cy="740000"/>
          </a:xfrm>
          <a:prstGeom prst="rect">
            <a:avLst/>
          </a:prstGeom>
          <a:solidFill>
            <a:srgbClr val="17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4360" y="2420000"/>
            <a:ext cx="3080000" cy="620000"/>
          </a:xfrm>
          <a:prstGeom prst="rect">
            <a:avLst/>
          </a:prstGeom>
          <a:noFill/>
        </p:spPr>
        <p:txBody>
          <a:bodyPr wrap="square" lIns="0" tIns="0" rIns="0" bIns="0" anchor="ctr">
            <a:spAutoFit/>
          </a:bodyPr>
          <a:lstStyle/>
          <a:p>
            <a:pPr algn="ctr"/>
            <a:endParaRPr/>
          </a:p>
        </p:txBody>
      </p:sp>
      <p:sp>
        <p:nvSpPr>
          <p:cNvPr id="10" name="Rectangle 9"/>
          <p:cNvSpPr/>
          <p:nvPr/>
        </p:nvSpPr>
        <p:spPr>
          <a:xfrm>
            <a:off x="3794360" y="2360000"/>
            <a:ext cx="1300000" cy="740000"/>
          </a:xfrm>
          <a:prstGeom prst="rect">
            <a:avLst/>
          </a:prstGeom>
          <a:solidFill>
            <a:srgbClr val="17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54360" y="2420000"/>
            <a:ext cx="1180000" cy="620000"/>
          </a:xfrm>
          <a:prstGeom prst="rect">
            <a:avLst/>
          </a:prstGeom>
          <a:noFill/>
        </p:spPr>
        <p:txBody>
          <a:bodyPr wrap="square" lIns="0" tIns="0" rIns="0" bIns="0" anchor="ctr">
            <a:spAutoFit/>
          </a:bodyPr>
          <a:lstStyle/>
          <a:p>
            <a:pPr algn="ctr"/>
            <a:r>
              <a:rPr sz="1000" b="1">
                <a:solidFill>
                  <a:srgbClr val="FFFFFF"/>
                </a:solidFill>
                <a:latin typeface="Arial"/>
              </a:rPr>
              <a:t>Self-host</a:t>
            </a:r>
          </a:p>
        </p:txBody>
      </p:sp>
      <p:sp>
        <p:nvSpPr>
          <p:cNvPr id="12" name="Rectangle 11"/>
          <p:cNvSpPr/>
          <p:nvPr/>
        </p:nvSpPr>
        <p:spPr>
          <a:xfrm>
            <a:off x="5094360" y="2360000"/>
            <a:ext cx="1300000" cy="740000"/>
          </a:xfrm>
          <a:prstGeom prst="rect">
            <a:avLst/>
          </a:prstGeom>
          <a:solidFill>
            <a:srgbClr val="17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54360" y="2420000"/>
            <a:ext cx="1180000" cy="620000"/>
          </a:xfrm>
          <a:prstGeom prst="rect">
            <a:avLst/>
          </a:prstGeom>
          <a:noFill/>
        </p:spPr>
        <p:txBody>
          <a:bodyPr wrap="square" lIns="0" tIns="0" rIns="0" bIns="0" anchor="ctr">
            <a:spAutoFit/>
          </a:bodyPr>
          <a:lstStyle/>
          <a:p>
            <a:pPr algn="ctr"/>
            <a:r>
              <a:rPr sz="1000" b="1">
                <a:solidFill>
                  <a:srgbClr val="FFFFFF"/>
                </a:solidFill>
                <a:latin typeface="Arial"/>
              </a:rPr>
              <a:t>Deploy UI</a:t>
            </a:r>
          </a:p>
        </p:txBody>
      </p:sp>
      <p:sp>
        <p:nvSpPr>
          <p:cNvPr id="14" name="Rectangle 13"/>
          <p:cNvSpPr/>
          <p:nvPr/>
        </p:nvSpPr>
        <p:spPr>
          <a:xfrm>
            <a:off x="6394360" y="2360000"/>
            <a:ext cx="1750000" cy="740000"/>
          </a:xfrm>
          <a:prstGeom prst="rect">
            <a:avLst/>
          </a:prstGeom>
          <a:solidFill>
            <a:srgbClr val="17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54360" y="2420000"/>
            <a:ext cx="1630000" cy="620000"/>
          </a:xfrm>
          <a:prstGeom prst="rect">
            <a:avLst/>
          </a:prstGeom>
          <a:noFill/>
        </p:spPr>
        <p:txBody>
          <a:bodyPr wrap="square" lIns="0" tIns="0" rIns="0" bIns="0" anchor="ctr">
            <a:spAutoFit/>
          </a:bodyPr>
          <a:lstStyle/>
          <a:p>
            <a:pPr algn="ctr"/>
            <a:r>
              <a:rPr sz="1000" b="1">
                <a:solidFill>
                  <a:srgbClr val="FFFFFF"/>
                </a:solidFill>
                <a:latin typeface="Arial"/>
              </a:rPr>
              <a:t>Narrow</a:t>
            </a:r>
          </a:p>
          <a:p>
            <a:pPr algn="ctr"/>
            <a:r>
              <a:rPr sz="1000" b="1">
                <a:solidFill>
                  <a:srgbClr val="FFFFFF"/>
                </a:solidFill>
                <a:latin typeface="Arial"/>
              </a:rPr>
              <a:t>single-admin</a:t>
            </a:r>
          </a:p>
          <a:p>
            <a:pPr algn="ctr"/>
            <a:r>
              <a:rPr sz="1000" b="1">
                <a:solidFill>
                  <a:srgbClr val="FFFFFF"/>
                </a:solidFill>
                <a:latin typeface="Arial"/>
              </a:rPr>
              <a:t>scope</a:t>
            </a:r>
          </a:p>
        </p:txBody>
      </p:sp>
      <p:sp>
        <p:nvSpPr>
          <p:cNvPr id="16" name="Rectangle 15"/>
          <p:cNvSpPr/>
          <p:nvPr/>
        </p:nvSpPr>
        <p:spPr>
          <a:xfrm>
            <a:off x="8144360" y="2360000"/>
            <a:ext cx="1600000" cy="740000"/>
          </a:xfrm>
          <a:prstGeom prst="rect">
            <a:avLst/>
          </a:prstGeom>
          <a:solidFill>
            <a:srgbClr val="17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04360" y="2420000"/>
            <a:ext cx="1480000" cy="620000"/>
          </a:xfrm>
          <a:prstGeom prst="rect">
            <a:avLst/>
          </a:prstGeom>
          <a:noFill/>
        </p:spPr>
        <p:txBody>
          <a:bodyPr wrap="square" lIns="0" tIns="0" rIns="0" bIns="0" anchor="ctr">
            <a:spAutoFit/>
          </a:bodyPr>
          <a:lstStyle/>
          <a:p>
            <a:pPr algn="ctr"/>
            <a:r>
              <a:rPr sz="1000" b="1">
                <a:solidFill>
                  <a:srgbClr val="FFFFFF"/>
                </a:solidFill>
                <a:latin typeface="Arial"/>
              </a:rPr>
              <a:t>Modest-HW</a:t>
            </a:r>
          </a:p>
          <a:p>
            <a:pPr algn="ctr"/>
            <a:r>
              <a:rPr sz="1000" b="1">
                <a:solidFill>
                  <a:srgbClr val="FFFFFF"/>
                </a:solidFill>
                <a:latin typeface="Arial"/>
              </a:rPr>
              <a:t>target</a:t>
            </a:r>
          </a:p>
        </p:txBody>
      </p:sp>
      <p:sp>
        <p:nvSpPr>
          <p:cNvPr id="18" name="Rectangle 17"/>
          <p:cNvSpPr/>
          <p:nvPr/>
        </p:nvSpPr>
        <p:spPr>
          <a:xfrm>
            <a:off x="9744360" y="2360000"/>
            <a:ext cx="1841088" cy="740000"/>
          </a:xfrm>
          <a:prstGeom prst="rect">
            <a:avLst/>
          </a:prstGeom>
          <a:solidFill>
            <a:srgbClr val="17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04360" y="2420000"/>
            <a:ext cx="1721088" cy="620000"/>
          </a:xfrm>
          <a:prstGeom prst="rect">
            <a:avLst/>
          </a:prstGeom>
          <a:noFill/>
        </p:spPr>
        <p:txBody>
          <a:bodyPr wrap="square" lIns="0" tIns="0" rIns="0" bIns="0" anchor="ctr">
            <a:spAutoFit/>
          </a:bodyPr>
          <a:lstStyle/>
          <a:p>
            <a:pPr algn="ctr"/>
            <a:r>
              <a:rPr sz="1000" b="1">
                <a:solidFill>
                  <a:srgbClr val="FFFFFF"/>
                </a:solidFill>
                <a:latin typeface="Arial"/>
              </a:rPr>
              <a:t>Measured vs</a:t>
            </a:r>
          </a:p>
          <a:p>
            <a:pPr algn="ctr"/>
            <a:r>
              <a:rPr sz="1000" b="1">
                <a:solidFill>
                  <a:srgbClr val="FFFFFF"/>
                </a:solidFill>
                <a:latin typeface="Arial"/>
              </a:rPr>
              <a:t>manual</a:t>
            </a:r>
          </a:p>
          <a:p>
            <a:pPr algn="ctr"/>
            <a:r>
              <a:rPr sz="1000" b="1">
                <a:solidFill>
                  <a:srgbClr val="FFFFFF"/>
                </a:solidFill>
                <a:latin typeface="Arial"/>
              </a:rPr>
              <a:t>baseline</a:t>
            </a:r>
          </a:p>
        </p:txBody>
      </p:sp>
      <p:sp>
        <p:nvSpPr>
          <p:cNvPr id="20" name="Rectangle 19"/>
          <p:cNvSpPr/>
          <p:nvPr/>
        </p:nvSpPr>
        <p:spPr>
          <a:xfrm>
            <a:off x="594360" y="3100000"/>
            <a:ext cx="3200000"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4360" y="3100000"/>
            <a:ext cx="3050000" cy="620000"/>
          </a:xfrm>
          <a:prstGeom prst="rect">
            <a:avLst/>
          </a:prstGeom>
          <a:noFill/>
        </p:spPr>
        <p:txBody>
          <a:bodyPr wrap="square" lIns="0" tIns="0" rIns="0" bIns="0" anchor="ctr">
            <a:spAutoFit/>
          </a:bodyPr>
          <a:lstStyle/>
          <a:p>
            <a:pPr algn="l"/>
            <a:r>
              <a:rPr sz="1100" b="0">
                <a:solidFill>
                  <a:srgbClr val="172C43"/>
                </a:solidFill>
                <a:latin typeface="Arial"/>
              </a:rPr>
              <a:t>Kubernetes / K3s [1, 2]</a:t>
            </a:r>
          </a:p>
        </p:txBody>
      </p:sp>
      <p:sp>
        <p:nvSpPr>
          <p:cNvPr id="22" name="Rectangle 21"/>
          <p:cNvSpPr/>
          <p:nvPr/>
        </p:nvSpPr>
        <p:spPr>
          <a:xfrm>
            <a:off x="3794360" y="3100000"/>
            <a:ext cx="1300000"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54360" y="3100000"/>
            <a:ext cx="1180000" cy="620000"/>
          </a:xfrm>
          <a:prstGeom prst="rect">
            <a:avLst/>
          </a:prstGeom>
          <a:noFill/>
        </p:spPr>
        <p:txBody>
          <a:bodyPr wrap="square" lIns="0" tIns="0" rIns="0" bIns="0" anchor="ctr">
            <a:spAutoFit/>
          </a:bodyPr>
          <a:lstStyle/>
          <a:p>
            <a:pPr algn="ctr"/>
            <a:r>
              <a:rPr sz="1000" b="0">
                <a:solidFill>
                  <a:srgbClr val="087F8C"/>
                </a:solidFill>
                <a:latin typeface="Arial"/>
              </a:rPr>
              <a:t>Yes</a:t>
            </a:r>
          </a:p>
        </p:txBody>
      </p:sp>
      <p:sp>
        <p:nvSpPr>
          <p:cNvPr id="24" name="Rectangle 23"/>
          <p:cNvSpPr/>
          <p:nvPr/>
        </p:nvSpPr>
        <p:spPr>
          <a:xfrm>
            <a:off x="5094360" y="3100000"/>
            <a:ext cx="1300000"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54360" y="3100000"/>
            <a:ext cx="1180000" cy="620000"/>
          </a:xfrm>
          <a:prstGeom prst="rect">
            <a:avLst/>
          </a:prstGeom>
          <a:noFill/>
        </p:spPr>
        <p:txBody>
          <a:bodyPr wrap="square" lIns="0" tIns="0" rIns="0" bIns="0" anchor="ctr">
            <a:spAutoFit/>
          </a:bodyPr>
          <a:lstStyle/>
          <a:p>
            <a:pPr algn="ctr"/>
            <a:r>
              <a:rPr sz="1000" b="0">
                <a:solidFill>
                  <a:srgbClr val="53677C"/>
                </a:solidFill>
                <a:latin typeface="Arial"/>
              </a:rPr>
              <a:t>No</a:t>
            </a:r>
          </a:p>
        </p:txBody>
      </p:sp>
      <p:sp>
        <p:nvSpPr>
          <p:cNvPr id="26" name="Rectangle 25"/>
          <p:cNvSpPr/>
          <p:nvPr/>
        </p:nvSpPr>
        <p:spPr>
          <a:xfrm>
            <a:off x="6394360" y="3100000"/>
            <a:ext cx="1750000"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54360" y="3100000"/>
            <a:ext cx="1630000" cy="620000"/>
          </a:xfrm>
          <a:prstGeom prst="rect">
            <a:avLst/>
          </a:prstGeom>
          <a:noFill/>
        </p:spPr>
        <p:txBody>
          <a:bodyPr wrap="square" lIns="0" tIns="0" rIns="0" bIns="0" anchor="ctr">
            <a:spAutoFit/>
          </a:bodyPr>
          <a:lstStyle/>
          <a:p>
            <a:pPr algn="ctr"/>
            <a:r>
              <a:rPr sz="1000" b="0">
                <a:solidFill>
                  <a:srgbClr val="53677C"/>
                </a:solidFill>
                <a:latin typeface="Arial"/>
              </a:rPr>
              <a:t>No</a:t>
            </a:r>
          </a:p>
        </p:txBody>
      </p:sp>
      <p:sp>
        <p:nvSpPr>
          <p:cNvPr id="28" name="Rectangle 27"/>
          <p:cNvSpPr/>
          <p:nvPr/>
        </p:nvSpPr>
        <p:spPr>
          <a:xfrm>
            <a:off x="8144360" y="3100000"/>
            <a:ext cx="1600000"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04360" y="3100000"/>
            <a:ext cx="1480000" cy="620000"/>
          </a:xfrm>
          <a:prstGeom prst="rect">
            <a:avLst/>
          </a:prstGeom>
          <a:noFill/>
        </p:spPr>
        <p:txBody>
          <a:bodyPr wrap="square" lIns="0" tIns="0" rIns="0" bIns="0" anchor="ctr">
            <a:spAutoFit/>
          </a:bodyPr>
          <a:lstStyle/>
          <a:p>
            <a:pPr algn="ctr"/>
            <a:r>
              <a:rPr sz="1000" b="0">
                <a:solidFill>
                  <a:srgbClr val="53677C"/>
                </a:solidFill>
                <a:latin typeface="Arial"/>
              </a:rPr>
              <a:t>K3s: yes</a:t>
            </a:r>
          </a:p>
        </p:txBody>
      </p:sp>
      <p:sp>
        <p:nvSpPr>
          <p:cNvPr id="30" name="Rectangle 29"/>
          <p:cNvSpPr/>
          <p:nvPr/>
        </p:nvSpPr>
        <p:spPr>
          <a:xfrm>
            <a:off x="9744360" y="3100000"/>
            <a:ext cx="1841088"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04360" y="3100000"/>
            <a:ext cx="1721088" cy="620000"/>
          </a:xfrm>
          <a:prstGeom prst="rect">
            <a:avLst/>
          </a:prstGeom>
          <a:noFill/>
        </p:spPr>
        <p:txBody>
          <a:bodyPr wrap="square" lIns="0" tIns="0" rIns="0" bIns="0" anchor="ctr">
            <a:spAutoFit/>
          </a:bodyPr>
          <a:lstStyle/>
          <a:p>
            <a:pPr algn="ctr"/>
            <a:r>
              <a:rPr sz="1000" b="0">
                <a:solidFill>
                  <a:srgbClr val="53677C"/>
                </a:solidFill>
                <a:latin typeface="Arial"/>
              </a:rPr>
              <a:t>No</a:t>
            </a:r>
          </a:p>
        </p:txBody>
      </p:sp>
      <p:sp>
        <p:nvSpPr>
          <p:cNvPr id="32" name="Rectangle 31"/>
          <p:cNvSpPr/>
          <p:nvPr/>
        </p:nvSpPr>
        <p:spPr>
          <a:xfrm>
            <a:off x="594360" y="3720000"/>
            <a:ext cx="3200000"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4360" y="3720000"/>
            <a:ext cx="3050000" cy="620000"/>
          </a:xfrm>
          <a:prstGeom prst="rect">
            <a:avLst/>
          </a:prstGeom>
          <a:noFill/>
        </p:spPr>
        <p:txBody>
          <a:bodyPr wrap="square" lIns="0" tIns="0" rIns="0" bIns="0" anchor="ctr">
            <a:spAutoFit/>
          </a:bodyPr>
          <a:lstStyle/>
          <a:p>
            <a:pPr algn="l"/>
            <a:r>
              <a:rPr sz="1100" b="0">
                <a:solidFill>
                  <a:srgbClr val="172C43"/>
                </a:solidFill>
                <a:latin typeface="Arial"/>
              </a:rPr>
              <a:t>Coolify [3]</a:t>
            </a:r>
          </a:p>
        </p:txBody>
      </p:sp>
      <p:sp>
        <p:nvSpPr>
          <p:cNvPr id="34" name="Rectangle 33"/>
          <p:cNvSpPr/>
          <p:nvPr/>
        </p:nvSpPr>
        <p:spPr>
          <a:xfrm>
            <a:off x="3794360" y="3720000"/>
            <a:ext cx="1300000"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54360" y="3720000"/>
            <a:ext cx="1180000" cy="620000"/>
          </a:xfrm>
          <a:prstGeom prst="rect">
            <a:avLst/>
          </a:prstGeom>
          <a:noFill/>
        </p:spPr>
        <p:txBody>
          <a:bodyPr wrap="square" lIns="0" tIns="0" rIns="0" bIns="0" anchor="ctr">
            <a:spAutoFit/>
          </a:bodyPr>
          <a:lstStyle/>
          <a:p>
            <a:pPr algn="ctr"/>
            <a:r>
              <a:rPr sz="1000" b="0">
                <a:solidFill>
                  <a:srgbClr val="087F8C"/>
                </a:solidFill>
                <a:latin typeface="Arial"/>
              </a:rPr>
              <a:t>Yes</a:t>
            </a:r>
          </a:p>
        </p:txBody>
      </p:sp>
      <p:sp>
        <p:nvSpPr>
          <p:cNvPr id="36" name="Rectangle 35"/>
          <p:cNvSpPr/>
          <p:nvPr/>
        </p:nvSpPr>
        <p:spPr>
          <a:xfrm>
            <a:off x="5094360" y="3720000"/>
            <a:ext cx="1300000"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154360" y="3720000"/>
            <a:ext cx="1180000" cy="620000"/>
          </a:xfrm>
          <a:prstGeom prst="rect">
            <a:avLst/>
          </a:prstGeom>
          <a:noFill/>
        </p:spPr>
        <p:txBody>
          <a:bodyPr wrap="square" lIns="0" tIns="0" rIns="0" bIns="0" anchor="ctr">
            <a:spAutoFit/>
          </a:bodyPr>
          <a:lstStyle/>
          <a:p>
            <a:pPr algn="ctr"/>
            <a:r>
              <a:rPr sz="1000" b="0">
                <a:solidFill>
                  <a:srgbClr val="087F8C"/>
                </a:solidFill>
                <a:latin typeface="Arial"/>
              </a:rPr>
              <a:t>Yes</a:t>
            </a:r>
          </a:p>
        </p:txBody>
      </p:sp>
      <p:sp>
        <p:nvSpPr>
          <p:cNvPr id="38" name="Rectangle 37"/>
          <p:cNvSpPr/>
          <p:nvPr/>
        </p:nvSpPr>
        <p:spPr>
          <a:xfrm>
            <a:off x="6394360" y="3720000"/>
            <a:ext cx="1750000"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54360" y="3720000"/>
            <a:ext cx="1630000" cy="620000"/>
          </a:xfrm>
          <a:prstGeom prst="rect">
            <a:avLst/>
          </a:prstGeom>
          <a:noFill/>
        </p:spPr>
        <p:txBody>
          <a:bodyPr wrap="square" lIns="0" tIns="0" rIns="0" bIns="0" anchor="ctr">
            <a:spAutoFit/>
          </a:bodyPr>
          <a:lstStyle/>
          <a:p>
            <a:pPr algn="ctr"/>
            <a:r>
              <a:rPr sz="1000" b="0">
                <a:solidFill>
                  <a:srgbClr val="53677C"/>
                </a:solidFill>
                <a:latin typeface="Arial"/>
              </a:rPr>
              <a:t>Partial</a:t>
            </a:r>
          </a:p>
        </p:txBody>
      </p:sp>
      <p:sp>
        <p:nvSpPr>
          <p:cNvPr id="40" name="Rectangle 39"/>
          <p:cNvSpPr/>
          <p:nvPr/>
        </p:nvSpPr>
        <p:spPr>
          <a:xfrm>
            <a:off x="8144360" y="3720000"/>
            <a:ext cx="1600000"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04360" y="3720000"/>
            <a:ext cx="1480000" cy="620000"/>
          </a:xfrm>
          <a:prstGeom prst="rect">
            <a:avLst/>
          </a:prstGeom>
          <a:noFill/>
        </p:spPr>
        <p:txBody>
          <a:bodyPr wrap="square" lIns="0" tIns="0" rIns="0" bIns="0" anchor="ctr">
            <a:spAutoFit/>
          </a:bodyPr>
          <a:lstStyle/>
          <a:p>
            <a:pPr algn="ctr"/>
            <a:r>
              <a:rPr sz="1000" b="0">
                <a:solidFill>
                  <a:srgbClr val="087F8C"/>
                </a:solidFill>
                <a:latin typeface="Arial"/>
              </a:rPr>
              <a:t>Yes</a:t>
            </a:r>
          </a:p>
        </p:txBody>
      </p:sp>
      <p:sp>
        <p:nvSpPr>
          <p:cNvPr id="42" name="Rectangle 41"/>
          <p:cNvSpPr/>
          <p:nvPr/>
        </p:nvSpPr>
        <p:spPr>
          <a:xfrm>
            <a:off x="9744360" y="3720000"/>
            <a:ext cx="1841088"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804360" y="3720000"/>
            <a:ext cx="1721088" cy="620000"/>
          </a:xfrm>
          <a:prstGeom prst="rect">
            <a:avLst/>
          </a:prstGeom>
          <a:noFill/>
        </p:spPr>
        <p:txBody>
          <a:bodyPr wrap="square" lIns="0" tIns="0" rIns="0" bIns="0" anchor="ctr">
            <a:spAutoFit/>
          </a:bodyPr>
          <a:lstStyle/>
          <a:p>
            <a:pPr algn="ctr"/>
            <a:r>
              <a:rPr sz="1000" b="0">
                <a:solidFill>
                  <a:srgbClr val="53677C"/>
                </a:solidFill>
                <a:latin typeface="Arial"/>
              </a:rPr>
              <a:t>No</a:t>
            </a:r>
          </a:p>
        </p:txBody>
      </p:sp>
      <p:sp>
        <p:nvSpPr>
          <p:cNvPr id="44" name="Rectangle 43"/>
          <p:cNvSpPr/>
          <p:nvPr/>
        </p:nvSpPr>
        <p:spPr>
          <a:xfrm>
            <a:off x="594360" y="4340000"/>
            <a:ext cx="3200000"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4360" y="4340000"/>
            <a:ext cx="3050000" cy="620000"/>
          </a:xfrm>
          <a:prstGeom prst="rect">
            <a:avLst/>
          </a:prstGeom>
          <a:noFill/>
        </p:spPr>
        <p:txBody>
          <a:bodyPr wrap="square" lIns="0" tIns="0" rIns="0" bIns="0" anchor="ctr">
            <a:spAutoFit/>
          </a:bodyPr>
          <a:lstStyle/>
          <a:p>
            <a:pPr algn="l"/>
            <a:r>
              <a:rPr sz="1100" b="0">
                <a:solidFill>
                  <a:srgbClr val="172C43"/>
                </a:solidFill>
                <a:latin typeface="Arial"/>
              </a:rPr>
              <a:t>Portainer [4]</a:t>
            </a:r>
          </a:p>
        </p:txBody>
      </p:sp>
      <p:sp>
        <p:nvSpPr>
          <p:cNvPr id="46" name="Rectangle 45"/>
          <p:cNvSpPr/>
          <p:nvPr/>
        </p:nvSpPr>
        <p:spPr>
          <a:xfrm>
            <a:off x="3794360" y="4340000"/>
            <a:ext cx="1300000"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854360" y="4340000"/>
            <a:ext cx="1180000" cy="620000"/>
          </a:xfrm>
          <a:prstGeom prst="rect">
            <a:avLst/>
          </a:prstGeom>
          <a:noFill/>
        </p:spPr>
        <p:txBody>
          <a:bodyPr wrap="square" lIns="0" tIns="0" rIns="0" bIns="0" anchor="ctr">
            <a:spAutoFit/>
          </a:bodyPr>
          <a:lstStyle/>
          <a:p>
            <a:pPr algn="ctr"/>
            <a:r>
              <a:rPr sz="1000" b="0">
                <a:solidFill>
                  <a:srgbClr val="087F8C"/>
                </a:solidFill>
                <a:latin typeface="Arial"/>
              </a:rPr>
              <a:t>Yes</a:t>
            </a:r>
          </a:p>
        </p:txBody>
      </p:sp>
      <p:sp>
        <p:nvSpPr>
          <p:cNvPr id="48" name="Rectangle 47"/>
          <p:cNvSpPr/>
          <p:nvPr/>
        </p:nvSpPr>
        <p:spPr>
          <a:xfrm>
            <a:off x="5094360" y="4340000"/>
            <a:ext cx="1300000"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54360" y="4340000"/>
            <a:ext cx="1180000" cy="620000"/>
          </a:xfrm>
          <a:prstGeom prst="rect">
            <a:avLst/>
          </a:prstGeom>
          <a:noFill/>
        </p:spPr>
        <p:txBody>
          <a:bodyPr wrap="square" lIns="0" tIns="0" rIns="0" bIns="0" anchor="ctr">
            <a:spAutoFit/>
          </a:bodyPr>
          <a:lstStyle/>
          <a:p>
            <a:pPr algn="ctr"/>
            <a:r>
              <a:rPr sz="1000" b="0">
                <a:solidFill>
                  <a:srgbClr val="087F8C"/>
                </a:solidFill>
                <a:latin typeface="Arial"/>
              </a:rPr>
              <a:t>Yes</a:t>
            </a:r>
          </a:p>
        </p:txBody>
      </p:sp>
      <p:sp>
        <p:nvSpPr>
          <p:cNvPr id="50" name="Rectangle 49"/>
          <p:cNvSpPr/>
          <p:nvPr/>
        </p:nvSpPr>
        <p:spPr>
          <a:xfrm>
            <a:off x="6394360" y="4340000"/>
            <a:ext cx="1750000"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54360" y="4340000"/>
            <a:ext cx="1630000" cy="620000"/>
          </a:xfrm>
          <a:prstGeom prst="rect">
            <a:avLst/>
          </a:prstGeom>
          <a:noFill/>
        </p:spPr>
        <p:txBody>
          <a:bodyPr wrap="square" lIns="0" tIns="0" rIns="0" bIns="0" anchor="ctr">
            <a:spAutoFit/>
          </a:bodyPr>
          <a:lstStyle/>
          <a:p>
            <a:pPr algn="ctr"/>
            <a:r>
              <a:rPr sz="1000" b="0">
                <a:solidFill>
                  <a:srgbClr val="53677C"/>
                </a:solidFill>
                <a:latin typeface="Arial"/>
              </a:rPr>
              <a:t>No</a:t>
            </a:r>
          </a:p>
        </p:txBody>
      </p:sp>
      <p:sp>
        <p:nvSpPr>
          <p:cNvPr id="52" name="Rectangle 51"/>
          <p:cNvSpPr/>
          <p:nvPr/>
        </p:nvSpPr>
        <p:spPr>
          <a:xfrm>
            <a:off x="8144360" y="4340000"/>
            <a:ext cx="1600000"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204360" y="4340000"/>
            <a:ext cx="1480000" cy="620000"/>
          </a:xfrm>
          <a:prstGeom prst="rect">
            <a:avLst/>
          </a:prstGeom>
          <a:noFill/>
        </p:spPr>
        <p:txBody>
          <a:bodyPr wrap="square" lIns="0" tIns="0" rIns="0" bIns="0" anchor="ctr">
            <a:spAutoFit/>
          </a:bodyPr>
          <a:lstStyle/>
          <a:p>
            <a:pPr algn="ctr"/>
            <a:r>
              <a:rPr sz="1000" b="0">
                <a:solidFill>
                  <a:srgbClr val="087F8C"/>
                </a:solidFill>
                <a:latin typeface="Arial"/>
              </a:rPr>
              <a:t>Yes</a:t>
            </a:r>
          </a:p>
        </p:txBody>
      </p:sp>
      <p:sp>
        <p:nvSpPr>
          <p:cNvPr id="54" name="Rectangle 53"/>
          <p:cNvSpPr/>
          <p:nvPr/>
        </p:nvSpPr>
        <p:spPr>
          <a:xfrm>
            <a:off x="9744360" y="4340000"/>
            <a:ext cx="1841088" cy="6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804360" y="4340000"/>
            <a:ext cx="1721088" cy="620000"/>
          </a:xfrm>
          <a:prstGeom prst="rect">
            <a:avLst/>
          </a:prstGeom>
          <a:noFill/>
        </p:spPr>
        <p:txBody>
          <a:bodyPr wrap="square" lIns="0" tIns="0" rIns="0" bIns="0" anchor="ctr">
            <a:spAutoFit/>
          </a:bodyPr>
          <a:lstStyle/>
          <a:p>
            <a:pPr algn="ctr"/>
            <a:r>
              <a:rPr sz="1000" b="0">
                <a:solidFill>
                  <a:srgbClr val="53677C"/>
                </a:solidFill>
                <a:latin typeface="Arial"/>
              </a:rPr>
              <a:t>No</a:t>
            </a:r>
          </a:p>
        </p:txBody>
      </p:sp>
      <p:sp>
        <p:nvSpPr>
          <p:cNvPr id="56" name="Rectangle 55"/>
          <p:cNvSpPr/>
          <p:nvPr/>
        </p:nvSpPr>
        <p:spPr>
          <a:xfrm>
            <a:off x="594360" y="4960000"/>
            <a:ext cx="3200000"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84360" y="4960000"/>
            <a:ext cx="3050000" cy="620000"/>
          </a:xfrm>
          <a:prstGeom prst="rect">
            <a:avLst/>
          </a:prstGeom>
          <a:noFill/>
        </p:spPr>
        <p:txBody>
          <a:bodyPr wrap="square" lIns="0" tIns="0" rIns="0" bIns="0" anchor="ctr">
            <a:spAutoFit/>
          </a:bodyPr>
          <a:lstStyle/>
          <a:p>
            <a:pPr algn="l"/>
            <a:r>
              <a:rPr sz="1100" b="0">
                <a:solidFill>
                  <a:srgbClr val="172C43"/>
                </a:solidFill>
                <a:latin typeface="Arial"/>
              </a:rPr>
              <a:t>OpenShift [5]</a:t>
            </a:r>
          </a:p>
        </p:txBody>
      </p:sp>
      <p:sp>
        <p:nvSpPr>
          <p:cNvPr id="58" name="Rectangle 57"/>
          <p:cNvSpPr/>
          <p:nvPr/>
        </p:nvSpPr>
        <p:spPr>
          <a:xfrm>
            <a:off x="3794360" y="4960000"/>
            <a:ext cx="1300000"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854360" y="4960000"/>
            <a:ext cx="1180000" cy="620000"/>
          </a:xfrm>
          <a:prstGeom prst="rect">
            <a:avLst/>
          </a:prstGeom>
          <a:noFill/>
        </p:spPr>
        <p:txBody>
          <a:bodyPr wrap="square" lIns="0" tIns="0" rIns="0" bIns="0" anchor="ctr">
            <a:spAutoFit/>
          </a:bodyPr>
          <a:lstStyle/>
          <a:p>
            <a:pPr algn="ctr"/>
            <a:r>
              <a:rPr sz="1000" b="0">
                <a:solidFill>
                  <a:srgbClr val="087F8C"/>
                </a:solidFill>
                <a:latin typeface="Arial"/>
              </a:rPr>
              <a:t>Yes</a:t>
            </a:r>
          </a:p>
        </p:txBody>
      </p:sp>
      <p:sp>
        <p:nvSpPr>
          <p:cNvPr id="60" name="Rectangle 59"/>
          <p:cNvSpPr/>
          <p:nvPr/>
        </p:nvSpPr>
        <p:spPr>
          <a:xfrm>
            <a:off x="5094360" y="4960000"/>
            <a:ext cx="1300000"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154360" y="4960000"/>
            <a:ext cx="1180000" cy="620000"/>
          </a:xfrm>
          <a:prstGeom prst="rect">
            <a:avLst/>
          </a:prstGeom>
          <a:noFill/>
        </p:spPr>
        <p:txBody>
          <a:bodyPr wrap="square" lIns="0" tIns="0" rIns="0" bIns="0" anchor="ctr">
            <a:spAutoFit/>
          </a:bodyPr>
          <a:lstStyle/>
          <a:p>
            <a:pPr algn="ctr"/>
            <a:r>
              <a:rPr sz="1000" b="0">
                <a:solidFill>
                  <a:srgbClr val="087F8C"/>
                </a:solidFill>
                <a:latin typeface="Arial"/>
              </a:rPr>
              <a:t>Yes</a:t>
            </a:r>
          </a:p>
        </p:txBody>
      </p:sp>
      <p:sp>
        <p:nvSpPr>
          <p:cNvPr id="62" name="Rectangle 61"/>
          <p:cNvSpPr/>
          <p:nvPr/>
        </p:nvSpPr>
        <p:spPr>
          <a:xfrm>
            <a:off x="6394360" y="4960000"/>
            <a:ext cx="1750000"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454360" y="4960000"/>
            <a:ext cx="1630000" cy="620000"/>
          </a:xfrm>
          <a:prstGeom prst="rect">
            <a:avLst/>
          </a:prstGeom>
          <a:noFill/>
        </p:spPr>
        <p:txBody>
          <a:bodyPr wrap="square" lIns="0" tIns="0" rIns="0" bIns="0" anchor="ctr">
            <a:spAutoFit/>
          </a:bodyPr>
          <a:lstStyle/>
          <a:p>
            <a:pPr algn="ctr"/>
            <a:r>
              <a:rPr sz="1000" b="0">
                <a:solidFill>
                  <a:srgbClr val="53677C"/>
                </a:solidFill>
                <a:latin typeface="Arial"/>
              </a:rPr>
              <a:t>No</a:t>
            </a:r>
          </a:p>
        </p:txBody>
      </p:sp>
      <p:sp>
        <p:nvSpPr>
          <p:cNvPr id="64" name="Rectangle 63"/>
          <p:cNvSpPr/>
          <p:nvPr/>
        </p:nvSpPr>
        <p:spPr>
          <a:xfrm>
            <a:off x="8144360" y="4960000"/>
            <a:ext cx="1600000"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204360" y="4960000"/>
            <a:ext cx="1480000" cy="620000"/>
          </a:xfrm>
          <a:prstGeom prst="rect">
            <a:avLst/>
          </a:prstGeom>
          <a:noFill/>
        </p:spPr>
        <p:txBody>
          <a:bodyPr wrap="square" lIns="0" tIns="0" rIns="0" bIns="0" anchor="ctr">
            <a:spAutoFit/>
          </a:bodyPr>
          <a:lstStyle/>
          <a:p>
            <a:pPr algn="ctr"/>
            <a:r>
              <a:rPr sz="1000" b="0">
                <a:solidFill>
                  <a:srgbClr val="53677C"/>
                </a:solidFill>
                <a:latin typeface="Arial"/>
              </a:rPr>
              <a:t>No</a:t>
            </a:r>
          </a:p>
        </p:txBody>
      </p:sp>
      <p:sp>
        <p:nvSpPr>
          <p:cNvPr id="66" name="Rectangle 65"/>
          <p:cNvSpPr/>
          <p:nvPr/>
        </p:nvSpPr>
        <p:spPr>
          <a:xfrm>
            <a:off x="9744360" y="4960000"/>
            <a:ext cx="1841088" cy="620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804360" y="4960000"/>
            <a:ext cx="1721088" cy="620000"/>
          </a:xfrm>
          <a:prstGeom prst="rect">
            <a:avLst/>
          </a:prstGeom>
          <a:noFill/>
        </p:spPr>
        <p:txBody>
          <a:bodyPr wrap="square" lIns="0" tIns="0" rIns="0" bIns="0" anchor="ctr">
            <a:spAutoFit/>
          </a:bodyPr>
          <a:lstStyle/>
          <a:p>
            <a:pPr algn="ctr"/>
            <a:r>
              <a:rPr sz="1000" b="0">
                <a:solidFill>
                  <a:srgbClr val="53677C"/>
                </a:solidFill>
                <a:latin typeface="Arial"/>
              </a:rPr>
              <a:t>No</a:t>
            </a:r>
          </a:p>
        </p:txBody>
      </p:sp>
      <p:sp>
        <p:nvSpPr>
          <p:cNvPr id="68" name="Rectangle 67"/>
          <p:cNvSpPr/>
          <p:nvPr/>
        </p:nvSpPr>
        <p:spPr>
          <a:xfrm>
            <a:off x="594360" y="5580000"/>
            <a:ext cx="3200000" cy="620000"/>
          </a:xfrm>
          <a:prstGeom prst="rect">
            <a:avLst/>
          </a:prstGeom>
          <a:solidFill>
            <a:srgbClr val="E4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84360" y="5580000"/>
            <a:ext cx="3050000" cy="620000"/>
          </a:xfrm>
          <a:prstGeom prst="rect">
            <a:avLst/>
          </a:prstGeom>
          <a:noFill/>
        </p:spPr>
        <p:txBody>
          <a:bodyPr wrap="square" lIns="0" tIns="0" rIns="0" bIns="0" anchor="ctr">
            <a:spAutoFit/>
          </a:bodyPr>
          <a:lstStyle/>
          <a:p>
            <a:pPr algn="l"/>
            <a:r>
              <a:rPr sz="1100" b="1">
                <a:solidFill>
                  <a:srgbClr val="172C43"/>
                </a:solidFill>
                <a:latin typeface="Arial"/>
              </a:rPr>
              <a:t>This project</a:t>
            </a:r>
          </a:p>
        </p:txBody>
      </p:sp>
      <p:sp>
        <p:nvSpPr>
          <p:cNvPr id="70" name="Rectangle 69"/>
          <p:cNvSpPr/>
          <p:nvPr/>
        </p:nvSpPr>
        <p:spPr>
          <a:xfrm>
            <a:off x="3794360" y="5580000"/>
            <a:ext cx="1300000" cy="620000"/>
          </a:xfrm>
          <a:prstGeom prst="rect">
            <a:avLst/>
          </a:prstGeom>
          <a:solidFill>
            <a:srgbClr val="E4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854360" y="5580000"/>
            <a:ext cx="1180000" cy="620000"/>
          </a:xfrm>
          <a:prstGeom prst="rect">
            <a:avLst/>
          </a:prstGeom>
          <a:noFill/>
        </p:spPr>
        <p:txBody>
          <a:bodyPr wrap="square" lIns="0" tIns="0" rIns="0" bIns="0" anchor="ctr">
            <a:spAutoFit/>
          </a:bodyPr>
          <a:lstStyle/>
          <a:p>
            <a:pPr algn="ctr"/>
            <a:r>
              <a:rPr sz="1000" b="1">
                <a:solidFill>
                  <a:srgbClr val="087F8C"/>
                </a:solidFill>
                <a:latin typeface="Arial"/>
              </a:rPr>
              <a:t>Yes</a:t>
            </a:r>
          </a:p>
        </p:txBody>
      </p:sp>
      <p:sp>
        <p:nvSpPr>
          <p:cNvPr id="72" name="Rectangle 71"/>
          <p:cNvSpPr/>
          <p:nvPr/>
        </p:nvSpPr>
        <p:spPr>
          <a:xfrm>
            <a:off x="5094360" y="5580000"/>
            <a:ext cx="1300000" cy="620000"/>
          </a:xfrm>
          <a:prstGeom prst="rect">
            <a:avLst/>
          </a:prstGeom>
          <a:solidFill>
            <a:srgbClr val="E4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154360" y="5580000"/>
            <a:ext cx="1180000" cy="620000"/>
          </a:xfrm>
          <a:prstGeom prst="rect">
            <a:avLst/>
          </a:prstGeom>
          <a:noFill/>
        </p:spPr>
        <p:txBody>
          <a:bodyPr wrap="square" lIns="0" tIns="0" rIns="0" bIns="0" anchor="ctr">
            <a:spAutoFit/>
          </a:bodyPr>
          <a:lstStyle/>
          <a:p>
            <a:pPr algn="ctr"/>
            <a:r>
              <a:rPr sz="1000" b="1">
                <a:solidFill>
                  <a:srgbClr val="087F8C"/>
                </a:solidFill>
                <a:latin typeface="Arial"/>
              </a:rPr>
              <a:t>Yes</a:t>
            </a:r>
          </a:p>
        </p:txBody>
      </p:sp>
      <p:sp>
        <p:nvSpPr>
          <p:cNvPr id="74" name="Rectangle 73"/>
          <p:cNvSpPr/>
          <p:nvPr/>
        </p:nvSpPr>
        <p:spPr>
          <a:xfrm>
            <a:off x="6394360" y="5580000"/>
            <a:ext cx="1750000" cy="620000"/>
          </a:xfrm>
          <a:prstGeom prst="rect">
            <a:avLst/>
          </a:prstGeom>
          <a:solidFill>
            <a:srgbClr val="E4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454360" y="5580000"/>
            <a:ext cx="1630000" cy="620000"/>
          </a:xfrm>
          <a:prstGeom prst="rect">
            <a:avLst/>
          </a:prstGeom>
          <a:noFill/>
        </p:spPr>
        <p:txBody>
          <a:bodyPr wrap="square" lIns="0" tIns="0" rIns="0" bIns="0" anchor="ctr">
            <a:spAutoFit/>
          </a:bodyPr>
          <a:lstStyle/>
          <a:p>
            <a:pPr algn="ctr"/>
            <a:r>
              <a:rPr sz="1000" b="1">
                <a:solidFill>
                  <a:srgbClr val="087F8C"/>
                </a:solidFill>
                <a:latin typeface="Arial"/>
              </a:rPr>
              <a:t>Yes</a:t>
            </a:r>
          </a:p>
        </p:txBody>
      </p:sp>
      <p:sp>
        <p:nvSpPr>
          <p:cNvPr id="76" name="Rectangle 75"/>
          <p:cNvSpPr/>
          <p:nvPr/>
        </p:nvSpPr>
        <p:spPr>
          <a:xfrm>
            <a:off x="8144360" y="5580000"/>
            <a:ext cx="1600000" cy="620000"/>
          </a:xfrm>
          <a:prstGeom prst="rect">
            <a:avLst/>
          </a:prstGeom>
          <a:solidFill>
            <a:srgbClr val="E4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204360" y="5580000"/>
            <a:ext cx="1480000" cy="620000"/>
          </a:xfrm>
          <a:prstGeom prst="rect">
            <a:avLst/>
          </a:prstGeom>
          <a:noFill/>
        </p:spPr>
        <p:txBody>
          <a:bodyPr wrap="square" lIns="0" tIns="0" rIns="0" bIns="0" anchor="ctr">
            <a:spAutoFit/>
          </a:bodyPr>
          <a:lstStyle/>
          <a:p>
            <a:pPr algn="ctr"/>
            <a:r>
              <a:rPr sz="1000" b="1">
                <a:solidFill>
                  <a:srgbClr val="087F8C"/>
                </a:solidFill>
                <a:latin typeface="Arial"/>
              </a:rPr>
              <a:t>Yes</a:t>
            </a:r>
          </a:p>
        </p:txBody>
      </p:sp>
      <p:sp>
        <p:nvSpPr>
          <p:cNvPr id="78" name="Rectangle 77"/>
          <p:cNvSpPr/>
          <p:nvPr/>
        </p:nvSpPr>
        <p:spPr>
          <a:xfrm>
            <a:off x="9744360" y="5580000"/>
            <a:ext cx="1841088" cy="620000"/>
          </a:xfrm>
          <a:prstGeom prst="rect">
            <a:avLst/>
          </a:prstGeom>
          <a:solidFill>
            <a:srgbClr val="E4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9804360" y="5580000"/>
            <a:ext cx="1721088" cy="620000"/>
          </a:xfrm>
          <a:prstGeom prst="rect">
            <a:avLst/>
          </a:prstGeom>
          <a:noFill/>
        </p:spPr>
        <p:txBody>
          <a:bodyPr wrap="square" lIns="0" tIns="0" rIns="0" bIns="0" anchor="ctr">
            <a:spAutoFit/>
          </a:bodyPr>
          <a:lstStyle/>
          <a:p>
            <a:pPr algn="ctr"/>
            <a:r>
              <a:rPr sz="1000" b="1">
                <a:solidFill>
                  <a:srgbClr val="087F8C"/>
                </a:solidFill>
                <a:latin typeface="Arial"/>
              </a:rPr>
              <a:t>Yes</a:t>
            </a:r>
          </a:p>
        </p:txBody>
      </p:sp>
      <p:sp>
        <p:nvSpPr>
          <p:cNvPr id="80" name="TextBox 79"/>
          <p:cNvSpPr txBox="1"/>
          <p:nvPr/>
        </p:nvSpPr>
        <p:spPr>
          <a:xfrm>
            <a:off x="594360" y="6320000"/>
            <a:ext cx="10991088" cy="300000"/>
          </a:xfrm>
          <a:prstGeom prst="rect">
            <a:avLst/>
          </a:prstGeom>
          <a:noFill/>
        </p:spPr>
        <p:txBody>
          <a:bodyPr wrap="square" lIns="0" tIns="0" rIns="0" bIns="0" anchor="t">
            <a:spAutoFit/>
          </a:bodyPr>
          <a:lstStyle/>
          <a:p>
            <a:pPr algn="l"/>
            <a:r>
              <a:rPr sz="1100" b="0">
                <a:solidFill>
                  <a:srgbClr val="53677C"/>
                </a:solidFill>
                <a:latin typeface="Arial"/>
              </a:rPr>
              <a:t>Overlap is expected and intended; the contribution is the combination of narrow scope, modest hardware and measured evaluation. References on the final slide.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PLANNED CONTRIBUTION</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172C43"/>
                </a:solidFill>
                <a:latin typeface="Arial"/>
              </a:rPr>
              <a:t>A focused workflow for modest hardware</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lnSpc>
                <a:spcPct val="108000"/>
              </a:lnSpc>
              <a:spcBef>
                <a:spcPts val="0"/>
              </a:spcBef>
              <a:spcAft>
                <a:spcPts val="500"/>
              </a:spcAft>
            </a:pPr>
            <a:r>
              <a:rPr sz="1600" b="0">
                <a:solidFill>
                  <a:srgbClr val="53677C"/>
                </a:solidFill>
                <a:latin typeface="Arial"/>
              </a:rPr>
              <a:t>The intended contribution combines a focused implementation with measured evaluation.</a:t>
            </a:r>
          </a:p>
        </p:txBody>
      </p:sp>
      <p:sp>
        <p:nvSpPr>
          <p:cNvPr id="5" name="Rectangle 4"/>
          <p:cNvSpPr/>
          <p:nvPr/>
        </p:nvSpPr>
        <p:spPr>
          <a:xfrm>
            <a:off x="576072" y="6446520"/>
            <a:ext cx="11018520" cy="10972"/>
          </a:xfrm>
          <a:prstGeom prst="rect">
            <a:avLst/>
          </a:prstGeom>
          <a:solidFill>
            <a:srgbClr val="D6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53677C"/>
                </a:solidFill>
                <a:latin typeface="Arial"/>
              </a:rPr>
              <a:t>08</a:t>
            </a:r>
          </a:p>
        </p:txBody>
      </p:sp>
      <p:sp>
        <p:nvSpPr>
          <p:cNvPr id="8" name="Rounded Rectangle 7"/>
          <p:cNvSpPr/>
          <p:nvPr/>
        </p:nvSpPr>
        <p:spPr>
          <a:xfrm>
            <a:off x="594360" y="2331720"/>
            <a:ext cx="5394960" cy="15179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532888"/>
            <a:ext cx="457200" cy="320040"/>
          </a:xfrm>
          <a:prstGeom prst="rect">
            <a:avLst/>
          </a:prstGeom>
          <a:noFill/>
        </p:spPr>
        <p:txBody>
          <a:bodyPr wrap="square" lIns="0" tIns="0" rIns="0" bIns="0" anchor="t">
            <a:spAutoFit/>
          </a:bodyPr>
          <a:lstStyle/>
          <a:p>
            <a:pPr algn="l">
              <a:lnSpc>
                <a:spcPct val="108000"/>
              </a:lnSpc>
              <a:spcBef>
                <a:spcPts val="0"/>
              </a:spcBef>
              <a:spcAft>
                <a:spcPts val="500"/>
              </a:spcAft>
            </a:pPr>
            <a:r>
              <a:rPr sz="1900" b="1">
                <a:solidFill>
                  <a:srgbClr val="087F8C"/>
                </a:solidFill>
                <a:latin typeface="Arial"/>
              </a:rPr>
              <a:t>01</a:t>
            </a:r>
          </a:p>
        </p:txBody>
      </p:sp>
      <p:sp>
        <p:nvSpPr>
          <p:cNvPr id="10" name="TextBox 9"/>
          <p:cNvSpPr txBox="1"/>
          <p:nvPr/>
        </p:nvSpPr>
        <p:spPr>
          <a:xfrm>
            <a:off x="1408176" y="2532888"/>
            <a:ext cx="4343400" cy="365760"/>
          </a:xfrm>
          <a:prstGeom prst="rect">
            <a:avLst/>
          </a:prstGeom>
          <a:noFill/>
        </p:spPr>
        <p:txBody>
          <a:bodyPr wrap="square" lIns="0" tIns="0" rIns="0" bIns="0" anchor="t">
            <a:spAutoFit/>
          </a:bodyPr>
          <a:lstStyle/>
          <a:p>
            <a:pPr algn="l">
              <a:lnSpc>
                <a:spcPct val="108000"/>
              </a:lnSpc>
              <a:spcBef>
                <a:spcPts val="0"/>
              </a:spcBef>
              <a:spcAft>
                <a:spcPts val="500"/>
              </a:spcAft>
            </a:pPr>
            <a:r>
              <a:rPr sz="2100" b="1">
                <a:solidFill>
                  <a:srgbClr val="172C43"/>
                </a:solidFill>
                <a:latin typeface="Arial"/>
              </a:rPr>
              <a:t>A defined starting point</a:t>
            </a:r>
          </a:p>
        </p:txBody>
      </p:sp>
      <p:sp>
        <p:nvSpPr>
          <p:cNvPr id="11" name="TextBox 10"/>
          <p:cNvSpPr txBox="1"/>
          <p:nvPr/>
        </p:nvSpPr>
        <p:spPr>
          <a:xfrm>
            <a:off x="1408176" y="3081527"/>
            <a:ext cx="4279392" cy="594360"/>
          </a:xfrm>
          <a:prstGeom prst="rect">
            <a:avLst/>
          </a:prstGeom>
          <a:noFill/>
        </p:spPr>
        <p:txBody>
          <a:bodyPr wrap="square" lIns="0" tIns="0" rIns="0" bIns="0" anchor="t">
            <a:spAutoFit/>
          </a:bodyPr>
          <a:lstStyle/>
          <a:p>
            <a:pPr algn="l">
              <a:lnSpc>
                <a:spcPct val="108000"/>
              </a:lnSpc>
              <a:spcBef>
                <a:spcPts val="0"/>
              </a:spcBef>
              <a:spcAft>
                <a:spcPts val="500"/>
              </a:spcAft>
            </a:pPr>
            <a:r>
              <a:rPr sz="1700" b="0">
                <a:solidFill>
                  <a:srgbClr val="53677C"/>
                </a:solidFill>
                <a:latin typeface="Arial"/>
              </a:rPr>
              <a:t>One administrator, one cluster, prebuilt images.</a:t>
            </a:r>
          </a:p>
        </p:txBody>
      </p:sp>
      <p:sp>
        <p:nvSpPr>
          <p:cNvPr id="12" name="Rounded Rectangle 11"/>
          <p:cNvSpPr/>
          <p:nvPr/>
        </p:nvSpPr>
        <p:spPr>
          <a:xfrm>
            <a:off x="6199632" y="2331720"/>
            <a:ext cx="5394960" cy="15179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82512" y="2532888"/>
            <a:ext cx="457200" cy="320040"/>
          </a:xfrm>
          <a:prstGeom prst="rect">
            <a:avLst/>
          </a:prstGeom>
          <a:noFill/>
        </p:spPr>
        <p:txBody>
          <a:bodyPr wrap="square" lIns="0" tIns="0" rIns="0" bIns="0" anchor="t">
            <a:spAutoFit/>
          </a:bodyPr>
          <a:lstStyle/>
          <a:p>
            <a:pPr algn="l">
              <a:lnSpc>
                <a:spcPct val="108000"/>
              </a:lnSpc>
              <a:spcBef>
                <a:spcPts val="0"/>
              </a:spcBef>
              <a:spcAft>
                <a:spcPts val="500"/>
              </a:spcAft>
            </a:pPr>
            <a:r>
              <a:rPr sz="1900" b="1">
                <a:solidFill>
                  <a:srgbClr val="087F8C"/>
                </a:solidFill>
                <a:latin typeface="Arial"/>
              </a:rPr>
              <a:t>02</a:t>
            </a:r>
          </a:p>
        </p:txBody>
      </p:sp>
      <p:sp>
        <p:nvSpPr>
          <p:cNvPr id="14" name="TextBox 13"/>
          <p:cNvSpPr txBox="1"/>
          <p:nvPr/>
        </p:nvSpPr>
        <p:spPr>
          <a:xfrm>
            <a:off x="7013448" y="2532888"/>
            <a:ext cx="4343400" cy="365760"/>
          </a:xfrm>
          <a:prstGeom prst="rect">
            <a:avLst/>
          </a:prstGeom>
          <a:noFill/>
        </p:spPr>
        <p:txBody>
          <a:bodyPr wrap="square" lIns="0" tIns="0" rIns="0" bIns="0" anchor="t">
            <a:spAutoFit/>
          </a:bodyPr>
          <a:lstStyle/>
          <a:p>
            <a:pPr algn="l">
              <a:lnSpc>
                <a:spcPct val="108000"/>
              </a:lnSpc>
              <a:spcBef>
                <a:spcPts val="0"/>
              </a:spcBef>
              <a:spcAft>
                <a:spcPts val="500"/>
              </a:spcAft>
            </a:pPr>
            <a:r>
              <a:rPr sz="2100" b="1">
                <a:solidFill>
                  <a:srgbClr val="172C43"/>
                </a:solidFill>
                <a:latin typeface="Arial"/>
              </a:rPr>
              <a:t>A guided application lifecycle</a:t>
            </a:r>
          </a:p>
        </p:txBody>
      </p:sp>
      <p:sp>
        <p:nvSpPr>
          <p:cNvPr id="15" name="TextBox 14"/>
          <p:cNvSpPr txBox="1"/>
          <p:nvPr/>
        </p:nvSpPr>
        <p:spPr>
          <a:xfrm>
            <a:off x="7013448" y="3081527"/>
            <a:ext cx="4279392" cy="594360"/>
          </a:xfrm>
          <a:prstGeom prst="rect">
            <a:avLst/>
          </a:prstGeom>
          <a:noFill/>
        </p:spPr>
        <p:txBody>
          <a:bodyPr wrap="square" lIns="0" tIns="0" rIns="0" bIns="0" anchor="t">
            <a:spAutoFit/>
          </a:bodyPr>
          <a:lstStyle/>
          <a:p>
            <a:pPr algn="l">
              <a:lnSpc>
                <a:spcPct val="108000"/>
              </a:lnSpc>
              <a:spcBef>
                <a:spcPts val="0"/>
              </a:spcBef>
              <a:spcAft>
                <a:spcPts val="500"/>
              </a:spcAft>
            </a:pPr>
            <a:r>
              <a:rPr sz="1700" b="0">
                <a:solidFill>
                  <a:srgbClr val="53677C"/>
                </a:solidFill>
                <a:latin typeface="Arial"/>
              </a:rPr>
              <a:t>Deploy, inspect, update, scale and recover.</a:t>
            </a:r>
          </a:p>
        </p:txBody>
      </p:sp>
      <p:sp>
        <p:nvSpPr>
          <p:cNvPr id="16" name="Rounded Rectangle 15"/>
          <p:cNvSpPr/>
          <p:nvPr/>
        </p:nvSpPr>
        <p:spPr>
          <a:xfrm>
            <a:off x="594360" y="4096512"/>
            <a:ext cx="5394960" cy="15179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297680"/>
            <a:ext cx="457200" cy="320040"/>
          </a:xfrm>
          <a:prstGeom prst="rect">
            <a:avLst/>
          </a:prstGeom>
          <a:noFill/>
        </p:spPr>
        <p:txBody>
          <a:bodyPr wrap="square" lIns="0" tIns="0" rIns="0" bIns="0" anchor="t">
            <a:spAutoFit/>
          </a:bodyPr>
          <a:lstStyle/>
          <a:p>
            <a:pPr algn="l">
              <a:lnSpc>
                <a:spcPct val="108000"/>
              </a:lnSpc>
              <a:spcBef>
                <a:spcPts val="0"/>
              </a:spcBef>
              <a:spcAft>
                <a:spcPts val="500"/>
              </a:spcAft>
            </a:pPr>
            <a:r>
              <a:rPr sz="1900" b="1">
                <a:solidFill>
                  <a:srgbClr val="087F8C"/>
                </a:solidFill>
                <a:latin typeface="Arial"/>
              </a:rPr>
              <a:t>03</a:t>
            </a:r>
          </a:p>
        </p:txBody>
      </p:sp>
      <p:sp>
        <p:nvSpPr>
          <p:cNvPr id="18" name="TextBox 17"/>
          <p:cNvSpPr txBox="1"/>
          <p:nvPr/>
        </p:nvSpPr>
        <p:spPr>
          <a:xfrm>
            <a:off x="1408176" y="4297680"/>
            <a:ext cx="4343400" cy="365760"/>
          </a:xfrm>
          <a:prstGeom prst="rect">
            <a:avLst/>
          </a:prstGeom>
          <a:noFill/>
        </p:spPr>
        <p:txBody>
          <a:bodyPr wrap="square" lIns="0" tIns="0" rIns="0" bIns="0" anchor="t">
            <a:spAutoFit/>
          </a:bodyPr>
          <a:lstStyle/>
          <a:p>
            <a:pPr algn="l">
              <a:lnSpc>
                <a:spcPct val="108000"/>
              </a:lnSpc>
              <a:spcBef>
                <a:spcPts val="0"/>
              </a:spcBef>
              <a:spcAft>
                <a:spcPts val="500"/>
              </a:spcAft>
            </a:pPr>
            <a:r>
              <a:rPr sz="2100" b="1">
                <a:solidFill>
                  <a:srgbClr val="172C43"/>
                </a:solidFill>
                <a:latin typeface="Arial"/>
              </a:rPr>
              <a:t>Recorded and verified outcomes</a:t>
            </a:r>
          </a:p>
        </p:txBody>
      </p:sp>
      <p:sp>
        <p:nvSpPr>
          <p:cNvPr id="19" name="TextBox 18"/>
          <p:cNvSpPr txBox="1"/>
          <p:nvPr/>
        </p:nvSpPr>
        <p:spPr>
          <a:xfrm>
            <a:off x="1408176" y="4846320"/>
            <a:ext cx="4279392" cy="594360"/>
          </a:xfrm>
          <a:prstGeom prst="rect">
            <a:avLst/>
          </a:prstGeom>
          <a:noFill/>
        </p:spPr>
        <p:txBody>
          <a:bodyPr wrap="square" lIns="0" tIns="0" rIns="0" bIns="0" anchor="t">
            <a:spAutoFit/>
          </a:bodyPr>
          <a:lstStyle/>
          <a:p>
            <a:pPr algn="l">
              <a:lnSpc>
                <a:spcPct val="108000"/>
              </a:lnSpc>
              <a:spcBef>
                <a:spcPts val="0"/>
              </a:spcBef>
              <a:spcAft>
                <a:spcPts val="500"/>
              </a:spcAft>
            </a:pPr>
            <a:r>
              <a:rPr sz="1700" b="0">
                <a:solidFill>
                  <a:srgbClr val="53677C"/>
                </a:solidFill>
                <a:latin typeface="Arial"/>
              </a:rPr>
              <a:t>Persistent operations, revisions and recovery evidence.</a:t>
            </a:r>
          </a:p>
        </p:txBody>
      </p:sp>
      <p:sp>
        <p:nvSpPr>
          <p:cNvPr id="20" name="Rounded Rectangle 19"/>
          <p:cNvSpPr/>
          <p:nvPr/>
        </p:nvSpPr>
        <p:spPr>
          <a:xfrm>
            <a:off x="6199632" y="4096512"/>
            <a:ext cx="5394960" cy="15179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82512" y="4297680"/>
            <a:ext cx="457200" cy="320040"/>
          </a:xfrm>
          <a:prstGeom prst="rect">
            <a:avLst/>
          </a:prstGeom>
          <a:noFill/>
        </p:spPr>
        <p:txBody>
          <a:bodyPr wrap="square" lIns="0" tIns="0" rIns="0" bIns="0" anchor="t">
            <a:spAutoFit/>
          </a:bodyPr>
          <a:lstStyle/>
          <a:p>
            <a:pPr algn="l">
              <a:lnSpc>
                <a:spcPct val="108000"/>
              </a:lnSpc>
              <a:spcBef>
                <a:spcPts val="0"/>
              </a:spcBef>
              <a:spcAft>
                <a:spcPts val="500"/>
              </a:spcAft>
            </a:pPr>
            <a:r>
              <a:rPr sz="1900" b="1">
                <a:solidFill>
                  <a:srgbClr val="087F8C"/>
                </a:solidFill>
                <a:latin typeface="Arial"/>
              </a:rPr>
              <a:t>04</a:t>
            </a:r>
          </a:p>
        </p:txBody>
      </p:sp>
      <p:sp>
        <p:nvSpPr>
          <p:cNvPr id="22" name="TextBox 21"/>
          <p:cNvSpPr txBox="1"/>
          <p:nvPr/>
        </p:nvSpPr>
        <p:spPr>
          <a:xfrm>
            <a:off x="7013448" y="4297680"/>
            <a:ext cx="4343400" cy="365760"/>
          </a:xfrm>
          <a:prstGeom prst="rect">
            <a:avLst/>
          </a:prstGeom>
          <a:noFill/>
        </p:spPr>
        <p:txBody>
          <a:bodyPr wrap="square" lIns="0" tIns="0" rIns="0" bIns="0" anchor="t">
            <a:spAutoFit/>
          </a:bodyPr>
          <a:lstStyle/>
          <a:p>
            <a:pPr algn="l">
              <a:lnSpc>
                <a:spcPct val="108000"/>
              </a:lnSpc>
              <a:spcBef>
                <a:spcPts val="0"/>
              </a:spcBef>
              <a:spcAft>
                <a:spcPts val="500"/>
              </a:spcAft>
            </a:pPr>
            <a:r>
              <a:rPr sz="2100" b="1">
                <a:solidFill>
                  <a:srgbClr val="172C43"/>
                </a:solidFill>
                <a:latin typeface="Arial"/>
              </a:rPr>
              <a:t>An explicit hardware constraint</a:t>
            </a:r>
          </a:p>
        </p:txBody>
      </p:sp>
      <p:sp>
        <p:nvSpPr>
          <p:cNvPr id="23" name="TextBox 22"/>
          <p:cNvSpPr txBox="1"/>
          <p:nvPr/>
        </p:nvSpPr>
        <p:spPr>
          <a:xfrm>
            <a:off x="7013448" y="4846320"/>
            <a:ext cx="4279392" cy="594360"/>
          </a:xfrm>
          <a:prstGeom prst="rect">
            <a:avLst/>
          </a:prstGeom>
          <a:noFill/>
        </p:spPr>
        <p:txBody>
          <a:bodyPr wrap="square" lIns="0" tIns="0" rIns="0" bIns="0" anchor="t">
            <a:spAutoFit/>
          </a:bodyPr>
          <a:lstStyle/>
          <a:p>
            <a:pPr algn="l">
              <a:lnSpc>
                <a:spcPct val="108000"/>
              </a:lnSpc>
              <a:spcBef>
                <a:spcPts val="0"/>
              </a:spcBef>
              <a:spcAft>
                <a:spcPts val="500"/>
              </a:spcAft>
            </a:pPr>
            <a:r>
              <a:rPr sz="1700" b="0">
                <a:solidFill>
                  <a:srgbClr val="53677C"/>
                </a:solidFill>
                <a:latin typeface="Arial"/>
              </a:rPr>
              <a:t>Resource use and behaviour to be measured on the reference Pi.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TARGET EXPERIENCE</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172C43"/>
                </a:solidFill>
                <a:latin typeface="Arial"/>
              </a:rPr>
              <a:t>From an image reference to an operated application</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lnSpc>
                <a:spcPct val="108000"/>
              </a:lnSpc>
              <a:spcBef>
                <a:spcPts val="0"/>
              </a:spcBef>
              <a:spcAft>
                <a:spcPts val="500"/>
              </a:spcAft>
            </a:pPr>
            <a:r>
              <a:rPr sz="1600" b="0">
                <a:solidFill>
                  <a:srgbClr val="53677C"/>
                </a:solidFill>
                <a:latin typeface="Arial"/>
              </a:rPr>
              <a:t>Planned workflow after installation on a supported Linux host.</a:t>
            </a:r>
          </a:p>
        </p:txBody>
      </p:sp>
      <p:sp>
        <p:nvSpPr>
          <p:cNvPr id="5" name="Rectangle 4"/>
          <p:cNvSpPr/>
          <p:nvPr/>
        </p:nvSpPr>
        <p:spPr>
          <a:xfrm>
            <a:off x="576072" y="6446520"/>
            <a:ext cx="11018520" cy="10972"/>
          </a:xfrm>
          <a:prstGeom prst="rect">
            <a:avLst/>
          </a:prstGeom>
          <a:solidFill>
            <a:srgbClr val="D6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53677C"/>
                </a:solidFill>
                <a:latin typeface="Arial"/>
              </a:rPr>
              <a:t>09</a:t>
            </a:r>
          </a:p>
        </p:txBody>
      </p:sp>
      <p:sp>
        <p:nvSpPr>
          <p:cNvPr id="8" name="Rounded Rectangle 7"/>
          <p:cNvSpPr/>
          <p:nvPr/>
        </p:nvSpPr>
        <p:spPr>
          <a:xfrm>
            <a:off x="621792" y="2514600"/>
            <a:ext cx="2487168" cy="1874519"/>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2761488"/>
            <a:ext cx="2121408" cy="320040"/>
          </a:xfrm>
          <a:prstGeom prst="rect">
            <a:avLst/>
          </a:prstGeom>
          <a:noFill/>
        </p:spPr>
        <p:txBody>
          <a:bodyPr wrap="square" lIns="0" tIns="0" rIns="0" bIns="0" anchor="t">
            <a:spAutoFit/>
          </a:bodyPr>
          <a:lstStyle/>
          <a:p>
            <a:pPr algn="l">
              <a:lnSpc>
                <a:spcPct val="108000"/>
              </a:lnSpc>
              <a:spcBef>
                <a:spcPts val="0"/>
              </a:spcBef>
              <a:spcAft>
                <a:spcPts val="500"/>
              </a:spcAft>
            </a:pPr>
            <a:r>
              <a:rPr sz="1800" b="1">
                <a:solidFill>
                  <a:srgbClr val="087F8C"/>
                </a:solidFill>
                <a:latin typeface="Arial"/>
              </a:rPr>
              <a:t>INSTALL</a:t>
            </a:r>
          </a:p>
        </p:txBody>
      </p:sp>
      <p:sp>
        <p:nvSpPr>
          <p:cNvPr id="10" name="TextBox 9"/>
          <p:cNvSpPr txBox="1"/>
          <p:nvPr/>
        </p:nvSpPr>
        <p:spPr>
          <a:xfrm>
            <a:off x="804672" y="3346704"/>
            <a:ext cx="2121408" cy="731520"/>
          </a:xfrm>
          <a:prstGeom prst="rect">
            <a:avLst/>
          </a:prstGeom>
          <a:noFill/>
        </p:spPr>
        <p:txBody>
          <a:bodyPr wrap="square" lIns="0" tIns="0" rIns="0" bIns="0" anchor="t">
            <a:spAutoFit/>
          </a:bodyPr>
          <a:lstStyle/>
          <a:p>
            <a:pPr algn="l">
              <a:lnSpc>
                <a:spcPct val="108000"/>
              </a:lnSpc>
              <a:spcBef>
                <a:spcPts val="0"/>
              </a:spcBef>
              <a:spcAft>
                <a:spcPts val="500"/>
              </a:spcAft>
            </a:pPr>
            <a:r>
              <a:rPr sz="2000" b="0">
                <a:solidFill>
                  <a:srgbClr val="172C43"/>
                </a:solidFill>
                <a:latin typeface="Arial"/>
              </a:rPr>
              <a:t>Prepare the host</a:t>
            </a:r>
          </a:p>
          <a:p>
            <a:pPr algn="l">
              <a:lnSpc>
                <a:spcPct val="108000"/>
              </a:lnSpc>
              <a:spcBef>
                <a:spcPts val="0"/>
              </a:spcBef>
              <a:spcAft>
                <a:spcPts val="500"/>
              </a:spcAft>
            </a:pPr>
            <a:r>
              <a:rPr sz="2000" b="0">
                <a:solidFill>
                  <a:srgbClr val="172C43"/>
                </a:solidFill>
                <a:latin typeface="Arial"/>
              </a:rPr>
              <a:t>and administrator</a:t>
            </a:r>
          </a:p>
        </p:txBody>
      </p:sp>
      <p:sp>
        <p:nvSpPr>
          <p:cNvPr id="11" name="Right Arrow 10"/>
          <p:cNvSpPr/>
          <p:nvPr/>
        </p:nvSpPr>
        <p:spPr>
          <a:xfrm>
            <a:off x="3163824" y="3291840"/>
            <a:ext cx="210312" cy="17373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429000" y="2514600"/>
            <a:ext cx="2487168" cy="1874519"/>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2761488"/>
            <a:ext cx="2121408" cy="320040"/>
          </a:xfrm>
          <a:prstGeom prst="rect">
            <a:avLst/>
          </a:prstGeom>
          <a:noFill/>
        </p:spPr>
        <p:txBody>
          <a:bodyPr wrap="square" lIns="0" tIns="0" rIns="0" bIns="0" anchor="t">
            <a:spAutoFit/>
          </a:bodyPr>
          <a:lstStyle/>
          <a:p>
            <a:pPr algn="l">
              <a:lnSpc>
                <a:spcPct val="108000"/>
              </a:lnSpc>
              <a:spcBef>
                <a:spcPts val="0"/>
              </a:spcBef>
              <a:spcAft>
                <a:spcPts val="500"/>
              </a:spcAft>
            </a:pPr>
            <a:r>
              <a:rPr sz="1800" b="1">
                <a:solidFill>
                  <a:srgbClr val="087F8C"/>
                </a:solidFill>
                <a:latin typeface="Arial"/>
              </a:rPr>
              <a:t>DESCRIBE</a:t>
            </a:r>
          </a:p>
        </p:txBody>
      </p:sp>
      <p:sp>
        <p:nvSpPr>
          <p:cNvPr id="14" name="TextBox 13"/>
          <p:cNvSpPr txBox="1"/>
          <p:nvPr/>
        </p:nvSpPr>
        <p:spPr>
          <a:xfrm>
            <a:off x="3611880" y="3346704"/>
            <a:ext cx="2121408" cy="731520"/>
          </a:xfrm>
          <a:prstGeom prst="rect">
            <a:avLst/>
          </a:prstGeom>
          <a:noFill/>
        </p:spPr>
        <p:txBody>
          <a:bodyPr wrap="square" lIns="0" tIns="0" rIns="0" bIns="0" anchor="t">
            <a:spAutoFit/>
          </a:bodyPr>
          <a:lstStyle/>
          <a:p>
            <a:pPr algn="l">
              <a:lnSpc>
                <a:spcPct val="108000"/>
              </a:lnSpc>
              <a:spcBef>
                <a:spcPts val="0"/>
              </a:spcBef>
              <a:spcAft>
                <a:spcPts val="500"/>
              </a:spcAft>
            </a:pPr>
            <a:r>
              <a:rPr sz="2000" b="0">
                <a:solidFill>
                  <a:srgbClr val="172C43"/>
                </a:solidFill>
                <a:latin typeface="Arial"/>
              </a:rPr>
              <a:t>Image, port, health</a:t>
            </a:r>
          </a:p>
          <a:p>
            <a:pPr algn="l">
              <a:lnSpc>
                <a:spcPct val="108000"/>
              </a:lnSpc>
              <a:spcBef>
                <a:spcPts val="0"/>
              </a:spcBef>
              <a:spcAft>
                <a:spcPts val="500"/>
              </a:spcAft>
            </a:pPr>
            <a:r>
              <a:rPr sz="2000" b="0">
                <a:solidFill>
                  <a:srgbClr val="172C43"/>
                </a:solidFill>
                <a:latin typeface="Arial"/>
              </a:rPr>
              <a:t>and configuration</a:t>
            </a:r>
          </a:p>
        </p:txBody>
      </p:sp>
      <p:sp>
        <p:nvSpPr>
          <p:cNvPr id="15" name="Right Arrow 14"/>
          <p:cNvSpPr/>
          <p:nvPr/>
        </p:nvSpPr>
        <p:spPr>
          <a:xfrm>
            <a:off x="5971031" y="3291840"/>
            <a:ext cx="210312" cy="17373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36207" y="2514600"/>
            <a:ext cx="2487168" cy="1874519"/>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761488"/>
            <a:ext cx="2121408" cy="320040"/>
          </a:xfrm>
          <a:prstGeom prst="rect">
            <a:avLst/>
          </a:prstGeom>
          <a:noFill/>
        </p:spPr>
        <p:txBody>
          <a:bodyPr wrap="square" lIns="0" tIns="0" rIns="0" bIns="0" anchor="t">
            <a:spAutoFit/>
          </a:bodyPr>
          <a:lstStyle/>
          <a:p>
            <a:pPr algn="l">
              <a:lnSpc>
                <a:spcPct val="108000"/>
              </a:lnSpc>
              <a:spcBef>
                <a:spcPts val="0"/>
              </a:spcBef>
              <a:spcAft>
                <a:spcPts val="500"/>
              </a:spcAft>
            </a:pPr>
            <a:r>
              <a:rPr sz="1800" b="1">
                <a:solidFill>
                  <a:srgbClr val="087F8C"/>
                </a:solidFill>
                <a:latin typeface="Arial"/>
              </a:rPr>
              <a:t>DEPLOY</a:t>
            </a:r>
          </a:p>
        </p:txBody>
      </p:sp>
      <p:sp>
        <p:nvSpPr>
          <p:cNvPr id="18" name="TextBox 17"/>
          <p:cNvSpPr txBox="1"/>
          <p:nvPr/>
        </p:nvSpPr>
        <p:spPr>
          <a:xfrm>
            <a:off x="6419088" y="3346704"/>
            <a:ext cx="2121408" cy="731520"/>
          </a:xfrm>
          <a:prstGeom prst="rect">
            <a:avLst/>
          </a:prstGeom>
          <a:noFill/>
        </p:spPr>
        <p:txBody>
          <a:bodyPr wrap="square" lIns="0" tIns="0" rIns="0" bIns="0" anchor="t">
            <a:spAutoFit/>
          </a:bodyPr>
          <a:lstStyle/>
          <a:p>
            <a:pPr algn="l">
              <a:lnSpc>
                <a:spcPct val="108000"/>
              </a:lnSpc>
              <a:spcBef>
                <a:spcPts val="0"/>
              </a:spcBef>
              <a:spcAft>
                <a:spcPts val="500"/>
              </a:spcAft>
            </a:pPr>
            <a:r>
              <a:rPr sz="2000" b="0">
                <a:solidFill>
                  <a:srgbClr val="172C43"/>
                </a:solidFill>
                <a:latin typeface="Arial"/>
              </a:rPr>
              <a:t>Apply resources</a:t>
            </a:r>
          </a:p>
          <a:p>
            <a:pPr algn="l">
              <a:lnSpc>
                <a:spcPct val="108000"/>
              </a:lnSpc>
              <a:spcBef>
                <a:spcPts val="0"/>
              </a:spcBef>
              <a:spcAft>
                <a:spcPts val="500"/>
              </a:spcAft>
            </a:pPr>
            <a:r>
              <a:rPr sz="2000" b="0">
                <a:solidFill>
                  <a:srgbClr val="172C43"/>
                </a:solidFill>
                <a:latin typeface="Arial"/>
              </a:rPr>
              <a:t>Verify readiness</a:t>
            </a:r>
          </a:p>
        </p:txBody>
      </p:sp>
      <p:sp>
        <p:nvSpPr>
          <p:cNvPr id="19" name="Right Arrow 18"/>
          <p:cNvSpPr/>
          <p:nvPr/>
        </p:nvSpPr>
        <p:spPr>
          <a:xfrm>
            <a:off x="8778240" y="3291840"/>
            <a:ext cx="210312" cy="17373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043415" y="2514600"/>
            <a:ext cx="2487168" cy="1874519"/>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26295" y="2761488"/>
            <a:ext cx="2121408" cy="320040"/>
          </a:xfrm>
          <a:prstGeom prst="rect">
            <a:avLst/>
          </a:prstGeom>
          <a:noFill/>
        </p:spPr>
        <p:txBody>
          <a:bodyPr wrap="square" lIns="0" tIns="0" rIns="0" bIns="0" anchor="t">
            <a:spAutoFit/>
          </a:bodyPr>
          <a:lstStyle/>
          <a:p>
            <a:pPr algn="l">
              <a:lnSpc>
                <a:spcPct val="108000"/>
              </a:lnSpc>
              <a:spcBef>
                <a:spcPts val="0"/>
              </a:spcBef>
              <a:spcAft>
                <a:spcPts val="500"/>
              </a:spcAft>
            </a:pPr>
            <a:r>
              <a:rPr sz="1800" b="1">
                <a:solidFill>
                  <a:srgbClr val="087F8C"/>
                </a:solidFill>
                <a:latin typeface="Arial"/>
              </a:rPr>
              <a:t>OPERATE</a:t>
            </a:r>
          </a:p>
        </p:txBody>
      </p:sp>
      <p:sp>
        <p:nvSpPr>
          <p:cNvPr id="22" name="TextBox 21"/>
          <p:cNvSpPr txBox="1"/>
          <p:nvPr/>
        </p:nvSpPr>
        <p:spPr>
          <a:xfrm>
            <a:off x="9226295" y="3346704"/>
            <a:ext cx="2121408" cy="731520"/>
          </a:xfrm>
          <a:prstGeom prst="rect">
            <a:avLst/>
          </a:prstGeom>
          <a:noFill/>
        </p:spPr>
        <p:txBody>
          <a:bodyPr wrap="square" lIns="0" tIns="0" rIns="0" bIns="0" anchor="t">
            <a:spAutoFit/>
          </a:bodyPr>
          <a:lstStyle/>
          <a:p>
            <a:pPr algn="l">
              <a:lnSpc>
                <a:spcPct val="108000"/>
              </a:lnSpc>
              <a:spcBef>
                <a:spcPts val="0"/>
              </a:spcBef>
              <a:spcAft>
                <a:spcPts val="500"/>
              </a:spcAft>
            </a:pPr>
            <a:r>
              <a:rPr sz="2000" b="0">
                <a:solidFill>
                  <a:srgbClr val="172C43"/>
                </a:solidFill>
                <a:latin typeface="Arial"/>
              </a:rPr>
              <a:t>Inspect, update,</a:t>
            </a:r>
          </a:p>
          <a:p>
            <a:pPr algn="l">
              <a:lnSpc>
                <a:spcPct val="108000"/>
              </a:lnSpc>
              <a:spcBef>
                <a:spcPts val="0"/>
              </a:spcBef>
              <a:spcAft>
                <a:spcPts val="500"/>
              </a:spcAft>
            </a:pPr>
            <a:r>
              <a:rPr sz="2000" b="0">
                <a:solidFill>
                  <a:srgbClr val="172C43"/>
                </a:solidFill>
                <a:latin typeface="Arial"/>
              </a:rPr>
              <a:t>scale and recover</a:t>
            </a:r>
          </a:p>
        </p:txBody>
      </p:sp>
      <p:sp>
        <p:nvSpPr>
          <p:cNvPr id="23" name="Rounded Rectangle 22"/>
          <p:cNvSpPr/>
          <p:nvPr/>
        </p:nvSpPr>
        <p:spPr>
          <a:xfrm>
            <a:off x="621792" y="4846320"/>
            <a:ext cx="10972800" cy="886968"/>
          </a:xfrm>
          <a:prstGeom prst="roundRect">
            <a:avLst>
              <a:gd name="adj" fmla="val 12000"/>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065776"/>
            <a:ext cx="2286000" cy="320040"/>
          </a:xfrm>
          <a:prstGeom prst="rect">
            <a:avLst/>
          </a:prstGeom>
          <a:noFill/>
        </p:spPr>
        <p:txBody>
          <a:bodyPr wrap="square" lIns="0" tIns="0" rIns="0" bIns="0" anchor="t">
            <a:spAutoFit/>
          </a:bodyPr>
          <a:lstStyle/>
          <a:p>
            <a:pPr algn="l">
              <a:lnSpc>
                <a:spcPct val="108000"/>
              </a:lnSpc>
              <a:spcBef>
                <a:spcPts val="0"/>
              </a:spcBef>
              <a:spcAft>
                <a:spcPts val="500"/>
              </a:spcAft>
            </a:pPr>
            <a:r>
              <a:rPr sz="2200" b="1">
                <a:solidFill>
                  <a:srgbClr val="2457D6"/>
                </a:solidFill>
                <a:latin typeface="Arial"/>
              </a:rPr>
              <a:t>A usable result</a:t>
            </a:r>
          </a:p>
        </p:txBody>
      </p:sp>
      <p:sp>
        <p:nvSpPr>
          <p:cNvPr id="25" name="TextBox 24"/>
          <p:cNvSpPr txBox="1"/>
          <p:nvPr/>
        </p:nvSpPr>
        <p:spPr>
          <a:xfrm>
            <a:off x="3246120" y="5029200"/>
            <a:ext cx="8046720" cy="566928"/>
          </a:xfrm>
          <a:prstGeom prst="rect">
            <a:avLst/>
          </a:prstGeom>
          <a:noFill/>
        </p:spPr>
        <p:txBody>
          <a:bodyPr wrap="square" lIns="0" tIns="0" rIns="0" bIns="0" anchor="t">
            <a:spAutoFit/>
          </a:bodyPr>
          <a:lstStyle/>
          <a:p>
            <a:pPr algn="l">
              <a:lnSpc>
                <a:spcPct val="108000"/>
              </a:lnSpc>
              <a:spcBef>
                <a:spcPts val="0"/>
              </a:spcBef>
              <a:spcAft>
                <a:spcPts val="500"/>
              </a:spcAft>
            </a:pPr>
            <a:r>
              <a:rPr sz="2000" b="0">
                <a:solidFill>
                  <a:srgbClr val="172C43"/>
                </a:solidFill>
                <a:latin typeface="Arial"/>
              </a:rPr>
              <a:t>An application URL, current status, logs and a traceable deployment history.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TARGET ARCHITECTURE</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172C43"/>
                </a:solidFill>
                <a:latin typeface="Arial"/>
              </a:rPr>
              <a:t>The platform and its applications share one cluster</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lnSpc>
                <a:spcPct val="108000"/>
              </a:lnSpc>
              <a:spcBef>
                <a:spcPts val="0"/>
              </a:spcBef>
              <a:spcAft>
                <a:spcPts val="500"/>
              </a:spcAft>
            </a:pPr>
            <a:r>
              <a:rPr sz="1600" b="0">
                <a:solidFill>
                  <a:srgbClr val="53677C"/>
                </a:solidFill>
                <a:latin typeface="Arial"/>
              </a:rPr>
              <a:t>Management requests and application traffic follow separate paths.</a:t>
            </a:r>
          </a:p>
        </p:txBody>
      </p:sp>
      <p:sp>
        <p:nvSpPr>
          <p:cNvPr id="5" name="Rectangle 4"/>
          <p:cNvSpPr/>
          <p:nvPr/>
        </p:nvSpPr>
        <p:spPr>
          <a:xfrm>
            <a:off x="576072" y="6446520"/>
            <a:ext cx="11018520" cy="10972"/>
          </a:xfrm>
          <a:prstGeom prst="rect">
            <a:avLst/>
          </a:prstGeom>
          <a:solidFill>
            <a:srgbClr val="D6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53677C"/>
                </a:solidFill>
                <a:latin typeface="Arial"/>
              </a:rPr>
              <a:t>10</a:t>
            </a:r>
          </a:p>
        </p:txBody>
      </p:sp>
      <p:sp>
        <p:nvSpPr>
          <p:cNvPr id="8" name="Rounded Rectangle 7"/>
          <p:cNvSpPr/>
          <p:nvPr/>
        </p:nvSpPr>
        <p:spPr>
          <a:xfrm>
            <a:off x="640080" y="2340864"/>
            <a:ext cx="10972800" cy="3456432"/>
          </a:xfrm>
          <a:prstGeom prst="roundRect">
            <a:avLst>
              <a:gd name="adj" fmla="val 12000"/>
            </a:avLst>
          </a:prstGeom>
          <a:solidFill>
            <a:srgbClr val="FFFFFF"/>
          </a:solidFill>
          <a:ln w="12700">
            <a:solidFill>
              <a:srgbClr val="D6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532888"/>
            <a:ext cx="10424160" cy="274320"/>
          </a:xfrm>
          <a:prstGeom prst="rect">
            <a:avLst/>
          </a:prstGeom>
          <a:noFill/>
        </p:spPr>
        <p:txBody>
          <a:bodyPr wrap="square" lIns="0" tIns="0" rIns="0" bIns="0" anchor="t">
            <a:spAutoFit/>
          </a:bodyPr>
          <a:lstStyle/>
          <a:p>
            <a:pPr algn="l">
              <a:lnSpc>
                <a:spcPct val="108000"/>
              </a:lnSpc>
              <a:spcBef>
                <a:spcPts val="0"/>
              </a:spcBef>
              <a:spcAft>
                <a:spcPts val="500"/>
              </a:spcAft>
            </a:pPr>
            <a:r>
              <a:rPr sz="1600" b="1">
                <a:solidFill>
                  <a:srgbClr val="172C43"/>
                </a:solidFill>
                <a:latin typeface="Arial"/>
              </a:rPr>
              <a:t>ONE K3s CLUSTER · initially one Linux host</a:t>
            </a:r>
          </a:p>
        </p:txBody>
      </p:sp>
      <p:sp>
        <p:nvSpPr>
          <p:cNvPr id="10" name="Rounded Rectangle 9"/>
          <p:cNvSpPr/>
          <p:nvPr/>
        </p:nvSpPr>
        <p:spPr>
          <a:xfrm>
            <a:off x="1024128" y="1929384"/>
            <a:ext cx="3090672" cy="292608"/>
          </a:xfrm>
          <a:prstGeom prst="roundRect">
            <a:avLst>
              <a:gd name="adj" fmla="val 12000"/>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5568" y="1979676"/>
            <a:ext cx="2907791"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2457D6"/>
                </a:solidFill>
                <a:latin typeface="Arial"/>
              </a:rPr>
              <a:t>ADMINISTRATOR · LAN / VPN</a:t>
            </a:r>
          </a:p>
        </p:txBody>
      </p:sp>
      <p:sp>
        <p:nvSpPr>
          <p:cNvPr id="12" name="Rounded Rectangle 11"/>
          <p:cNvSpPr/>
          <p:nvPr/>
        </p:nvSpPr>
        <p:spPr>
          <a:xfrm>
            <a:off x="7680960" y="1929384"/>
            <a:ext cx="2414016" cy="292608"/>
          </a:xfrm>
          <a:prstGeom prst="roundRect">
            <a:avLst>
              <a:gd name="adj" fmla="val 12000"/>
            </a:avLst>
          </a:prstGeom>
          <a:solidFill>
            <a:srgbClr val="E4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0" y="1979676"/>
            <a:ext cx="2231136"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APPLICATION USERS</a:t>
            </a:r>
          </a:p>
        </p:txBody>
      </p:sp>
      <p:sp>
        <p:nvSpPr>
          <p:cNvPr id="14" name="Down Arrow 13"/>
          <p:cNvSpPr/>
          <p:nvPr/>
        </p:nvSpPr>
        <p:spPr>
          <a:xfrm>
            <a:off x="2450592" y="2221992"/>
            <a:ext cx="182880" cy="210312"/>
          </a:xfrm>
          <a:prstGeom prst="downArrow">
            <a:avLst/>
          </a:prstGeom>
          <a:solidFill>
            <a:srgbClr val="245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own Arrow 14"/>
          <p:cNvSpPr/>
          <p:nvPr/>
        </p:nvSpPr>
        <p:spPr>
          <a:xfrm>
            <a:off x="8796528" y="2221992"/>
            <a:ext cx="182880" cy="210312"/>
          </a:xfrm>
          <a:prstGeom prst="down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14400" y="3044952"/>
            <a:ext cx="3749039" cy="1572768"/>
          </a:xfrm>
          <a:prstGeom prst="roundRect">
            <a:avLst>
              <a:gd name="adj" fmla="val 12000"/>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15568" y="3191256"/>
            <a:ext cx="3337560" cy="237744"/>
          </a:xfrm>
          <a:prstGeom prst="rect">
            <a:avLst/>
          </a:prstGeom>
          <a:noFill/>
        </p:spPr>
        <p:txBody>
          <a:bodyPr wrap="square" lIns="0" tIns="0" rIns="0" bIns="0" anchor="t">
            <a:spAutoFit/>
          </a:bodyPr>
          <a:lstStyle/>
          <a:p>
            <a:pPr algn="l">
              <a:lnSpc>
                <a:spcPct val="108000"/>
              </a:lnSpc>
              <a:spcBef>
                <a:spcPts val="0"/>
              </a:spcBef>
              <a:spcAft>
                <a:spcPts val="500"/>
              </a:spcAft>
            </a:pPr>
            <a:r>
              <a:rPr sz="1300" b="1">
                <a:solidFill>
                  <a:srgbClr val="2457D6"/>
                </a:solidFill>
                <a:latin typeface="Arial"/>
              </a:rPr>
              <a:t>platform-system</a:t>
            </a:r>
          </a:p>
        </p:txBody>
      </p:sp>
      <p:sp>
        <p:nvSpPr>
          <p:cNvPr id="18" name="TextBox 17"/>
          <p:cNvSpPr txBox="1"/>
          <p:nvPr/>
        </p:nvSpPr>
        <p:spPr>
          <a:xfrm>
            <a:off x="1115568" y="3630168"/>
            <a:ext cx="3337560" cy="347472"/>
          </a:xfrm>
          <a:prstGeom prst="rect">
            <a:avLst/>
          </a:prstGeom>
          <a:noFill/>
        </p:spPr>
        <p:txBody>
          <a:bodyPr wrap="square" lIns="0" tIns="0" rIns="0" bIns="0" anchor="t">
            <a:spAutoFit/>
          </a:bodyPr>
          <a:lstStyle/>
          <a:p>
            <a:pPr algn="l">
              <a:lnSpc>
                <a:spcPct val="108000"/>
              </a:lnSpc>
              <a:spcBef>
                <a:spcPts val="0"/>
              </a:spcBef>
              <a:spcAft>
                <a:spcPts val="500"/>
              </a:spcAft>
            </a:pPr>
            <a:r>
              <a:rPr sz="2200" b="1">
                <a:solidFill>
                  <a:srgbClr val="172C43"/>
                </a:solidFill>
                <a:latin typeface="Arial"/>
              </a:rPr>
              <a:t>Web UI + Go broker</a:t>
            </a:r>
          </a:p>
        </p:txBody>
      </p:sp>
      <p:sp>
        <p:nvSpPr>
          <p:cNvPr id="19" name="TextBox 18"/>
          <p:cNvSpPr txBox="1"/>
          <p:nvPr/>
        </p:nvSpPr>
        <p:spPr>
          <a:xfrm>
            <a:off x="1115568" y="4142232"/>
            <a:ext cx="3337560" cy="274320"/>
          </a:xfrm>
          <a:prstGeom prst="rect">
            <a:avLst/>
          </a:prstGeom>
          <a:noFill/>
        </p:spPr>
        <p:txBody>
          <a:bodyPr wrap="square" lIns="0" tIns="0" rIns="0" bIns="0" anchor="t">
            <a:spAutoFit/>
          </a:bodyPr>
          <a:lstStyle/>
          <a:p>
            <a:pPr algn="l">
              <a:lnSpc>
                <a:spcPct val="108000"/>
              </a:lnSpc>
              <a:spcBef>
                <a:spcPts val="0"/>
              </a:spcBef>
              <a:spcAft>
                <a:spcPts val="500"/>
              </a:spcAft>
            </a:pPr>
            <a:r>
              <a:rPr sz="1400" b="0">
                <a:solidFill>
                  <a:srgbClr val="53677C"/>
                </a:solidFill>
                <a:latin typeface="Arial"/>
              </a:rPr>
              <a:t>Worker / Helm SDK · SQLite history</a:t>
            </a:r>
          </a:p>
        </p:txBody>
      </p:sp>
      <p:sp>
        <p:nvSpPr>
          <p:cNvPr id="20" name="Right Arrow 19"/>
          <p:cNvSpPr/>
          <p:nvPr/>
        </p:nvSpPr>
        <p:spPr>
          <a:xfrm>
            <a:off x="4828032" y="3749039"/>
            <a:ext cx="1627632" cy="219456"/>
          </a:xfrm>
          <a:prstGeom prst="rightArrow">
            <a:avLst/>
          </a:prstGeom>
          <a:solidFill>
            <a:srgbClr val="245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64024" y="3291840"/>
            <a:ext cx="1801368" cy="457200"/>
          </a:xfrm>
          <a:prstGeom prst="rect">
            <a:avLst/>
          </a:prstGeom>
          <a:noFill/>
        </p:spPr>
        <p:txBody>
          <a:bodyPr wrap="square" lIns="0" tIns="0" rIns="0" bIns="0" anchor="t">
            <a:spAutoFit/>
          </a:bodyPr>
          <a:lstStyle/>
          <a:p>
            <a:pPr algn="ctr">
              <a:lnSpc>
                <a:spcPct val="108000"/>
              </a:lnSpc>
              <a:spcBef>
                <a:spcPts val="0"/>
              </a:spcBef>
              <a:spcAft>
                <a:spcPts val="500"/>
              </a:spcAft>
            </a:pPr>
            <a:r>
              <a:rPr sz="1300" b="1">
                <a:solidFill>
                  <a:srgbClr val="2457D6"/>
                </a:solidFill>
                <a:latin typeface="Arial"/>
              </a:rPr>
              <a:t>Kubernetes API</a:t>
            </a:r>
          </a:p>
        </p:txBody>
      </p:sp>
      <p:sp>
        <p:nvSpPr>
          <p:cNvPr id="22" name="TextBox 21"/>
          <p:cNvSpPr txBox="1"/>
          <p:nvPr/>
        </p:nvSpPr>
        <p:spPr>
          <a:xfrm>
            <a:off x="4709160" y="4151376"/>
            <a:ext cx="1920240" cy="265176"/>
          </a:xfrm>
          <a:prstGeom prst="rect">
            <a:avLst/>
          </a:prstGeom>
          <a:noFill/>
        </p:spPr>
        <p:txBody>
          <a:bodyPr wrap="square" lIns="0" tIns="0" rIns="0" bIns="0" anchor="t">
            <a:spAutoFit/>
          </a:bodyPr>
          <a:lstStyle/>
          <a:p>
            <a:pPr algn="ctr">
              <a:lnSpc>
                <a:spcPct val="108000"/>
              </a:lnSpc>
              <a:spcBef>
                <a:spcPts val="0"/>
              </a:spcBef>
              <a:spcAft>
                <a:spcPts val="500"/>
              </a:spcAft>
            </a:pPr>
            <a:r>
              <a:rPr sz="1200" b="0">
                <a:solidFill>
                  <a:srgbClr val="53677C"/>
                </a:solidFill>
                <a:latin typeface="Arial"/>
              </a:rPr>
              <a:t>deploy / observe</a:t>
            </a:r>
          </a:p>
        </p:txBody>
      </p:sp>
      <p:sp>
        <p:nvSpPr>
          <p:cNvPr id="23" name="Rounded Rectangle 22"/>
          <p:cNvSpPr/>
          <p:nvPr/>
        </p:nvSpPr>
        <p:spPr>
          <a:xfrm>
            <a:off x="6766560" y="3044952"/>
            <a:ext cx="4498848" cy="475488"/>
          </a:xfrm>
          <a:prstGeom prst="roundRect">
            <a:avLst>
              <a:gd name="adj" fmla="val 12000"/>
            </a:avLst>
          </a:prstGeom>
          <a:solidFill>
            <a:srgbClr val="E4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49440" y="3172968"/>
            <a:ext cx="4114800" cy="228600"/>
          </a:xfrm>
          <a:prstGeom prst="rect">
            <a:avLst/>
          </a:prstGeom>
          <a:noFill/>
        </p:spPr>
        <p:txBody>
          <a:bodyPr wrap="square" lIns="0" tIns="0" rIns="0" bIns="0" anchor="t">
            <a:spAutoFit/>
          </a:bodyPr>
          <a:lstStyle/>
          <a:p>
            <a:pPr algn="l">
              <a:lnSpc>
                <a:spcPct val="108000"/>
              </a:lnSpc>
              <a:spcBef>
                <a:spcPts val="0"/>
              </a:spcBef>
              <a:spcAft>
                <a:spcPts val="500"/>
              </a:spcAft>
            </a:pPr>
            <a:r>
              <a:rPr sz="1400" b="1">
                <a:solidFill>
                  <a:srgbClr val="087F8C"/>
                </a:solidFill>
                <a:latin typeface="Arial"/>
              </a:rPr>
              <a:t>Traefik · permitted private / public route</a:t>
            </a:r>
          </a:p>
        </p:txBody>
      </p:sp>
      <p:sp>
        <p:nvSpPr>
          <p:cNvPr id="25" name="Down Arrow 24"/>
          <p:cNvSpPr/>
          <p:nvPr/>
        </p:nvSpPr>
        <p:spPr>
          <a:xfrm>
            <a:off x="8897112" y="3566160"/>
            <a:ext cx="182880" cy="256032"/>
          </a:xfrm>
          <a:prstGeom prst="down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766560" y="3886200"/>
            <a:ext cx="4498848" cy="1124712"/>
          </a:xfrm>
          <a:prstGeom prst="roundRect">
            <a:avLst>
              <a:gd name="adj" fmla="val 12000"/>
            </a:avLst>
          </a:prstGeom>
          <a:solidFill>
            <a:srgbClr val="E4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67728" y="4032504"/>
            <a:ext cx="4069080" cy="210312"/>
          </a:xfrm>
          <a:prstGeom prst="rect">
            <a:avLst/>
          </a:prstGeom>
          <a:noFill/>
        </p:spPr>
        <p:txBody>
          <a:bodyPr wrap="square" lIns="0" tIns="0" rIns="0" bIns="0" anchor="t">
            <a:spAutoFit/>
          </a:bodyPr>
          <a:lstStyle/>
          <a:p>
            <a:pPr algn="l">
              <a:lnSpc>
                <a:spcPct val="108000"/>
              </a:lnSpc>
              <a:spcBef>
                <a:spcPts val="0"/>
              </a:spcBef>
              <a:spcAft>
                <a:spcPts val="500"/>
              </a:spcAft>
            </a:pPr>
            <a:r>
              <a:rPr sz="1300" b="1">
                <a:solidFill>
                  <a:srgbClr val="087F8C"/>
                </a:solidFill>
                <a:latin typeface="Arial"/>
              </a:rPr>
              <a:t>platform-apps</a:t>
            </a:r>
          </a:p>
        </p:txBody>
      </p:sp>
      <p:sp>
        <p:nvSpPr>
          <p:cNvPr id="28" name="TextBox 27"/>
          <p:cNvSpPr txBox="1"/>
          <p:nvPr/>
        </p:nvSpPr>
        <p:spPr>
          <a:xfrm>
            <a:off x="6967728" y="4425696"/>
            <a:ext cx="4069080" cy="329184"/>
          </a:xfrm>
          <a:prstGeom prst="rect">
            <a:avLst/>
          </a:prstGeom>
          <a:noFill/>
        </p:spPr>
        <p:txBody>
          <a:bodyPr wrap="square" lIns="0" tIns="0" rIns="0" bIns="0" anchor="t">
            <a:spAutoFit/>
          </a:bodyPr>
          <a:lstStyle/>
          <a:p>
            <a:pPr algn="l">
              <a:lnSpc>
                <a:spcPct val="108000"/>
              </a:lnSpc>
              <a:spcBef>
                <a:spcPts val="0"/>
              </a:spcBef>
              <a:spcAft>
                <a:spcPts val="500"/>
              </a:spcAft>
            </a:pPr>
            <a:r>
              <a:rPr sz="2200" b="1">
                <a:solidFill>
                  <a:srgbClr val="172C43"/>
                </a:solidFill>
                <a:latin typeface="Arial"/>
              </a:rPr>
              <a:t>Application Service → Pods</a:t>
            </a:r>
          </a:p>
        </p:txBody>
      </p:sp>
      <p:sp>
        <p:nvSpPr>
          <p:cNvPr id="29" name="TextBox 28"/>
          <p:cNvSpPr txBox="1"/>
          <p:nvPr/>
        </p:nvSpPr>
        <p:spPr>
          <a:xfrm>
            <a:off x="960120" y="5330952"/>
            <a:ext cx="10424160" cy="265176"/>
          </a:xfrm>
          <a:prstGeom prst="rect">
            <a:avLst/>
          </a:prstGeom>
          <a:noFill/>
        </p:spPr>
        <p:txBody>
          <a:bodyPr wrap="square" lIns="0" tIns="0" rIns="0" bIns="0" anchor="t">
            <a:spAutoFit/>
          </a:bodyPr>
          <a:lstStyle/>
          <a:p>
            <a:pPr algn="l">
              <a:lnSpc>
                <a:spcPct val="108000"/>
              </a:lnSpc>
              <a:spcBef>
                <a:spcPts val="0"/>
              </a:spcBef>
              <a:spcAft>
                <a:spcPts val="500"/>
              </a:spcAft>
            </a:pPr>
            <a:r>
              <a:rPr sz="1500" b="0">
                <a:solidFill>
                  <a:srgbClr val="53677C"/>
                </a:solidFill>
                <a:latin typeface="Arial"/>
              </a:rPr>
              <a:t>Shared host resources: K3s control plane · container runtime · networking · storage</a:t>
            </a:r>
          </a:p>
        </p:txBody>
      </p:sp>
      <p:sp>
        <p:nvSpPr>
          <p:cNvPr id="30" name="TextBox 29"/>
          <p:cNvSpPr txBox="1"/>
          <p:nvPr/>
        </p:nvSpPr>
        <p:spPr>
          <a:xfrm>
            <a:off x="731520" y="5952744"/>
            <a:ext cx="10881360" cy="274320"/>
          </a:xfrm>
          <a:prstGeom prst="rect">
            <a:avLst/>
          </a:prstGeom>
          <a:noFill/>
        </p:spPr>
        <p:txBody>
          <a:bodyPr wrap="square" lIns="0" tIns="0" rIns="0" bIns="0" anchor="t">
            <a:spAutoFit/>
          </a:bodyPr>
          <a:lstStyle/>
          <a:p>
            <a:pPr algn="l">
              <a:lnSpc>
                <a:spcPct val="108000"/>
              </a:lnSpc>
              <a:spcBef>
                <a:spcPts val="0"/>
              </a:spcBef>
              <a:spcAft>
                <a:spcPts val="500"/>
              </a:spcAft>
            </a:pPr>
            <a:r>
              <a:rPr sz="1500" b="0">
                <a:solidFill>
                  <a:srgbClr val="53677C"/>
                </a:solidFill>
                <a:latin typeface="Arial"/>
              </a:rPr>
              <a:t>Existing application traffic bypasses the broker. Single-host failure still affects the whole installation.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TARGET LIFECYCLE</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172C43"/>
                </a:solidFill>
                <a:latin typeface="Arial"/>
              </a:rPr>
              <a:t>Every change has a recorded outcome</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lnSpc>
                <a:spcPct val="108000"/>
              </a:lnSpc>
              <a:spcBef>
                <a:spcPts val="0"/>
              </a:spcBef>
              <a:spcAft>
                <a:spcPts val="500"/>
              </a:spcAft>
            </a:pPr>
            <a:r>
              <a:rPr sz="1600" b="0">
                <a:solidFill>
                  <a:srgbClr val="53677C"/>
                </a:solidFill>
                <a:latin typeface="Arial"/>
              </a:rPr>
              <a:t>A request is accepted first; execution and readiness are observed afterwards.</a:t>
            </a:r>
          </a:p>
        </p:txBody>
      </p:sp>
      <p:sp>
        <p:nvSpPr>
          <p:cNvPr id="5" name="Rectangle 4"/>
          <p:cNvSpPr/>
          <p:nvPr/>
        </p:nvSpPr>
        <p:spPr>
          <a:xfrm>
            <a:off x="576072" y="6446520"/>
            <a:ext cx="11018520" cy="10972"/>
          </a:xfrm>
          <a:prstGeom prst="rect">
            <a:avLst/>
          </a:prstGeom>
          <a:solidFill>
            <a:srgbClr val="D6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53677C"/>
                </a:solidFill>
                <a:latin typeface="Arial"/>
              </a:rPr>
              <a:t>11</a:t>
            </a:r>
          </a:p>
        </p:txBody>
      </p:sp>
      <p:sp>
        <p:nvSpPr>
          <p:cNvPr id="8" name="Rounded Rectangle 7"/>
          <p:cNvSpPr/>
          <p:nvPr/>
        </p:nvSpPr>
        <p:spPr>
          <a:xfrm>
            <a:off x="640080" y="2423160"/>
            <a:ext cx="2011680" cy="12801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33472"/>
            <a:ext cx="1737360" cy="320040"/>
          </a:xfrm>
          <a:prstGeom prst="rect">
            <a:avLst/>
          </a:prstGeom>
          <a:noFill/>
        </p:spPr>
        <p:txBody>
          <a:bodyPr wrap="square" lIns="0" tIns="0" rIns="0" bIns="0" anchor="t">
            <a:spAutoFit/>
          </a:bodyPr>
          <a:lstStyle/>
          <a:p>
            <a:pPr algn="l">
              <a:lnSpc>
                <a:spcPct val="108000"/>
              </a:lnSpc>
              <a:spcBef>
                <a:spcPts val="0"/>
              </a:spcBef>
              <a:spcAft>
                <a:spcPts val="500"/>
              </a:spcAft>
            </a:pPr>
            <a:r>
              <a:rPr sz="2200" b="1">
                <a:solidFill>
                  <a:srgbClr val="172C43"/>
                </a:solidFill>
                <a:latin typeface="Arial"/>
              </a:rPr>
              <a:t>Request</a:t>
            </a:r>
          </a:p>
        </p:txBody>
      </p:sp>
      <p:sp>
        <p:nvSpPr>
          <p:cNvPr id="10" name="TextBox 9"/>
          <p:cNvSpPr txBox="1"/>
          <p:nvPr/>
        </p:nvSpPr>
        <p:spPr>
          <a:xfrm>
            <a:off x="777240" y="3154680"/>
            <a:ext cx="1737360" cy="347472"/>
          </a:xfrm>
          <a:prstGeom prst="rect">
            <a:avLst/>
          </a:prstGeom>
          <a:noFill/>
        </p:spPr>
        <p:txBody>
          <a:bodyPr wrap="square" lIns="0" tIns="0" rIns="0" bIns="0" anchor="t">
            <a:spAutoFit/>
          </a:bodyPr>
          <a:lstStyle/>
          <a:p>
            <a:pPr algn="l">
              <a:lnSpc>
                <a:spcPct val="108000"/>
              </a:lnSpc>
              <a:spcBef>
                <a:spcPts val="0"/>
              </a:spcBef>
              <a:spcAft>
                <a:spcPts val="500"/>
              </a:spcAft>
            </a:pPr>
            <a:r>
              <a:rPr sz="1350" b="0">
                <a:solidFill>
                  <a:srgbClr val="53677C"/>
                </a:solidFill>
                <a:latin typeface="Arial"/>
              </a:rPr>
              <a:t>Image + configuration</a:t>
            </a:r>
          </a:p>
        </p:txBody>
      </p:sp>
      <p:sp>
        <p:nvSpPr>
          <p:cNvPr id="11" name="Right Arrow 10"/>
          <p:cNvSpPr/>
          <p:nvPr/>
        </p:nvSpPr>
        <p:spPr>
          <a:xfrm>
            <a:off x="2679191" y="2999232"/>
            <a:ext cx="182880" cy="17373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889504" y="2423160"/>
            <a:ext cx="2011680" cy="12801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26664" y="2633472"/>
            <a:ext cx="1737360" cy="320040"/>
          </a:xfrm>
          <a:prstGeom prst="rect">
            <a:avLst/>
          </a:prstGeom>
          <a:noFill/>
        </p:spPr>
        <p:txBody>
          <a:bodyPr wrap="square" lIns="0" tIns="0" rIns="0" bIns="0" anchor="t">
            <a:spAutoFit/>
          </a:bodyPr>
          <a:lstStyle/>
          <a:p>
            <a:pPr algn="l">
              <a:lnSpc>
                <a:spcPct val="108000"/>
              </a:lnSpc>
              <a:spcBef>
                <a:spcPts val="0"/>
              </a:spcBef>
              <a:spcAft>
                <a:spcPts val="500"/>
              </a:spcAft>
            </a:pPr>
            <a:r>
              <a:rPr sz="2200" b="1">
                <a:solidFill>
                  <a:srgbClr val="172C43"/>
                </a:solidFill>
                <a:latin typeface="Arial"/>
              </a:rPr>
              <a:t>Validate</a:t>
            </a:r>
          </a:p>
        </p:txBody>
      </p:sp>
      <p:sp>
        <p:nvSpPr>
          <p:cNvPr id="14" name="TextBox 13"/>
          <p:cNvSpPr txBox="1"/>
          <p:nvPr/>
        </p:nvSpPr>
        <p:spPr>
          <a:xfrm>
            <a:off x="3026664" y="3154680"/>
            <a:ext cx="1737360" cy="347472"/>
          </a:xfrm>
          <a:prstGeom prst="rect">
            <a:avLst/>
          </a:prstGeom>
          <a:noFill/>
        </p:spPr>
        <p:txBody>
          <a:bodyPr wrap="square" lIns="0" tIns="0" rIns="0" bIns="0" anchor="t">
            <a:spAutoFit/>
          </a:bodyPr>
          <a:lstStyle/>
          <a:p>
            <a:pPr algn="l">
              <a:lnSpc>
                <a:spcPct val="108000"/>
              </a:lnSpc>
              <a:spcBef>
                <a:spcPts val="0"/>
              </a:spcBef>
              <a:spcAft>
                <a:spcPts val="500"/>
              </a:spcAft>
            </a:pPr>
            <a:r>
              <a:rPr sz="1350" b="0">
                <a:solidFill>
                  <a:srgbClr val="53677C"/>
                </a:solidFill>
                <a:latin typeface="Arial"/>
              </a:rPr>
              <a:t>Access + compatibility</a:t>
            </a:r>
          </a:p>
        </p:txBody>
      </p:sp>
      <p:sp>
        <p:nvSpPr>
          <p:cNvPr id="15" name="Right Arrow 14"/>
          <p:cNvSpPr/>
          <p:nvPr/>
        </p:nvSpPr>
        <p:spPr>
          <a:xfrm>
            <a:off x="4928616" y="2999232"/>
            <a:ext cx="182880" cy="17373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138928" y="2423160"/>
            <a:ext cx="2011680" cy="12801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76088" y="2633472"/>
            <a:ext cx="1737360" cy="320040"/>
          </a:xfrm>
          <a:prstGeom prst="rect">
            <a:avLst/>
          </a:prstGeom>
          <a:noFill/>
        </p:spPr>
        <p:txBody>
          <a:bodyPr wrap="square" lIns="0" tIns="0" rIns="0" bIns="0" anchor="t">
            <a:spAutoFit/>
          </a:bodyPr>
          <a:lstStyle/>
          <a:p>
            <a:pPr algn="l">
              <a:lnSpc>
                <a:spcPct val="108000"/>
              </a:lnSpc>
              <a:spcBef>
                <a:spcPts val="0"/>
              </a:spcBef>
              <a:spcAft>
                <a:spcPts val="500"/>
              </a:spcAft>
            </a:pPr>
            <a:r>
              <a:rPr sz="2200" b="1">
                <a:solidFill>
                  <a:srgbClr val="172C43"/>
                </a:solidFill>
                <a:latin typeface="Arial"/>
              </a:rPr>
              <a:t>Persist</a:t>
            </a:r>
          </a:p>
        </p:txBody>
      </p:sp>
      <p:sp>
        <p:nvSpPr>
          <p:cNvPr id="18" name="TextBox 17"/>
          <p:cNvSpPr txBox="1"/>
          <p:nvPr/>
        </p:nvSpPr>
        <p:spPr>
          <a:xfrm>
            <a:off x="5276088" y="3154680"/>
            <a:ext cx="1737360" cy="347472"/>
          </a:xfrm>
          <a:prstGeom prst="rect">
            <a:avLst/>
          </a:prstGeom>
          <a:noFill/>
        </p:spPr>
        <p:txBody>
          <a:bodyPr wrap="square" lIns="0" tIns="0" rIns="0" bIns="0" anchor="t">
            <a:spAutoFit/>
          </a:bodyPr>
          <a:lstStyle/>
          <a:p>
            <a:pPr algn="l">
              <a:lnSpc>
                <a:spcPct val="108000"/>
              </a:lnSpc>
              <a:spcBef>
                <a:spcPts val="0"/>
              </a:spcBef>
              <a:spcAft>
                <a:spcPts val="500"/>
              </a:spcAft>
            </a:pPr>
            <a:r>
              <a:rPr sz="1350" b="0">
                <a:solidFill>
                  <a:srgbClr val="53677C"/>
                </a:solidFill>
                <a:latin typeface="Arial"/>
              </a:rPr>
              <a:t>Operation + revision</a:t>
            </a:r>
          </a:p>
        </p:txBody>
      </p:sp>
      <p:sp>
        <p:nvSpPr>
          <p:cNvPr id="19" name="Right Arrow 18"/>
          <p:cNvSpPr/>
          <p:nvPr/>
        </p:nvSpPr>
        <p:spPr>
          <a:xfrm>
            <a:off x="7178040" y="2999232"/>
            <a:ext cx="182880" cy="17373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388352" y="2423160"/>
            <a:ext cx="2011680" cy="12801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25512" y="2633472"/>
            <a:ext cx="1737360" cy="320040"/>
          </a:xfrm>
          <a:prstGeom prst="rect">
            <a:avLst/>
          </a:prstGeom>
          <a:noFill/>
        </p:spPr>
        <p:txBody>
          <a:bodyPr wrap="square" lIns="0" tIns="0" rIns="0" bIns="0" anchor="t">
            <a:spAutoFit/>
          </a:bodyPr>
          <a:lstStyle/>
          <a:p>
            <a:pPr algn="l">
              <a:lnSpc>
                <a:spcPct val="108000"/>
              </a:lnSpc>
              <a:spcBef>
                <a:spcPts val="0"/>
              </a:spcBef>
              <a:spcAft>
                <a:spcPts val="500"/>
              </a:spcAft>
            </a:pPr>
            <a:r>
              <a:rPr sz="2200" b="1">
                <a:solidFill>
                  <a:srgbClr val="172C43"/>
                </a:solidFill>
                <a:latin typeface="Arial"/>
              </a:rPr>
              <a:t>Execute</a:t>
            </a:r>
          </a:p>
        </p:txBody>
      </p:sp>
      <p:sp>
        <p:nvSpPr>
          <p:cNvPr id="22" name="TextBox 21"/>
          <p:cNvSpPr txBox="1"/>
          <p:nvPr/>
        </p:nvSpPr>
        <p:spPr>
          <a:xfrm>
            <a:off x="7525512" y="3154680"/>
            <a:ext cx="1737360" cy="347472"/>
          </a:xfrm>
          <a:prstGeom prst="rect">
            <a:avLst/>
          </a:prstGeom>
          <a:noFill/>
        </p:spPr>
        <p:txBody>
          <a:bodyPr wrap="square" lIns="0" tIns="0" rIns="0" bIns="0" anchor="t">
            <a:spAutoFit/>
          </a:bodyPr>
          <a:lstStyle/>
          <a:p>
            <a:pPr algn="l">
              <a:lnSpc>
                <a:spcPct val="108000"/>
              </a:lnSpc>
              <a:spcBef>
                <a:spcPts val="0"/>
              </a:spcBef>
              <a:spcAft>
                <a:spcPts val="500"/>
              </a:spcAft>
            </a:pPr>
            <a:r>
              <a:rPr sz="1350" b="0">
                <a:solidFill>
                  <a:srgbClr val="53677C"/>
                </a:solidFill>
                <a:latin typeface="Arial"/>
              </a:rPr>
              <a:t>Helm + Kubernetes</a:t>
            </a:r>
          </a:p>
        </p:txBody>
      </p:sp>
      <p:sp>
        <p:nvSpPr>
          <p:cNvPr id="23" name="Right Arrow 22"/>
          <p:cNvSpPr/>
          <p:nvPr/>
        </p:nvSpPr>
        <p:spPr>
          <a:xfrm>
            <a:off x="9427464" y="2999232"/>
            <a:ext cx="182880" cy="17373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637776" y="2423160"/>
            <a:ext cx="2011680" cy="12801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74936" y="2633472"/>
            <a:ext cx="1737360" cy="320040"/>
          </a:xfrm>
          <a:prstGeom prst="rect">
            <a:avLst/>
          </a:prstGeom>
          <a:noFill/>
        </p:spPr>
        <p:txBody>
          <a:bodyPr wrap="square" lIns="0" tIns="0" rIns="0" bIns="0" anchor="t">
            <a:spAutoFit/>
          </a:bodyPr>
          <a:lstStyle/>
          <a:p>
            <a:pPr algn="l">
              <a:lnSpc>
                <a:spcPct val="108000"/>
              </a:lnSpc>
              <a:spcBef>
                <a:spcPts val="0"/>
              </a:spcBef>
              <a:spcAft>
                <a:spcPts val="500"/>
              </a:spcAft>
            </a:pPr>
            <a:r>
              <a:rPr sz="2200" b="1">
                <a:solidFill>
                  <a:srgbClr val="172C43"/>
                </a:solidFill>
                <a:latin typeface="Arial"/>
              </a:rPr>
              <a:t>Observe</a:t>
            </a:r>
          </a:p>
        </p:txBody>
      </p:sp>
      <p:sp>
        <p:nvSpPr>
          <p:cNvPr id="26" name="TextBox 25"/>
          <p:cNvSpPr txBox="1"/>
          <p:nvPr/>
        </p:nvSpPr>
        <p:spPr>
          <a:xfrm>
            <a:off x="9774936" y="3154680"/>
            <a:ext cx="1737360" cy="347472"/>
          </a:xfrm>
          <a:prstGeom prst="rect">
            <a:avLst/>
          </a:prstGeom>
          <a:noFill/>
        </p:spPr>
        <p:txBody>
          <a:bodyPr wrap="square" lIns="0" tIns="0" rIns="0" bIns="0" anchor="t">
            <a:spAutoFit/>
          </a:bodyPr>
          <a:lstStyle/>
          <a:p>
            <a:pPr algn="l">
              <a:lnSpc>
                <a:spcPct val="108000"/>
              </a:lnSpc>
              <a:spcBef>
                <a:spcPts val="0"/>
              </a:spcBef>
              <a:spcAft>
                <a:spcPts val="500"/>
              </a:spcAft>
            </a:pPr>
            <a:r>
              <a:rPr sz="1350" b="0">
                <a:solidFill>
                  <a:srgbClr val="53677C"/>
                </a:solidFill>
                <a:latin typeface="Arial"/>
              </a:rPr>
              <a:t>Ready or failed</a:t>
            </a:r>
          </a:p>
        </p:txBody>
      </p:sp>
      <p:sp>
        <p:nvSpPr>
          <p:cNvPr id="27" name="TextBox 26"/>
          <p:cNvSpPr txBox="1"/>
          <p:nvPr/>
        </p:nvSpPr>
        <p:spPr>
          <a:xfrm>
            <a:off x="713232" y="4123944"/>
            <a:ext cx="10607040" cy="365760"/>
          </a:xfrm>
          <a:prstGeom prst="rect">
            <a:avLst/>
          </a:prstGeom>
          <a:noFill/>
        </p:spPr>
        <p:txBody>
          <a:bodyPr wrap="square" lIns="0" tIns="0" rIns="0" bIns="0" anchor="t">
            <a:spAutoFit/>
          </a:bodyPr>
          <a:lstStyle/>
          <a:p>
            <a:pPr algn="l">
              <a:lnSpc>
                <a:spcPct val="108000"/>
              </a:lnSpc>
              <a:spcBef>
                <a:spcPts val="0"/>
              </a:spcBef>
              <a:spcAft>
                <a:spcPts val="500"/>
              </a:spcAft>
            </a:pPr>
            <a:r>
              <a:rPr sz="2300" b="1">
                <a:solidFill>
                  <a:srgbClr val="172C43"/>
                </a:solidFill>
                <a:latin typeface="Arial"/>
              </a:rPr>
              <a:t>Example: a controlled update failure</a:t>
            </a:r>
          </a:p>
        </p:txBody>
      </p:sp>
      <p:sp>
        <p:nvSpPr>
          <p:cNvPr id="28" name="Rounded Rectangle 27"/>
          <p:cNvSpPr/>
          <p:nvPr/>
        </p:nvSpPr>
        <p:spPr>
          <a:xfrm>
            <a:off x="713232" y="4681728"/>
            <a:ext cx="2404872" cy="960120"/>
          </a:xfrm>
          <a:prstGeom prst="roundRect">
            <a:avLst>
              <a:gd name="adj" fmla="val 12000"/>
            </a:avLst>
          </a:prstGeom>
          <a:solidFill>
            <a:srgbClr val="E4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7824" y="4892040"/>
            <a:ext cx="548640" cy="36576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087F8C"/>
                </a:solidFill>
                <a:latin typeface="Arial"/>
              </a:rPr>
              <a:t>v1</a:t>
            </a:r>
          </a:p>
        </p:txBody>
      </p:sp>
      <p:sp>
        <p:nvSpPr>
          <p:cNvPr id="30" name="TextBox 29"/>
          <p:cNvSpPr txBox="1"/>
          <p:nvPr/>
        </p:nvSpPr>
        <p:spPr>
          <a:xfrm>
            <a:off x="1517904" y="4901184"/>
            <a:ext cx="1444752" cy="521207"/>
          </a:xfrm>
          <a:prstGeom prst="rect">
            <a:avLst/>
          </a:prstGeom>
          <a:noFill/>
        </p:spPr>
        <p:txBody>
          <a:bodyPr wrap="square" lIns="0" tIns="0" rIns="0" bIns="0" anchor="t">
            <a:spAutoFit/>
          </a:bodyPr>
          <a:lstStyle/>
          <a:p>
            <a:pPr algn="l">
              <a:lnSpc>
                <a:spcPct val="108000"/>
              </a:lnSpc>
              <a:spcBef>
                <a:spcPts val="0"/>
              </a:spcBef>
              <a:spcAft>
                <a:spcPts val="500"/>
              </a:spcAft>
            </a:pPr>
            <a:r>
              <a:rPr sz="1600" b="1">
                <a:solidFill>
                  <a:srgbClr val="087F8C"/>
                </a:solidFill>
                <a:latin typeface="Arial"/>
              </a:rPr>
              <a:t>Ready</a:t>
            </a:r>
          </a:p>
        </p:txBody>
      </p:sp>
      <p:sp>
        <p:nvSpPr>
          <p:cNvPr id="31" name="Right Arrow 30"/>
          <p:cNvSpPr/>
          <p:nvPr/>
        </p:nvSpPr>
        <p:spPr>
          <a:xfrm>
            <a:off x="3182112" y="5065776"/>
            <a:ext cx="274320" cy="17373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3529584" y="4681728"/>
            <a:ext cx="2404872" cy="960120"/>
          </a:xfrm>
          <a:prstGeom prst="roundRect">
            <a:avLst>
              <a:gd name="adj" fmla="val 12000"/>
            </a:avLst>
          </a:prstGeom>
          <a:solidFill>
            <a:srgbClr val="E4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94176" y="4892040"/>
            <a:ext cx="548640" cy="36576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087F8C"/>
                </a:solidFill>
                <a:latin typeface="Arial"/>
              </a:rPr>
              <a:t>v2</a:t>
            </a:r>
          </a:p>
        </p:txBody>
      </p:sp>
      <p:sp>
        <p:nvSpPr>
          <p:cNvPr id="34" name="TextBox 33"/>
          <p:cNvSpPr txBox="1"/>
          <p:nvPr/>
        </p:nvSpPr>
        <p:spPr>
          <a:xfrm>
            <a:off x="4334256" y="4901184"/>
            <a:ext cx="1444752" cy="521207"/>
          </a:xfrm>
          <a:prstGeom prst="rect">
            <a:avLst/>
          </a:prstGeom>
          <a:noFill/>
        </p:spPr>
        <p:txBody>
          <a:bodyPr wrap="square" lIns="0" tIns="0" rIns="0" bIns="0" anchor="t">
            <a:spAutoFit/>
          </a:bodyPr>
          <a:lstStyle/>
          <a:p>
            <a:pPr algn="l">
              <a:lnSpc>
                <a:spcPct val="108000"/>
              </a:lnSpc>
              <a:spcBef>
                <a:spcPts val="0"/>
              </a:spcBef>
              <a:spcAft>
                <a:spcPts val="500"/>
              </a:spcAft>
            </a:pPr>
            <a:r>
              <a:rPr sz="1600" b="1">
                <a:solidFill>
                  <a:srgbClr val="087F8C"/>
                </a:solidFill>
                <a:latin typeface="Arial"/>
              </a:rPr>
              <a:t>Ready</a:t>
            </a:r>
          </a:p>
        </p:txBody>
      </p:sp>
      <p:sp>
        <p:nvSpPr>
          <p:cNvPr id="35" name="Right Arrow 34"/>
          <p:cNvSpPr/>
          <p:nvPr/>
        </p:nvSpPr>
        <p:spPr>
          <a:xfrm>
            <a:off x="5998464" y="5065776"/>
            <a:ext cx="274320" cy="17373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345936" y="4681728"/>
            <a:ext cx="2404872" cy="960120"/>
          </a:xfrm>
          <a:prstGeom prst="roundRect">
            <a:avLst>
              <a:gd name="adj" fmla="val 12000"/>
            </a:avLst>
          </a:prstGeom>
          <a:solidFill>
            <a:srgbClr val="FBE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10528" y="4892040"/>
            <a:ext cx="548640" cy="36576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BD4E35"/>
                </a:solidFill>
                <a:latin typeface="Arial"/>
              </a:rPr>
              <a:t>v3</a:t>
            </a:r>
          </a:p>
        </p:txBody>
      </p:sp>
      <p:sp>
        <p:nvSpPr>
          <p:cNvPr id="38" name="TextBox 37"/>
          <p:cNvSpPr txBox="1"/>
          <p:nvPr/>
        </p:nvSpPr>
        <p:spPr>
          <a:xfrm>
            <a:off x="7150608" y="4901184"/>
            <a:ext cx="1444752" cy="521207"/>
          </a:xfrm>
          <a:prstGeom prst="rect">
            <a:avLst/>
          </a:prstGeom>
          <a:noFill/>
        </p:spPr>
        <p:txBody>
          <a:bodyPr wrap="square" lIns="0" tIns="0" rIns="0" bIns="0" anchor="t">
            <a:spAutoFit/>
          </a:bodyPr>
          <a:lstStyle/>
          <a:p>
            <a:pPr algn="l">
              <a:lnSpc>
                <a:spcPct val="108000"/>
              </a:lnSpc>
              <a:spcBef>
                <a:spcPts val="0"/>
              </a:spcBef>
              <a:spcAft>
                <a:spcPts val="500"/>
              </a:spcAft>
            </a:pPr>
            <a:r>
              <a:rPr sz="1600" b="1">
                <a:solidFill>
                  <a:srgbClr val="BD4E35"/>
                </a:solidFill>
                <a:latin typeface="Arial"/>
              </a:rPr>
              <a:t>Readiness fails</a:t>
            </a:r>
          </a:p>
        </p:txBody>
      </p:sp>
      <p:sp>
        <p:nvSpPr>
          <p:cNvPr id="39" name="Right Arrow 38"/>
          <p:cNvSpPr/>
          <p:nvPr/>
        </p:nvSpPr>
        <p:spPr>
          <a:xfrm>
            <a:off x="8814816" y="5065776"/>
            <a:ext cx="274320" cy="173736"/>
          </a:xfrm>
          <a:prstGeom prst="rightArrow">
            <a:avLst/>
          </a:prstGeom>
          <a:solidFill>
            <a:srgbClr val="BD4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9162288" y="4681728"/>
            <a:ext cx="2404872" cy="960120"/>
          </a:xfrm>
          <a:prstGeom prst="roundRect">
            <a:avLst>
              <a:gd name="adj" fmla="val 12000"/>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26880" y="4892040"/>
            <a:ext cx="548640" cy="36576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2457D6"/>
                </a:solidFill>
                <a:latin typeface="Arial"/>
              </a:rPr>
              <a:t>v2</a:t>
            </a:r>
          </a:p>
        </p:txBody>
      </p:sp>
      <p:sp>
        <p:nvSpPr>
          <p:cNvPr id="42" name="TextBox 41"/>
          <p:cNvSpPr txBox="1"/>
          <p:nvPr/>
        </p:nvSpPr>
        <p:spPr>
          <a:xfrm>
            <a:off x="9966960" y="4901184"/>
            <a:ext cx="1444752" cy="521207"/>
          </a:xfrm>
          <a:prstGeom prst="rect">
            <a:avLst/>
          </a:prstGeom>
          <a:noFill/>
        </p:spPr>
        <p:txBody>
          <a:bodyPr wrap="square" lIns="0" tIns="0" rIns="0" bIns="0" anchor="t">
            <a:spAutoFit/>
          </a:bodyPr>
          <a:lstStyle/>
          <a:p>
            <a:pPr algn="l">
              <a:lnSpc>
                <a:spcPct val="108000"/>
              </a:lnSpc>
              <a:spcBef>
                <a:spcPts val="0"/>
              </a:spcBef>
              <a:spcAft>
                <a:spcPts val="500"/>
              </a:spcAft>
            </a:pPr>
            <a:r>
              <a:rPr sz="1600" b="1">
                <a:solidFill>
                  <a:srgbClr val="2457D6"/>
                </a:solidFill>
                <a:latin typeface="Arial"/>
              </a:rPr>
              <a:t>Recovery verified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TARGET OPERATING MODEL</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172C43"/>
                </a:solidFill>
                <a:latin typeface="Arial"/>
              </a:rPr>
              <a:t>Private access first; public applications by choice</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lnSpc>
                <a:spcPct val="108000"/>
              </a:lnSpc>
              <a:spcBef>
                <a:spcPts val="0"/>
              </a:spcBef>
              <a:spcAft>
                <a:spcPts val="500"/>
              </a:spcAft>
            </a:pPr>
            <a:r>
              <a:rPr sz="1600" b="0">
                <a:solidFill>
                  <a:srgbClr val="53677C"/>
                </a:solidFill>
                <a:latin typeface="Arial"/>
              </a:rPr>
              <a:t>Public application access does not require public administration.</a:t>
            </a:r>
          </a:p>
        </p:txBody>
      </p:sp>
      <p:sp>
        <p:nvSpPr>
          <p:cNvPr id="5" name="Rectangle 4"/>
          <p:cNvSpPr/>
          <p:nvPr/>
        </p:nvSpPr>
        <p:spPr>
          <a:xfrm>
            <a:off x="576072" y="6446520"/>
            <a:ext cx="11018520" cy="10972"/>
          </a:xfrm>
          <a:prstGeom prst="rect">
            <a:avLst/>
          </a:prstGeom>
          <a:solidFill>
            <a:srgbClr val="D6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53677C"/>
                </a:solidFill>
                <a:latin typeface="Arial"/>
              </a:rPr>
              <a:t>12</a:t>
            </a:r>
          </a:p>
        </p:txBody>
      </p:sp>
      <p:sp>
        <p:nvSpPr>
          <p:cNvPr id="8" name="Rounded Rectangle 7"/>
          <p:cNvSpPr/>
          <p:nvPr/>
        </p:nvSpPr>
        <p:spPr>
          <a:xfrm>
            <a:off x="640080" y="2423160"/>
            <a:ext cx="6876288" cy="1234440"/>
          </a:xfrm>
          <a:prstGeom prst="roundRect">
            <a:avLst>
              <a:gd name="adj" fmla="val 12000"/>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2624328"/>
            <a:ext cx="1188720" cy="228600"/>
          </a:xfrm>
          <a:prstGeom prst="rect">
            <a:avLst/>
          </a:prstGeom>
          <a:noFill/>
        </p:spPr>
        <p:txBody>
          <a:bodyPr wrap="square" lIns="0" tIns="0" rIns="0" bIns="0" anchor="t">
            <a:spAutoFit/>
          </a:bodyPr>
          <a:lstStyle/>
          <a:p>
            <a:pPr algn="l">
              <a:lnSpc>
                <a:spcPct val="108000"/>
              </a:lnSpc>
              <a:spcBef>
                <a:spcPts val="0"/>
              </a:spcBef>
              <a:spcAft>
                <a:spcPts val="500"/>
              </a:spcAft>
            </a:pPr>
            <a:r>
              <a:rPr sz="1200" b="1">
                <a:solidFill>
                  <a:srgbClr val="2457D6"/>
                </a:solidFill>
                <a:latin typeface="Arial"/>
              </a:rPr>
              <a:t>PRIVATE</a:t>
            </a:r>
          </a:p>
        </p:txBody>
      </p:sp>
      <p:sp>
        <p:nvSpPr>
          <p:cNvPr id="10" name="TextBox 9"/>
          <p:cNvSpPr txBox="1"/>
          <p:nvPr/>
        </p:nvSpPr>
        <p:spPr>
          <a:xfrm>
            <a:off x="841248" y="3063240"/>
            <a:ext cx="6446520" cy="338328"/>
          </a:xfrm>
          <a:prstGeom prst="rect">
            <a:avLst/>
          </a:prstGeom>
          <a:noFill/>
        </p:spPr>
        <p:txBody>
          <a:bodyPr wrap="square" lIns="0" tIns="0" rIns="0" bIns="0" anchor="t">
            <a:spAutoFit/>
          </a:bodyPr>
          <a:lstStyle/>
          <a:p>
            <a:pPr algn="l">
              <a:lnSpc>
                <a:spcPct val="108000"/>
              </a:lnSpc>
              <a:spcBef>
                <a:spcPts val="0"/>
              </a:spcBef>
              <a:spcAft>
                <a:spcPts val="500"/>
              </a:spcAft>
            </a:pPr>
            <a:r>
              <a:rPr sz="2200" b="1">
                <a:solidFill>
                  <a:srgbClr val="172C43"/>
                </a:solidFill>
                <a:latin typeface="Arial"/>
              </a:rPr>
              <a:t>Administrator / internal users → LAN or VPN</a:t>
            </a:r>
          </a:p>
        </p:txBody>
      </p:sp>
      <p:sp>
        <p:nvSpPr>
          <p:cNvPr id="11" name="Rounded Rectangle 10"/>
          <p:cNvSpPr/>
          <p:nvPr/>
        </p:nvSpPr>
        <p:spPr>
          <a:xfrm>
            <a:off x="640080" y="3886200"/>
            <a:ext cx="6876288" cy="1234440"/>
          </a:xfrm>
          <a:prstGeom prst="roundRect">
            <a:avLst>
              <a:gd name="adj" fmla="val 12000"/>
            </a:avLst>
          </a:prstGeom>
          <a:solidFill>
            <a:srgbClr val="E4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4087368"/>
            <a:ext cx="4480560" cy="228600"/>
          </a:xfrm>
          <a:prstGeom prst="rect">
            <a:avLst/>
          </a:prstGeom>
          <a:noFill/>
        </p:spPr>
        <p:txBody>
          <a:bodyPr wrap="square" lIns="0" tIns="0" rIns="0" bIns="0" anchor="t">
            <a:spAutoFit/>
          </a:bodyPr>
          <a:lstStyle/>
          <a:p>
            <a:pPr algn="l">
              <a:lnSpc>
                <a:spcPct val="108000"/>
              </a:lnSpc>
              <a:spcBef>
                <a:spcPts val="0"/>
              </a:spcBef>
              <a:spcAft>
                <a:spcPts val="500"/>
              </a:spcAft>
            </a:pPr>
            <a:r>
              <a:rPr sz="1200" b="1">
                <a:solidFill>
                  <a:srgbClr val="087F8C"/>
                </a:solidFill>
                <a:latin typeface="Arial"/>
              </a:rPr>
              <a:t>OPTIONAL PUBLIC ACCESS</a:t>
            </a:r>
          </a:p>
        </p:txBody>
      </p:sp>
      <p:sp>
        <p:nvSpPr>
          <p:cNvPr id="13" name="TextBox 12"/>
          <p:cNvSpPr txBox="1"/>
          <p:nvPr/>
        </p:nvSpPr>
        <p:spPr>
          <a:xfrm>
            <a:off x="841248" y="4517136"/>
            <a:ext cx="6446520" cy="365760"/>
          </a:xfrm>
          <a:prstGeom prst="rect">
            <a:avLst/>
          </a:prstGeom>
          <a:noFill/>
        </p:spPr>
        <p:txBody>
          <a:bodyPr wrap="square" lIns="0" tIns="0" rIns="0" bIns="0" anchor="t">
            <a:spAutoFit/>
          </a:bodyPr>
          <a:lstStyle/>
          <a:p>
            <a:pPr algn="l">
              <a:lnSpc>
                <a:spcPct val="108000"/>
              </a:lnSpc>
              <a:spcBef>
                <a:spcPts val="0"/>
              </a:spcBef>
              <a:spcAft>
                <a:spcPts val="500"/>
              </a:spcAft>
            </a:pPr>
            <a:r>
              <a:rPr sz="2100" b="1">
                <a:solidFill>
                  <a:srgbClr val="172C43"/>
                </a:solidFill>
                <a:latin typeface="Arial"/>
              </a:rPr>
              <a:t>Internet visitors → HTTPS → selected application</a:t>
            </a:r>
          </a:p>
        </p:txBody>
      </p:sp>
      <p:sp>
        <p:nvSpPr>
          <p:cNvPr id="14" name="Rounded Rectangle 13"/>
          <p:cNvSpPr/>
          <p:nvPr/>
        </p:nvSpPr>
        <p:spPr>
          <a:xfrm>
            <a:off x="7772400" y="2423160"/>
            <a:ext cx="3776472" cy="2697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91856" y="2670048"/>
            <a:ext cx="3337560" cy="365760"/>
          </a:xfrm>
          <a:prstGeom prst="rect">
            <a:avLst/>
          </a:prstGeom>
          <a:noFill/>
        </p:spPr>
        <p:txBody>
          <a:bodyPr wrap="square" lIns="0" tIns="0" rIns="0" bIns="0" anchor="t">
            <a:spAutoFit/>
          </a:bodyPr>
          <a:lstStyle/>
          <a:p>
            <a:pPr algn="l">
              <a:lnSpc>
                <a:spcPct val="108000"/>
              </a:lnSpc>
              <a:spcBef>
                <a:spcPts val="0"/>
              </a:spcBef>
              <a:spcAft>
                <a:spcPts val="500"/>
              </a:spcAft>
            </a:pPr>
            <a:r>
              <a:rPr sz="2400" b="1">
                <a:solidFill>
                  <a:srgbClr val="172C43"/>
                </a:solidFill>
                <a:latin typeface="Arial"/>
              </a:rPr>
              <a:t>Required controls</a:t>
            </a:r>
          </a:p>
        </p:txBody>
      </p:sp>
      <p:sp>
        <p:nvSpPr>
          <p:cNvPr id="16" name="TextBox 15"/>
          <p:cNvSpPr txBox="1"/>
          <p:nvPr/>
        </p:nvSpPr>
        <p:spPr>
          <a:xfrm>
            <a:off x="7991856" y="3337560"/>
            <a:ext cx="3337560" cy="1444752"/>
          </a:xfrm>
          <a:prstGeom prst="rect">
            <a:avLst/>
          </a:prstGeom>
          <a:noFill/>
        </p:spPr>
        <p:txBody>
          <a:bodyPr wrap="square" lIns="0" tIns="0" rIns="0" bIns="0" anchor="t">
            <a:spAutoFit/>
          </a:bodyPr>
          <a:lstStyle/>
          <a:p>
            <a:pPr algn="l">
              <a:lnSpc>
                <a:spcPct val="108000"/>
              </a:lnSpc>
              <a:spcBef>
                <a:spcPts val="0"/>
              </a:spcBef>
              <a:spcAft>
                <a:spcPts val="500"/>
              </a:spcAft>
            </a:pPr>
            <a:r>
              <a:rPr sz="2000" b="0">
                <a:solidFill>
                  <a:srgbClr val="53677C"/>
                </a:solidFill>
                <a:latin typeface="Arial"/>
              </a:rPr>
              <a:t>Restricted management</a:t>
            </a:r>
          </a:p>
          <a:p>
            <a:pPr algn="l">
              <a:lnSpc>
                <a:spcPct val="108000"/>
              </a:lnSpc>
              <a:spcBef>
                <a:spcPts val="0"/>
              </a:spcBef>
              <a:spcAft>
                <a:spcPts val="500"/>
              </a:spcAft>
            </a:pPr>
            <a:r>
              <a:rPr sz="2000" b="0">
                <a:solidFill>
                  <a:srgbClr val="53677C"/>
                </a:solidFill>
                <a:latin typeface="Arial"/>
              </a:rPr>
              <a:t>Scoped permissions</a:t>
            </a:r>
          </a:p>
          <a:p>
            <a:pPr algn="l">
              <a:lnSpc>
                <a:spcPct val="108000"/>
              </a:lnSpc>
              <a:spcBef>
                <a:spcPts val="0"/>
              </a:spcBef>
              <a:spcAft>
                <a:spcPts val="500"/>
              </a:spcAft>
            </a:pPr>
            <a:r>
              <a:rPr sz="2000" b="0">
                <a:solidFill>
                  <a:srgbClr val="53677C"/>
                </a:solidFill>
                <a:latin typeface="Arial"/>
              </a:rPr>
              <a:t>Secret handling</a:t>
            </a:r>
          </a:p>
          <a:p>
            <a:pPr algn="l">
              <a:lnSpc>
                <a:spcPct val="108000"/>
              </a:lnSpc>
              <a:spcBef>
                <a:spcPts val="0"/>
              </a:spcBef>
              <a:spcAft>
                <a:spcPts val="500"/>
              </a:spcAft>
            </a:pPr>
            <a:r>
              <a:rPr sz="2000" b="0">
                <a:solidFill>
                  <a:srgbClr val="53677C"/>
                </a:solidFill>
                <a:latin typeface="Arial"/>
              </a:rPr>
              <a:t>Backup and recovery</a:t>
            </a:r>
          </a:p>
        </p:txBody>
      </p:sp>
      <p:sp>
        <p:nvSpPr>
          <p:cNvPr id="17" name="TextBox 16"/>
          <p:cNvSpPr txBox="1"/>
          <p:nvPr/>
        </p:nvSpPr>
        <p:spPr>
          <a:xfrm>
            <a:off x="713232" y="5577840"/>
            <a:ext cx="10789920" cy="502920"/>
          </a:xfrm>
          <a:prstGeom prst="rect">
            <a:avLst/>
          </a:prstGeom>
          <a:noFill/>
        </p:spPr>
        <p:txBody>
          <a:bodyPr wrap="square" lIns="0" tIns="0" rIns="0" bIns="0" anchor="t">
            <a:spAutoFit/>
          </a:bodyPr>
          <a:lstStyle/>
          <a:p>
            <a:pPr algn="l">
              <a:lnSpc>
                <a:spcPct val="108000"/>
              </a:lnSpc>
              <a:spcBef>
                <a:spcPts val="0"/>
              </a:spcBef>
              <a:spcAft>
                <a:spcPts val="500"/>
              </a:spcAft>
            </a:pPr>
            <a:r>
              <a:rPr sz="1800" b="0">
                <a:solidFill>
                  <a:srgbClr val="53677C"/>
                </a:solidFill>
                <a:latin typeface="Arial"/>
              </a:rPr>
              <a:t>Institutional adoption adds identity integration, resilience requirements and organisational security review.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IMPLEMENTATION STATUS</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172C43"/>
                </a:solidFill>
                <a:latin typeface="Arial"/>
              </a:rPr>
              <a:t>The local baseline and the durable backend are implemented</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lnSpc>
                <a:spcPct val="108000"/>
              </a:lnSpc>
              <a:spcBef>
                <a:spcPts val="0"/>
              </a:spcBef>
              <a:spcAft>
                <a:spcPts val="500"/>
              </a:spcAft>
            </a:pPr>
            <a:r>
              <a:rPr sz="1600" b="0">
                <a:solidFill>
                  <a:srgbClr val="53677C"/>
                </a:solidFill>
                <a:latin typeface="Arial"/>
              </a:rPr>
              <a:t>Evidence covers a Docker-based K3s test cluster and the Go broker; not yet the reference Raspberry Pi.</a:t>
            </a:r>
          </a:p>
        </p:txBody>
      </p:sp>
      <p:sp>
        <p:nvSpPr>
          <p:cNvPr id="5" name="Rectangle 4"/>
          <p:cNvSpPr/>
          <p:nvPr/>
        </p:nvSpPr>
        <p:spPr>
          <a:xfrm>
            <a:off x="576072" y="6446520"/>
            <a:ext cx="11018520" cy="10972"/>
          </a:xfrm>
          <a:prstGeom prst="rect">
            <a:avLst/>
          </a:prstGeom>
          <a:solidFill>
            <a:srgbClr val="D6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53677C"/>
                </a:solidFill>
                <a:latin typeface="Arial"/>
              </a:rPr>
              <a:t>13</a:t>
            </a:r>
          </a:p>
        </p:txBody>
      </p:sp>
      <p:sp>
        <p:nvSpPr>
          <p:cNvPr id="8" name="TextBox 7"/>
          <p:cNvSpPr txBox="1"/>
          <p:nvPr/>
        </p:nvSpPr>
        <p:spPr>
          <a:xfrm>
            <a:off x="594360" y="6172200"/>
            <a:ext cx="10789920" cy="182880"/>
          </a:xfrm>
          <a:prstGeom prst="rect">
            <a:avLst/>
          </a:prstGeom>
          <a:noFill/>
        </p:spPr>
        <p:txBody>
          <a:bodyPr wrap="square" lIns="0" tIns="0" rIns="0" bIns="0" anchor="t">
            <a:spAutoFit/>
          </a:bodyPr>
          <a:lstStyle/>
          <a:p>
            <a:pPr algn="l">
              <a:lnSpc>
                <a:spcPct val="108000"/>
              </a:lnSpc>
              <a:spcBef>
                <a:spcPts val="0"/>
              </a:spcBef>
              <a:spcAft>
                <a:spcPts val="500"/>
              </a:spcAft>
            </a:pPr>
            <a:r>
              <a:rPr sz="950" b="0">
                <a:solidFill>
                  <a:srgbClr val="53677C"/>
                </a:solidFill>
                <a:latin typeface="Arial"/>
              </a:rPr>
              <a:t>Evidence: tests/experiments/ and the M2 broker module in the project repository [7].</a:t>
            </a:r>
          </a:p>
        </p:txBody>
      </p:sp>
      <p:sp>
        <p:nvSpPr>
          <p:cNvPr id="9" name="Rounded Rectangle 8"/>
          <p:cNvSpPr/>
          <p:nvPr/>
        </p:nvSpPr>
        <p:spPr>
          <a:xfrm>
            <a:off x="640080" y="2423160"/>
            <a:ext cx="5376672" cy="3246120"/>
          </a:xfrm>
          <a:prstGeom prst="roundRect">
            <a:avLst>
              <a:gd name="adj" fmla="val 12000"/>
            </a:avLst>
          </a:prstGeom>
          <a:solidFill>
            <a:srgbClr val="E4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423160"/>
            <a:ext cx="50292" cy="32461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2606040"/>
            <a:ext cx="4956048" cy="256032"/>
          </a:xfrm>
          <a:prstGeom prst="rect">
            <a:avLst/>
          </a:prstGeom>
          <a:noFill/>
        </p:spPr>
        <p:txBody>
          <a:bodyPr wrap="square" lIns="0" tIns="0" rIns="0" bIns="0" anchor="t">
            <a:spAutoFit/>
          </a:bodyPr>
          <a:lstStyle/>
          <a:p>
            <a:pPr algn="l">
              <a:lnSpc>
                <a:spcPct val="108000"/>
              </a:lnSpc>
              <a:spcBef>
                <a:spcPts val="0"/>
              </a:spcBef>
              <a:spcAft>
                <a:spcPts val="500"/>
              </a:spcAft>
            </a:pPr>
            <a:r>
              <a:rPr sz="1100" b="1">
                <a:solidFill>
                  <a:srgbClr val="087F8C"/>
                </a:solidFill>
                <a:latin typeface="Arial"/>
              </a:rPr>
              <a:t>IMPLEMENTED · M0–M2</a:t>
            </a:r>
          </a:p>
        </p:txBody>
      </p:sp>
      <p:sp>
        <p:nvSpPr>
          <p:cNvPr id="12" name="TextBox 11"/>
          <p:cNvSpPr txBox="1"/>
          <p:nvPr/>
        </p:nvSpPr>
        <p:spPr>
          <a:xfrm>
            <a:off x="850392" y="3035808"/>
            <a:ext cx="4956048" cy="73152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172C43"/>
                </a:solidFill>
                <a:latin typeface="Arial"/>
              </a:rPr>
              <a:t>Foundation and durable backend</a:t>
            </a:r>
          </a:p>
        </p:txBody>
      </p:sp>
      <p:sp>
        <p:nvSpPr>
          <p:cNvPr id="13" name="TextBox 12"/>
          <p:cNvSpPr txBox="1"/>
          <p:nvPr/>
        </p:nvSpPr>
        <p:spPr>
          <a:xfrm>
            <a:off x="850392" y="3931920"/>
            <a:ext cx="4956048" cy="1581911"/>
          </a:xfrm>
          <a:prstGeom prst="rect">
            <a:avLst/>
          </a:prstGeom>
          <a:noFill/>
        </p:spPr>
        <p:txBody>
          <a:bodyPr wrap="square" lIns="0" tIns="0" rIns="0" bIns="0" anchor="t">
            <a:spAutoFit/>
          </a:bodyPr>
          <a:lstStyle/>
          <a:p>
            <a:pPr algn="l">
              <a:lnSpc>
                <a:spcPct val="108000"/>
              </a:lnSpc>
              <a:spcBef>
                <a:spcPts val="0"/>
              </a:spcBef>
              <a:spcAft>
                <a:spcPts val="500"/>
              </a:spcAft>
            </a:pPr>
            <a:r>
              <a:rPr sz="1900" b="0" dirty="0">
                <a:solidFill>
                  <a:srgbClr val="53677C"/>
                </a:solidFill>
                <a:latin typeface="Arial"/>
              </a:rPr>
              <a:t>Go demo app and reusable Helm chart</a:t>
            </a:r>
          </a:p>
          <a:p>
            <a:pPr algn="l">
              <a:lnSpc>
                <a:spcPct val="108000"/>
              </a:lnSpc>
              <a:spcBef>
                <a:spcPts val="0"/>
              </a:spcBef>
              <a:spcAft>
                <a:spcPts val="500"/>
              </a:spcAft>
            </a:pPr>
            <a:r>
              <a:rPr sz="1900" b="0" dirty="0">
                <a:solidFill>
                  <a:srgbClr val="53677C"/>
                </a:solidFill>
                <a:latin typeface="Arial"/>
              </a:rPr>
              <a:t>Go broker: API, durable operations, worker</a:t>
            </a:r>
          </a:p>
          <a:p>
            <a:pPr algn="l">
              <a:lnSpc>
                <a:spcPct val="108000"/>
              </a:lnSpc>
              <a:spcBef>
                <a:spcPts val="0"/>
              </a:spcBef>
              <a:spcAft>
                <a:spcPts val="500"/>
              </a:spcAft>
            </a:pPr>
            <a:r>
              <a:rPr sz="1900" b="0" dirty="0">
                <a:solidFill>
                  <a:srgbClr val="53677C"/>
                </a:solidFill>
                <a:latin typeface="Arial"/>
              </a:rPr>
              <a:t>Authentication, image inspection, versioned secrets</a:t>
            </a:r>
          </a:p>
          <a:p>
            <a:pPr algn="l">
              <a:lnSpc>
                <a:spcPct val="108000"/>
              </a:lnSpc>
              <a:spcBef>
                <a:spcPts val="0"/>
              </a:spcBef>
              <a:spcAft>
                <a:spcPts val="500"/>
              </a:spcAft>
            </a:pPr>
            <a:r>
              <a:rPr sz="1900" b="0" dirty="0">
                <a:solidFill>
                  <a:srgbClr val="53677C"/>
                </a:solidFill>
                <a:latin typeface="Arial"/>
              </a:rPr>
              <a:t>In-process Helm integration and status observer</a:t>
            </a:r>
          </a:p>
        </p:txBody>
      </p:sp>
      <p:sp>
        <p:nvSpPr>
          <p:cNvPr id="14" name="Rounded Rectangle 13"/>
          <p:cNvSpPr/>
          <p:nvPr/>
        </p:nvSpPr>
        <p:spPr>
          <a:xfrm>
            <a:off x="6245352" y="2423160"/>
            <a:ext cx="5303520" cy="32461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45352" y="2423160"/>
            <a:ext cx="50292" cy="3246120"/>
          </a:xfrm>
          <a:prstGeom prst="rect">
            <a:avLst/>
          </a:prstGeom>
          <a:solidFill>
            <a:srgbClr val="245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55664" y="2606040"/>
            <a:ext cx="4882896" cy="256032"/>
          </a:xfrm>
          <a:prstGeom prst="rect">
            <a:avLst/>
          </a:prstGeom>
          <a:noFill/>
        </p:spPr>
        <p:txBody>
          <a:bodyPr wrap="square" lIns="0" tIns="0" rIns="0" bIns="0" anchor="t">
            <a:spAutoFit/>
          </a:bodyPr>
          <a:lstStyle/>
          <a:p>
            <a:pPr algn="l">
              <a:lnSpc>
                <a:spcPct val="108000"/>
              </a:lnSpc>
              <a:spcBef>
                <a:spcPts val="0"/>
              </a:spcBef>
              <a:spcAft>
                <a:spcPts val="500"/>
              </a:spcAft>
            </a:pPr>
            <a:r>
              <a:rPr sz="1100" b="1">
                <a:solidFill>
                  <a:srgbClr val="2457D6"/>
                </a:solidFill>
                <a:latin typeface="Arial"/>
              </a:rPr>
              <a:t>PLANNED · NEXT STAGES</a:t>
            </a:r>
          </a:p>
        </p:txBody>
      </p:sp>
      <p:sp>
        <p:nvSpPr>
          <p:cNvPr id="17" name="TextBox 16"/>
          <p:cNvSpPr txBox="1"/>
          <p:nvPr/>
        </p:nvSpPr>
        <p:spPr>
          <a:xfrm>
            <a:off x="6455664" y="3035808"/>
            <a:ext cx="4882896" cy="73152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172C43"/>
                </a:solidFill>
                <a:latin typeface="Arial"/>
              </a:rPr>
              <a:t>Remaining platform</a:t>
            </a:r>
          </a:p>
        </p:txBody>
      </p:sp>
      <p:sp>
        <p:nvSpPr>
          <p:cNvPr id="18" name="TextBox 17"/>
          <p:cNvSpPr txBox="1"/>
          <p:nvPr/>
        </p:nvSpPr>
        <p:spPr>
          <a:xfrm>
            <a:off x="6455664" y="3931920"/>
            <a:ext cx="4882896" cy="1581911"/>
          </a:xfrm>
          <a:prstGeom prst="rect">
            <a:avLst/>
          </a:prstGeom>
          <a:noFill/>
        </p:spPr>
        <p:txBody>
          <a:bodyPr wrap="square" lIns="0" tIns="0" rIns="0" bIns="0" anchor="t">
            <a:spAutoFit/>
          </a:bodyPr>
          <a:lstStyle/>
          <a:p>
            <a:pPr algn="l">
              <a:lnSpc>
                <a:spcPct val="108000"/>
              </a:lnSpc>
              <a:spcBef>
                <a:spcPts val="0"/>
              </a:spcBef>
              <a:spcAft>
                <a:spcPts val="500"/>
              </a:spcAft>
            </a:pPr>
            <a:r>
              <a:rPr sz="1900" b="0">
                <a:solidFill>
                  <a:srgbClr val="53677C"/>
                </a:solidFill>
                <a:latin typeface="Arial"/>
              </a:rPr>
              <a:t>Administrator web UI (M3)</a:t>
            </a:r>
          </a:p>
          <a:p>
            <a:pPr algn="l">
              <a:lnSpc>
                <a:spcPct val="108000"/>
              </a:lnSpc>
              <a:spcBef>
                <a:spcPts val="0"/>
              </a:spcBef>
              <a:spcAft>
                <a:spcPts val="500"/>
              </a:spcAft>
            </a:pPr>
            <a:r>
              <a:rPr sz="1900" b="0">
                <a:solidFill>
                  <a:srgbClr val="53677C"/>
                </a:solidFill>
                <a:latin typeface="Arial"/>
              </a:rPr>
              <a:t>Reliable lifecycle: rollback, recovery (M4)</a:t>
            </a:r>
          </a:p>
          <a:p>
            <a:pPr algn="l">
              <a:lnSpc>
                <a:spcPct val="108000"/>
              </a:lnSpc>
              <a:spcBef>
                <a:spcPts val="0"/>
              </a:spcBef>
              <a:spcAft>
                <a:spcPts val="500"/>
              </a:spcAft>
            </a:pPr>
            <a:r>
              <a:rPr sz="1900" b="0">
                <a:solidFill>
                  <a:srgbClr val="53677C"/>
                </a:solidFill>
                <a:latin typeface="Arial"/>
              </a:rPr>
              <a:t>Persistent data and public HTTPS (M5-M6)</a:t>
            </a:r>
          </a:p>
          <a:p>
            <a:pPr algn="l">
              <a:lnSpc>
                <a:spcPct val="108000"/>
              </a:lnSpc>
              <a:spcBef>
                <a:spcPts val="0"/>
              </a:spcBef>
              <a:spcAft>
                <a:spcPts val="500"/>
              </a:spcAft>
            </a:pPr>
            <a:r>
              <a:rPr sz="1900" b="0">
                <a:solidFill>
                  <a:srgbClr val="53677C"/>
                </a:solidFill>
                <a:latin typeface="Arial"/>
              </a:rPr>
              <a:t>Installer, releases and Pi validation (M7-M8)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EVALUATION</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172C43"/>
                </a:solidFill>
                <a:latin typeface="Arial"/>
              </a:rPr>
              <a:t>Compare the platform with the manual Helm workflow</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lnSpc>
                <a:spcPct val="108000"/>
              </a:lnSpc>
              <a:spcBef>
                <a:spcPts val="0"/>
              </a:spcBef>
              <a:spcAft>
                <a:spcPts val="500"/>
              </a:spcAft>
            </a:pPr>
            <a:r>
              <a:rPr sz="1600" b="0">
                <a:solidFill>
                  <a:srgbClr val="53677C"/>
                </a:solidFill>
                <a:latin typeface="Arial"/>
              </a:rPr>
              <a:t>The same application, hardware and scenario provide the comparison baseline.</a:t>
            </a:r>
          </a:p>
        </p:txBody>
      </p:sp>
      <p:sp>
        <p:nvSpPr>
          <p:cNvPr id="5" name="Rectangle 4"/>
          <p:cNvSpPr/>
          <p:nvPr/>
        </p:nvSpPr>
        <p:spPr>
          <a:xfrm>
            <a:off x="576072" y="6446520"/>
            <a:ext cx="11018520" cy="10972"/>
          </a:xfrm>
          <a:prstGeom prst="rect">
            <a:avLst/>
          </a:prstGeom>
          <a:solidFill>
            <a:srgbClr val="D6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53677C"/>
                </a:solidFill>
                <a:latin typeface="Arial"/>
              </a:rPr>
              <a:t>14</a:t>
            </a:r>
          </a:p>
        </p:txBody>
      </p:sp>
      <p:sp>
        <p:nvSpPr>
          <p:cNvPr id="8" name="Rounded Rectangle 7"/>
          <p:cNvSpPr/>
          <p:nvPr/>
        </p:nvSpPr>
        <p:spPr>
          <a:xfrm>
            <a:off x="658368" y="2350008"/>
            <a:ext cx="10881360" cy="594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505456"/>
            <a:ext cx="2880360" cy="320040"/>
          </a:xfrm>
          <a:prstGeom prst="rect">
            <a:avLst/>
          </a:prstGeom>
          <a:noFill/>
        </p:spPr>
        <p:txBody>
          <a:bodyPr wrap="square" lIns="0" tIns="0" rIns="0" bIns="0" anchor="t">
            <a:spAutoFit/>
          </a:bodyPr>
          <a:lstStyle/>
          <a:p>
            <a:pPr algn="l">
              <a:lnSpc>
                <a:spcPct val="108000"/>
              </a:lnSpc>
              <a:spcBef>
                <a:spcPts val="0"/>
              </a:spcBef>
              <a:spcAft>
                <a:spcPts val="500"/>
              </a:spcAft>
            </a:pPr>
            <a:r>
              <a:rPr sz="2000" b="1">
                <a:solidFill>
                  <a:srgbClr val="087F8C"/>
                </a:solidFill>
                <a:latin typeface="Arial"/>
              </a:rPr>
              <a:t>Operator effort</a:t>
            </a:r>
          </a:p>
        </p:txBody>
      </p:sp>
      <p:sp>
        <p:nvSpPr>
          <p:cNvPr id="10" name="TextBox 9"/>
          <p:cNvSpPr txBox="1"/>
          <p:nvPr/>
        </p:nvSpPr>
        <p:spPr>
          <a:xfrm>
            <a:off x="3840480" y="2514600"/>
            <a:ext cx="7424927" cy="310896"/>
          </a:xfrm>
          <a:prstGeom prst="rect">
            <a:avLst/>
          </a:prstGeom>
          <a:noFill/>
        </p:spPr>
        <p:txBody>
          <a:bodyPr wrap="square" lIns="0" tIns="0" rIns="0" bIns="0" anchor="t">
            <a:spAutoFit/>
          </a:bodyPr>
          <a:lstStyle/>
          <a:p>
            <a:pPr algn="l">
              <a:lnSpc>
                <a:spcPct val="108000"/>
              </a:lnSpc>
              <a:spcBef>
                <a:spcPts val="0"/>
              </a:spcBef>
              <a:spcAft>
                <a:spcPts val="500"/>
              </a:spcAft>
            </a:pPr>
            <a:r>
              <a:rPr sz="1900" b="0">
                <a:solidFill>
                  <a:srgbClr val="172C43"/>
                </a:solidFill>
                <a:latin typeface="Arial"/>
              </a:rPr>
              <a:t>Defined step count and active operator time</a:t>
            </a:r>
          </a:p>
        </p:txBody>
      </p:sp>
      <p:sp>
        <p:nvSpPr>
          <p:cNvPr id="11" name="Rounded Rectangle 10"/>
          <p:cNvSpPr/>
          <p:nvPr/>
        </p:nvSpPr>
        <p:spPr>
          <a:xfrm>
            <a:off x="658368" y="3063239"/>
            <a:ext cx="10881360" cy="594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3218687"/>
            <a:ext cx="2880360" cy="320040"/>
          </a:xfrm>
          <a:prstGeom prst="rect">
            <a:avLst/>
          </a:prstGeom>
          <a:noFill/>
        </p:spPr>
        <p:txBody>
          <a:bodyPr wrap="square" lIns="0" tIns="0" rIns="0" bIns="0" anchor="t">
            <a:spAutoFit/>
          </a:bodyPr>
          <a:lstStyle/>
          <a:p>
            <a:pPr algn="l">
              <a:lnSpc>
                <a:spcPct val="108000"/>
              </a:lnSpc>
              <a:spcBef>
                <a:spcPts val="0"/>
              </a:spcBef>
              <a:spcAft>
                <a:spcPts val="500"/>
              </a:spcAft>
            </a:pPr>
            <a:r>
              <a:rPr sz="2000" b="1">
                <a:solidFill>
                  <a:srgbClr val="087F8C"/>
                </a:solidFill>
                <a:latin typeface="Arial"/>
              </a:rPr>
              <a:t>Deployment behaviour</a:t>
            </a:r>
          </a:p>
        </p:txBody>
      </p:sp>
      <p:sp>
        <p:nvSpPr>
          <p:cNvPr id="13" name="TextBox 12"/>
          <p:cNvSpPr txBox="1"/>
          <p:nvPr/>
        </p:nvSpPr>
        <p:spPr>
          <a:xfrm>
            <a:off x="3840480" y="3227832"/>
            <a:ext cx="7424927" cy="310896"/>
          </a:xfrm>
          <a:prstGeom prst="rect">
            <a:avLst/>
          </a:prstGeom>
          <a:noFill/>
        </p:spPr>
        <p:txBody>
          <a:bodyPr wrap="square" lIns="0" tIns="0" rIns="0" bIns="0" anchor="t">
            <a:spAutoFit/>
          </a:bodyPr>
          <a:lstStyle/>
          <a:p>
            <a:pPr algn="l">
              <a:lnSpc>
                <a:spcPct val="108000"/>
              </a:lnSpc>
              <a:spcBef>
                <a:spcPts val="0"/>
              </a:spcBef>
              <a:spcAft>
                <a:spcPts val="500"/>
              </a:spcAft>
            </a:pPr>
            <a:r>
              <a:rPr sz="1900" b="0">
                <a:solidFill>
                  <a:srgbClr val="172C43"/>
                </a:solidFill>
                <a:latin typeface="Arial"/>
              </a:rPr>
              <a:t>Time to readiness; cold and cached pulls separated</a:t>
            </a:r>
          </a:p>
        </p:txBody>
      </p:sp>
      <p:sp>
        <p:nvSpPr>
          <p:cNvPr id="14" name="Rounded Rectangle 13"/>
          <p:cNvSpPr/>
          <p:nvPr/>
        </p:nvSpPr>
        <p:spPr>
          <a:xfrm>
            <a:off x="658368" y="3776472"/>
            <a:ext cx="10881360" cy="594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931920"/>
            <a:ext cx="2880360" cy="320040"/>
          </a:xfrm>
          <a:prstGeom prst="rect">
            <a:avLst/>
          </a:prstGeom>
          <a:noFill/>
        </p:spPr>
        <p:txBody>
          <a:bodyPr wrap="square" lIns="0" tIns="0" rIns="0" bIns="0" anchor="t">
            <a:spAutoFit/>
          </a:bodyPr>
          <a:lstStyle/>
          <a:p>
            <a:pPr algn="l">
              <a:lnSpc>
                <a:spcPct val="108000"/>
              </a:lnSpc>
              <a:spcBef>
                <a:spcPts val="0"/>
              </a:spcBef>
              <a:spcAft>
                <a:spcPts val="500"/>
              </a:spcAft>
            </a:pPr>
            <a:r>
              <a:rPr sz="2000" b="1">
                <a:solidFill>
                  <a:srgbClr val="087F8C"/>
                </a:solidFill>
                <a:latin typeface="Arial"/>
              </a:rPr>
              <a:t>Failure recovery</a:t>
            </a:r>
          </a:p>
        </p:txBody>
      </p:sp>
      <p:sp>
        <p:nvSpPr>
          <p:cNvPr id="16" name="TextBox 15"/>
          <p:cNvSpPr txBox="1"/>
          <p:nvPr/>
        </p:nvSpPr>
        <p:spPr>
          <a:xfrm>
            <a:off x="3840480" y="3941063"/>
            <a:ext cx="7424927" cy="310896"/>
          </a:xfrm>
          <a:prstGeom prst="rect">
            <a:avLst/>
          </a:prstGeom>
          <a:noFill/>
        </p:spPr>
        <p:txBody>
          <a:bodyPr wrap="square" lIns="0" tIns="0" rIns="0" bIns="0" anchor="t">
            <a:spAutoFit/>
          </a:bodyPr>
          <a:lstStyle/>
          <a:p>
            <a:pPr algn="l">
              <a:lnSpc>
                <a:spcPct val="108000"/>
              </a:lnSpc>
              <a:spcBef>
                <a:spcPts val="0"/>
              </a:spcBef>
              <a:spcAft>
                <a:spcPts val="500"/>
              </a:spcAft>
            </a:pPr>
            <a:r>
              <a:rPr sz="1900" b="0">
                <a:solidFill>
                  <a:srgbClr val="172C43"/>
                </a:solidFill>
                <a:latin typeface="Arial"/>
              </a:rPr>
              <a:t>Detection time, restored state and recovery outcome</a:t>
            </a:r>
          </a:p>
        </p:txBody>
      </p:sp>
      <p:sp>
        <p:nvSpPr>
          <p:cNvPr id="17" name="Rounded Rectangle 16"/>
          <p:cNvSpPr/>
          <p:nvPr/>
        </p:nvSpPr>
        <p:spPr>
          <a:xfrm>
            <a:off x="658368" y="4489704"/>
            <a:ext cx="10881360" cy="594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4645152"/>
            <a:ext cx="2880360" cy="320040"/>
          </a:xfrm>
          <a:prstGeom prst="rect">
            <a:avLst/>
          </a:prstGeom>
          <a:noFill/>
        </p:spPr>
        <p:txBody>
          <a:bodyPr wrap="square" lIns="0" tIns="0" rIns="0" bIns="0" anchor="t">
            <a:spAutoFit/>
          </a:bodyPr>
          <a:lstStyle/>
          <a:p>
            <a:pPr algn="l">
              <a:lnSpc>
                <a:spcPct val="108000"/>
              </a:lnSpc>
              <a:spcBef>
                <a:spcPts val="0"/>
              </a:spcBef>
              <a:spcAft>
                <a:spcPts val="500"/>
              </a:spcAft>
            </a:pPr>
            <a:r>
              <a:rPr sz="2000" b="1">
                <a:solidFill>
                  <a:srgbClr val="087F8C"/>
                </a:solidFill>
                <a:latin typeface="Arial"/>
              </a:rPr>
              <a:t>Hardware cost</a:t>
            </a:r>
          </a:p>
        </p:txBody>
      </p:sp>
      <p:sp>
        <p:nvSpPr>
          <p:cNvPr id="19" name="TextBox 18"/>
          <p:cNvSpPr txBox="1"/>
          <p:nvPr/>
        </p:nvSpPr>
        <p:spPr>
          <a:xfrm>
            <a:off x="3840480" y="4654296"/>
            <a:ext cx="7424927" cy="310896"/>
          </a:xfrm>
          <a:prstGeom prst="rect">
            <a:avLst/>
          </a:prstGeom>
          <a:noFill/>
        </p:spPr>
        <p:txBody>
          <a:bodyPr wrap="square" lIns="0" tIns="0" rIns="0" bIns="0" anchor="t">
            <a:spAutoFit/>
          </a:bodyPr>
          <a:lstStyle/>
          <a:p>
            <a:pPr algn="l">
              <a:lnSpc>
                <a:spcPct val="108000"/>
              </a:lnSpc>
              <a:spcBef>
                <a:spcPts val="0"/>
              </a:spcBef>
              <a:spcAft>
                <a:spcPts val="500"/>
              </a:spcAft>
            </a:pPr>
            <a:r>
              <a:rPr sz="1900" b="0">
                <a:solidFill>
                  <a:srgbClr val="172C43"/>
                </a:solidFill>
                <a:latin typeface="Arial"/>
              </a:rPr>
              <a:t>CPU, memory and disk use at idle and under load</a:t>
            </a:r>
          </a:p>
        </p:txBody>
      </p:sp>
      <p:sp>
        <p:nvSpPr>
          <p:cNvPr id="20" name="Rounded Rectangle 19"/>
          <p:cNvSpPr/>
          <p:nvPr/>
        </p:nvSpPr>
        <p:spPr>
          <a:xfrm>
            <a:off x="658368" y="5504688"/>
            <a:ext cx="10881360" cy="438912"/>
          </a:xfrm>
          <a:prstGeom prst="roundRect">
            <a:avLst>
              <a:gd name="adj" fmla="val 12000"/>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5623560"/>
            <a:ext cx="10515600" cy="237744"/>
          </a:xfrm>
          <a:prstGeom prst="rect">
            <a:avLst/>
          </a:prstGeom>
          <a:noFill/>
        </p:spPr>
        <p:txBody>
          <a:bodyPr wrap="square" lIns="0" tIns="0" rIns="0" bIns="0" anchor="t">
            <a:spAutoFit/>
          </a:bodyPr>
          <a:lstStyle/>
          <a:p>
            <a:pPr algn="l">
              <a:lnSpc>
                <a:spcPct val="108000"/>
              </a:lnSpc>
              <a:spcBef>
                <a:spcPts val="0"/>
              </a:spcBef>
              <a:spcAft>
                <a:spcPts val="500"/>
              </a:spcAft>
            </a:pPr>
            <a:r>
              <a:rPr sz="1500" b="1">
                <a:solidFill>
                  <a:srgbClr val="2457D6"/>
                </a:solidFill>
                <a:latin typeface="Arial"/>
              </a:rPr>
              <a:t>Repeated runs · recorded versions and configuration · functional and failure scenarios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91088" cy="201168"/>
          </a:xfrm>
          <a:prstGeom prst="rect">
            <a:avLst/>
          </a:prstGeom>
          <a:noFill/>
        </p:spPr>
        <p:txBody>
          <a:bodyPr wrap="square" lIns="0" tIns="0" rIns="0" bIns="0" anchor="t">
            <a:spAutoFit/>
          </a:bodyPr>
          <a:lstStyle/>
          <a:p>
            <a:pPr algn="l"/>
            <a:r>
              <a:rPr sz="1300" b="1" spc="180">
                <a:solidFill>
                  <a:srgbClr val="087F8C"/>
                </a:solidFill>
                <a:latin typeface="Arial"/>
              </a:rPr>
              <a:t>EXAMPLE WORKLOADS</a:t>
            </a:r>
          </a:p>
        </p:txBody>
      </p:sp>
      <p:sp>
        <p:nvSpPr>
          <p:cNvPr id="3" name="TextBox 2"/>
          <p:cNvSpPr txBox="1"/>
          <p:nvPr/>
        </p:nvSpPr>
        <p:spPr>
          <a:xfrm>
            <a:off x="566928" y="758952"/>
            <a:ext cx="11064240" cy="820000"/>
          </a:xfrm>
          <a:prstGeom prst="rect">
            <a:avLst/>
          </a:prstGeom>
          <a:noFill/>
        </p:spPr>
        <p:txBody>
          <a:bodyPr wrap="square" lIns="0" tIns="0" rIns="0" bIns="0" anchor="t">
            <a:spAutoFit/>
          </a:bodyPr>
          <a:lstStyle/>
          <a:p>
            <a:pPr algn="l"/>
            <a:r>
              <a:rPr sz="3000" b="1">
                <a:solidFill>
                  <a:srgbClr val="172C43"/>
                </a:solidFill>
                <a:latin typeface="Arial"/>
              </a:rPr>
              <a:t>What an administrator would actually deploy</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r>
              <a:rPr sz="1500" b="0">
                <a:solidFill>
                  <a:srgbClr val="53677C"/>
                </a:solidFill>
                <a:latin typeface="Arial"/>
              </a:rPr>
              <a:t>Any long-running HTTP service shipped as a container image fits the supported contract.</a:t>
            </a:r>
          </a:p>
        </p:txBody>
      </p:sp>
      <p:sp>
        <p:nvSpPr>
          <p:cNvPr id="5" name="Rectangle 4"/>
          <p:cNvSpPr/>
          <p:nvPr/>
        </p:nvSpPr>
        <p:spPr>
          <a:xfrm>
            <a:off x="576072" y="6446520"/>
            <a:ext cx="11018520" cy="10972"/>
          </a:xfrm>
          <a:prstGeom prst="rect">
            <a:avLst/>
          </a:prstGeom>
          <a:solidFill>
            <a:srgbClr val="D6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r>
              <a:rPr sz="800" b="0" spc="12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r>
              <a:rPr sz="1200" b="1">
                <a:solidFill>
                  <a:srgbClr val="53677C"/>
                </a:solidFill>
                <a:latin typeface="Arial"/>
              </a:rPr>
              <a:t>15</a:t>
            </a:r>
          </a:p>
        </p:txBody>
      </p:sp>
      <p:sp>
        <p:nvSpPr>
          <p:cNvPr id="8" name="Rounded Rectangle 7"/>
          <p:cNvSpPr/>
          <p:nvPr/>
        </p:nvSpPr>
        <p:spPr>
          <a:xfrm>
            <a:off x="594360" y="2340000"/>
            <a:ext cx="3360000" cy="17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340000"/>
            <a:ext cx="50292" cy="178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4360" y="2480000"/>
            <a:ext cx="3020000" cy="400000"/>
          </a:xfrm>
          <a:prstGeom prst="rect">
            <a:avLst/>
          </a:prstGeom>
          <a:noFill/>
        </p:spPr>
        <p:txBody>
          <a:bodyPr wrap="square" lIns="0" tIns="0" rIns="0" bIns="0" anchor="t">
            <a:spAutoFit/>
          </a:bodyPr>
          <a:lstStyle/>
          <a:p>
            <a:pPr algn="l"/>
            <a:r>
              <a:rPr sz="1500" b="1">
                <a:solidFill>
                  <a:srgbClr val="172C43"/>
                </a:solidFill>
                <a:latin typeface="Arial"/>
              </a:rPr>
              <a:t>Self-hosted AI agent service</a:t>
            </a:r>
          </a:p>
        </p:txBody>
      </p:sp>
      <p:sp>
        <p:nvSpPr>
          <p:cNvPr id="11" name="TextBox 10"/>
          <p:cNvSpPr txBox="1"/>
          <p:nvPr/>
        </p:nvSpPr>
        <p:spPr>
          <a:xfrm>
            <a:off x="794360" y="2880000"/>
            <a:ext cx="3020000" cy="1200000"/>
          </a:xfrm>
          <a:prstGeom prst="rect">
            <a:avLst/>
          </a:prstGeom>
          <a:noFill/>
        </p:spPr>
        <p:txBody>
          <a:bodyPr wrap="square" lIns="0" tIns="0" rIns="0" bIns="0" anchor="t">
            <a:spAutoFit/>
          </a:bodyPr>
          <a:lstStyle/>
          <a:p>
            <a:pPr algn="l"/>
            <a:r>
              <a:rPr sz="1000" b="0">
                <a:solidFill>
                  <a:srgbClr val="53677C"/>
                </a:solidFill>
                <a:latin typeface="Arial"/>
              </a:rPr>
              <a:t>An agent runtime or LLM-tooling gateway (for example an automation or retrieval service) kept on controlled infrastructure so prompts and data never leave it.</a:t>
            </a:r>
          </a:p>
        </p:txBody>
      </p:sp>
      <p:sp>
        <p:nvSpPr>
          <p:cNvPr id="12" name="Rounded Rectangle 11"/>
          <p:cNvSpPr/>
          <p:nvPr/>
        </p:nvSpPr>
        <p:spPr>
          <a:xfrm>
            <a:off x="4128936" y="2340000"/>
            <a:ext cx="3360000" cy="17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128936" y="2340000"/>
            <a:ext cx="50292" cy="178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28936" y="2480000"/>
            <a:ext cx="3020000" cy="400000"/>
          </a:xfrm>
          <a:prstGeom prst="rect">
            <a:avLst/>
          </a:prstGeom>
          <a:noFill/>
        </p:spPr>
        <p:txBody>
          <a:bodyPr wrap="square" lIns="0" tIns="0" rIns="0" bIns="0" anchor="t">
            <a:spAutoFit/>
          </a:bodyPr>
          <a:lstStyle/>
          <a:p>
            <a:pPr algn="l"/>
            <a:r>
              <a:rPr sz="1500" b="1">
                <a:solidFill>
                  <a:srgbClr val="172C43"/>
                </a:solidFill>
                <a:latin typeface="Arial"/>
              </a:rPr>
              <a:t>Internal web tool</a:t>
            </a:r>
          </a:p>
        </p:txBody>
      </p:sp>
      <p:sp>
        <p:nvSpPr>
          <p:cNvPr id="15" name="TextBox 14"/>
          <p:cNvSpPr txBox="1"/>
          <p:nvPr/>
        </p:nvSpPr>
        <p:spPr>
          <a:xfrm>
            <a:off x="4328936" y="2880000"/>
            <a:ext cx="3020000" cy="1200000"/>
          </a:xfrm>
          <a:prstGeom prst="rect">
            <a:avLst/>
          </a:prstGeom>
          <a:noFill/>
        </p:spPr>
        <p:txBody>
          <a:bodyPr wrap="square" lIns="0" tIns="0" rIns="0" bIns="0" anchor="t">
            <a:spAutoFit/>
          </a:bodyPr>
          <a:lstStyle/>
          <a:p>
            <a:pPr algn="l"/>
            <a:r>
              <a:rPr sz="1000" b="0">
                <a:solidFill>
                  <a:srgbClr val="53677C"/>
                </a:solidFill>
                <a:latin typeface="Arial"/>
              </a:rPr>
              <a:t>A team dashboard, wiki or admin console on the LAN — private by default, no public exposure required.</a:t>
            </a:r>
          </a:p>
        </p:txBody>
      </p:sp>
      <p:sp>
        <p:nvSpPr>
          <p:cNvPr id="16" name="Rounded Rectangle 15"/>
          <p:cNvSpPr/>
          <p:nvPr/>
        </p:nvSpPr>
        <p:spPr>
          <a:xfrm>
            <a:off x="7663512" y="2340000"/>
            <a:ext cx="3360000" cy="17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63512" y="2340000"/>
            <a:ext cx="50292" cy="178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512" y="2480000"/>
            <a:ext cx="3020000" cy="400000"/>
          </a:xfrm>
          <a:prstGeom prst="rect">
            <a:avLst/>
          </a:prstGeom>
          <a:noFill/>
        </p:spPr>
        <p:txBody>
          <a:bodyPr wrap="square" lIns="0" tIns="0" rIns="0" bIns="0" anchor="t">
            <a:spAutoFit/>
          </a:bodyPr>
          <a:lstStyle/>
          <a:p>
            <a:pPr algn="l"/>
            <a:r>
              <a:rPr sz="1500" b="1" dirty="0">
                <a:solidFill>
                  <a:srgbClr val="172C43"/>
                </a:solidFill>
                <a:latin typeface="Arial"/>
              </a:rPr>
              <a:t>Automation / webhook endpoint</a:t>
            </a:r>
          </a:p>
        </p:txBody>
      </p:sp>
      <p:sp>
        <p:nvSpPr>
          <p:cNvPr id="19" name="TextBox 18"/>
          <p:cNvSpPr txBox="1"/>
          <p:nvPr/>
        </p:nvSpPr>
        <p:spPr>
          <a:xfrm>
            <a:off x="7863512" y="2880000"/>
            <a:ext cx="3020000" cy="1200000"/>
          </a:xfrm>
          <a:prstGeom prst="rect">
            <a:avLst/>
          </a:prstGeom>
          <a:noFill/>
        </p:spPr>
        <p:txBody>
          <a:bodyPr wrap="square" lIns="0" tIns="0" rIns="0" bIns="0" anchor="t">
            <a:spAutoFit/>
          </a:bodyPr>
          <a:lstStyle/>
          <a:p>
            <a:pPr algn="l"/>
            <a:r>
              <a:rPr sz="1000" b="0">
                <a:solidFill>
                  <a:srgbClr val="53677C"/>
                </a:solidFill>
                <a:latin typeface="Arial"/>
              </a:rPr>
              <a:t>A Git, CI or chat webhook receiver that reacts to events and triggers internal jobs.</a:t>
            </a:r>
          </a:p>
        </p:txBody>
      </p:sp>
      <p:sp>
        <p:nvSpPr>
          <p:cNvPr id="20" name="Rounded Rectangle 19"/>
          <p:cNvSpPr/>
          <p:nvPr/>
        </p:nvSpPr>
        <p:spPr>
          <a:xfrm>
            <a:off x="594360" y="4280000"/>
            <a:ext cx="3360000" cy="17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94360" y="4280000"/>
            <a:ext cx="50292" cy="178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4360" y="4420000"/>
            <a:ext cx="3020000" cy="400000"/>
          </a:xfrm>
          <a:prstGeom prst="rect">
            <a:avLst/>
          </a:prstGeom>
          <a:noFill/>
        </p:spPr>
        <p:txBody>
          <a:bodyPr wrap="square" lIns="0" tIns="0" rIns="0" bIns="0" anchor="t">
            <a:spAutoFit/>
          </a:bodyPr>
          <a:lstStyle/>
          <a:p>
            <a:pPr algn="l"/>
            <a:r>
              <a:rPr sz="1500" b="1">
                <a:solidFill>
                  <a:srgbClr val="172C43"/>
                </a:solidFill>
                <a:latin typeface="Arial"/>
              </a:rPr>
              <a:t>Monitoring or status page</a:t>
            </a:r>
          </a:p>
        </p:txBody>
      </p:sp>
      <p:sp>
        <p:nvSpPr>
          <p:cNvPr id="23" name="TextBox 22"/>
          <p:cNvSpPr txBox="1"/>
          <p:nvPr/>
        </p:nvSpPr>
        <p:spPr>
          <a:xfrm>
            <a:off x="794360" y="4820000"/>
            <a:ext cx="3020000" cy="1200000"/>
          </a:xfrm>
          <a:prstGeom prst="rect">
            <a:avLst/>
          </a:prstGeom>
          <a:noFill/>
        </p:spPr>
        <p:txBody>
          <a:bodyPr wrap="square" lIns="0" tIns="0" rIns="0" bIns="0" anchor="t">
            <a:spAutoFit/>
          </a:bodyPr>
          <a:lstStyle/>
          <a:p>
            <a:pPr algn="l"/>
            <a:r>
              <a:rPr sz="1000" b="0">
                <a:solidFill>
                  <a:srgbClr val="53677C"/>
                </a:solidFill>
                <a:latin typeface="Arial"/>
              </a:rPr>
              <a:t>A metrics dashboard or uptime page for the operator's own services.</a:t>
            </a:r>
          </a:p>
        </p:txBody>
      </p:sp>
      <p:sp>
        <p:nvSpPr>
          <p:cNvPr id="24" name="Rounded Rectangle 23"/>
          <p:cNvSpPr/>
          <p:nvPr/>
        </p:nvSpPr>
        <p:spPr>
          <a:xfrm>
            <a:off x="4128936" y="4280000"/>
            <a:ext cx="3360000" cy="17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128936" y="4280000"/>
            <a:ext cx="50292" cy="178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28936" y="4420000"/>
            <a:ext cx="3020000" cy="400000"/>
          </a:xfrm>
          <a:prstGeom prst="rect">
            <a:avLst/>
          </a:prstGeom>
          <a:noFill/>
        </p:spPr>
        <p:txBody>
          <a:bodyPr wrap="square" lIns="0" tIns="0" rIns="0" bIns="0" anchor="t">
            <a:spAutoFit/>
          </a:bodyPr>
          <a:lstStyle/>
          <a:p>
            <a:pPr algn="l"/>
            <a:r>
              <a:rPr sz="1500" b="1">
                <a:solidFill>
                  <a:srgbClr val="172C43"/>
                </a:solidFill>
                <a:latin typeface="Arial"/>
              </a:rPr>
              <a:t>API or backend service</a:t>
            </a:r>
          </a:p>
        </p:txBody>
      </p:sp>
      <p:sp>
        <p:nvSpPr>
          <p:cNvPr id="27" name="TextBox 26"/>
          <p:cNvSpPr txBox="1"/>
          <p:nvPr/>
        </p:nvSpPr>
        <p:spPr>
          <a:xfrm>
            <a:off x="4328936" y="4820000"/>
            <a:ext cx="3020000" cy="1200000"/>
          </a:xfrm>
          <a:prstGeom prst="rect">
            <a:avLst/>
          </a:prstGeom>
          <a:noFill/>
        </p:spPr>
        <p:txBody>
          <a:bodyPr wrap="square" lIns="0" tIns="0" rIns="0" bIns="0" anchor="t">
            <a:spAutoFit/>
          </a:bodyPr>
          <a:lstStyle/>
          <a:p>
            <a:pPr algn="l"/>
            <a:r>
              <a:rPr sz="1000" b="0">
                <a:solidFill>
                  <a:srgbClr val="53677C"/>
                </a:solidFill>
                <a:latin typeface="Arial"/>
              </a:rPr>
              <a:t>A stateless REST/gRPC-over-HTTP backend, optionally paired with a private dependency.</a:t>
            </a:r>
          </a:p>
        </p:txBody>
      </p:sp>
      <p:sp>
        <p:nvSpPr>
          <p:cNvPr id="28" name="Rounded Rectangle 27"/>
          <p:cNvSpPr/>
          <p:nvPr/>
        </p:nvSpPr>
        <p:spPr>
          <a:xfrm>
            <a:off x="7663512" y="4280000"/>
            <a:ext cx="3360000" cy="17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663512" y="4280000"/>
            <a:ext cx="50292" cy="178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63512" y="4420000"/>
            <a:ext cx="3020000" cy="400000"/>
          </a:xfrm>
          <a:prstGeom prst="rect">
            <a:avLst/>
          </a:prstGeom>
          <a:noFill/>
        </p:spPr>
        <p:txBody>
          <a:bodyPr wrap="square" lIns="0" tIns="0" rIns="0" bIns="0" anchor="t">
            <a:spAutoFit/>
          </a:bodyPr>
          <a:lstStyle/>
          <a:p>
            <a:pPr algn="l"/>
            <a:r>
              <a:rPr sz="1500" b="1">
                <a:solidFill>
                  <a:srgbClr val="172C43"/>
                </a:solidFill>
                <a:latin typeface="Arial"/>
              </a:rPr>
              <a:t>Published personal site</a:t>
            </a:r>
          </a:p>
        </p:txBody>
      </p:sp>
      <p:sp>
        <p:nvSpPr>
          <p:cNvPr id="31" name="TextBox 30"/>
          <p:cNvSpPr txBox="1"/>
          <p:nvPr/>
        </p:nvSpPr>
        <p:spPr>
          <a:xfrm>
            <a:off x="7863512" y="4820000"/>
            <a:ext cx="3020000" cy="1200000"/>
          </a:xfrm>
          <a:prstGeom prst="rect">
            <a:avLst/>
          </a:prstGeom>
          <a:noFill/>
        </p:spPr>
        <p:txBody>
          <a:bodyPr wrap="square" lIns="0" tIns="0" rIns="0" bIns="0" anchor="t">
            <a:spAutoFit/>
          </a:bodyPr>
          <a:lstStyle/>
          <a:p>
            <a:pPr algn="l"/>
            <a:r>
              <a:rPr sz="1000" b="0">
                <a:solidFill>
                  <a:srgbClr val="53677C"/>
                </a:solidFill>
                <a:latin typeface="Arial"/>
              </a:rPr>
              <a:t>A portfolio or small public service, exposed over HTTPS by explicit choice.</a:t>
            </a:r>
          </a:p>
        </p:txBody>
      </p:sp>
      <p:sp>
        <p:nvSpPr>
          <p:cNvPr id="32" name="TextBox 31"/>
          <p:cNvSpPr txBox="1"/>
          <p:nvPr/>
        </p:nvSpPr>
        <p:spPr>
          <a:xfrm>
            <a:off x="594360" y="6200000"/>
            <a:ext cx="10991088" cy="220000"/>
          </a:xfrm>
          <a:prstGeom prst="rect">
            <a:avLst/>
          </a:prstGeom>
          <a:noFill/>
        </p:spPr>
        <p:txBody>
          <a:bodyPr wrap="square" lIns="0" tIns="0" rIns="0" bIns="0" anchor="t">
            <a:spAutoFit/>
          </a:bodyPr>
          <a:lstStyle/>
          <a:p>
            <a:pPr algn="l"/>
            <a:r>
              <a:rPr sz="1100" b="0">
                <a:solidFill>
                  <a:srgbClr val="53677C"/>
                </a:solidFill>
                <a:latin typeface="Arial"/>
              </a:rPr>
              <a:t>Common thread: the operator wants the service on infrastructure they control, with a managed lifecycle rather than hand-written manifests.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91088" cy="201168"/>
          </a:xfrm>
          <a:prstGeom prst="rect">
            <a:avLst/>
          </a:prstGeom>
          <a:noFill/>
        </p:spPr>
        <p:txBody>
          <a:bodyPr wrap="square" lIns="0" tIns="0" rIns="0" bIns="0" anchor="t">
            <a:spAutoFit/>
          </a:bodyPr>
          <a:lstStyle/>
          <a:p>
            <a:pPr algn="l"/>
            <a:r>
              <a:rPr sz="1300" b="1" spc="180">
                <a:solidFill>
                  <a:srgbClr val="087F8C"/>
                </a:solidFill>
                <a:latin typeface="Arial"/>
              </a:rPr>
              <a:t>EXAMPLE · WALK-THROUGH</a:t>
            </a:r>
          </a:p>
        </p:txBody>
      </p:sp>
      <p:sp>
        <p:nvSpPr>
          <p:cNvPr id="3" name="TextBox 2"/>
          <p:cNvSpPr txBox="1"/>
          <p:nvPr/>
        </p:nvSpPr>
        <p:spPr>
          <a:xfrm>
            <a:off x="566928" y="758952"/>
            <a:ext cx="11064240" cy="820000"/>
          </a:xfrm>
          <a:prstGeom prst="rect">
            <a:avLst/>
          </a:prstGeom>
          <a:noFill/>
        </p:spPr>
        <p:txBody>
          <a:bodyPr wrap="square" lIns="0" tIns="0" rIns="0" bIns="0" anchor="t">
            <a:spAutoFit/>
          </a:bodyPr>
          <a:lstStyle/>
          <a:p>
            <a:pPr algn="l"/>
            <a:r>
              <a:rPr sz="3000" b="1">
                <a:solidFill>
                  <a:srgbClr val="172C43"/>
                </a:solidFill>
                <a:latin typeface="Arial"/>
              </a:rPr>
              <a:t>Deploying a self-hosted AI agent service</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r>
              <a:rPr sz="1500" b="0">
                <a:solidFill>
                  <a:srgbClr val="53677C"/>
                </a:solidFill>
                <a:latin typeface="Arial"/>
              </a:rPr>
              <a:t>From an image reference to a private, observed, updatable application.</a:t>
            </a:r>
          </a:p>
        </p:txBody>
      </p:sp>
      <p:sp>
        <p:nvSpPr>
          <p:cNvPr id="5" name="Rectangle 4"/>
          <p:cNvSpPr/>
          <p:nvPr/>
        </p:nvSpPr>
        <p:spPr>
          <a:xfrm>
            <a:off x="576072" y="6446520"/>
            <a:ext cx="11018520" cy="10972"/>
          </a:xfrm>
          <a:prstGeom prst="rect">
            <a:avLst/>
          </a:prstGeom>
          <a:solidFill>
            <a:srgbClr val="D6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r>
              <a:rPr sz="800" b="0" spc="12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r>
              <a:rPr sz="1200" b="1">
                <a:solidFill>
                  <a:srgbClr val="53677C"/>
                </a:solidFill>
                <a:latin typeface="Arial"/>
              </a:rPr>
              <a:t>16</a:t>
            </a:r>
          </a:p>
        </p:txBody>
      </p:sp>
      <p:sp>
        <p:nvSpPr>
          <p:cNvPr id="8" name="Rounded Rectangle 7"/>
          <p:cNvSpPr/>
          <p:nvPr/>
        </p:nvSpPr>
        <p:spPr>
          <a:xfrm>
            <a:off x="594360" y="2468880"/>
            <a:ext cx="2615184" cy="2441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468880"/>
            <a:ext cx="50292" cy="2441448"/>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4360" y="2608880"/>
            <a:ext cx="2275184" cy="400000"/>
          </a:xfrm>
          <a:prstGeom prst="rect">
            <a:avLst/>
          </a:prstGeom>
          <a:noFill/>
        </p:spPr>
        <p:txBody>
          <a:bodyPr wrap="square" lIns="0" tIns="0" rIns="0" bIns="0" anchor="t">
            <a:spAutoFit/>
          </a:bodyPr>
          <a:lstStyle/>
          <a:p>
            <a:pPr algn="l"/>
            <a:r>
              <a:rPr sz="1500" b="1">
                <a:solidFill>
                  <a:srgbClr val="172C43"/>
                </a:solidFill>
                <a:latin typeface="Arial"/>
              </a:rPr>
              <a:t>Describe</a:t>
            </a:r>
          </a:p>
        </p:txBody>
      </p:sp>
      <p:sp>
        <p:nvSpPr>
          <p:cNvPr id="11" name="TextBox 10"/>
          <p:cNvSpPr txBox="1"/>
          <p:nvPr/>
        </p:nvSpPr>
        <p:spPr>
          <a:xfrm>
            <a:off x="794360" y="3008880"/>
            <a:ext cx="2275184" cy="1861448"/>
          </a:xfrm>
          <a:prstGeom prst="rect">
            <a:avLst/>
          </a:prstGeom>
          <a:noFill/>
        </p:spPr>
        <p:txBody>
          <a:bodyPr wrap="square" lIns="0" tIns="0" rIns="0" bIns="0" anchor="t">
            <a:spAutoFit/>
          </a:bodyPr>
          <a:lstStyle/>
          <a:p>
            <a:pPr algn="l"/>
            <a:r>
              <a:rPr sz="1100" b="0">
                <a:solidFill>
                  <a:srgbClr val="53677C"/>
                </a:solidFill>
                <a:latin typeface="Arial"/>
              </a:rPr>
              <a:t>Paste the agent image (e.g. an automation/retrieval service), confirm the port and the /healthz endpoint.</a:t>
            </a:r>
          </a:p>
        </p:txBody>
      </p:sp>
      <p:sp>
        <p:nvSpPr>
          <p:cNvPr id="12" name="TextBox 11"/>
          <p:cNvSpPr txBox="1"/>
          <p:nvPr/>
        </p:nvSpPr>
        <p:spPr>
          <a:xfrm>
            <a:off x="794360" y="2651760"/>
            <a:ext cx="2215184" cy="256032"/>
          </a:xfrm>
          <a:prstGeom prst="rect">
            <a:avLst/>
          </a:prstGeom>
          <a:noFill/>
        </p:spPr>
        <p:txBody>
          <a:bodyPr wrap="square" lIns="0" tIns="0" rIns="0" bIns="0" anchor="t">
            <a:spAutoFit/>
          </a:bodyPr>
          <a:lstStyle/>
          <a:p>
            <a:pPr algn="l"/>
            <a:r>
              <a:rPr sz="1300" b="1">
                <a:solidFill>
                  <a:srgbClr val="087F8C"/>
                </a:solidFill>
                <a:latin typeface="Arial"/>
              </a:rPr>
              <a:t>01</a:t>
            </a:r>
          </a:p>
        </p:txBody>
      </p:sp>
      <p:sp>
        <p:nvSpPr>
          <p:cNvPr id="13" name="Rounded Rectangle 12"/>
          <p:cNvSpPr/>
          <p:nvPr/>
        </p:nvSpPr>
        <p:spPr>
          <a:xfrm>
            <a:off x="3392208" y="2468880"/>
            <a:ext cx="2615184" cy="2441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92208" y="2468880"/>
            <a:ext cx="50292" cy="2441448"/>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92208" y="2608880"/>
            <a:ext cx="2275184" cy="400000"/>
          </a:xfrm>
          <a:prstGeom prst="rect">
            <a:avLst/>
          </a:prstGeom>
          <a:noFill/>
        </p:spPr>
        <p:txBody>
          <a:bodyPr wrap="square" lIns="0" tIns="0" rIns="0" bIns="0" anchor="t">
            <a:spAutoFit/>
          </a:bodyPr>
          <a:lstStyle/>
          <a:p>
            <a:pPr algn="l"/>
            <a:r>
              <a:rPr sz="1500" b="1">
                <a:solidFill>
                  <a:srgbClr val="172C43"/>
                </a:solidFill>
                <a:latin typeface="Arial"/>
              </a:rPr>
              <a:t>Configure</a:t>
            </a:r>
          </a:p>
        </p:txBody>
      </p:sp>
      <p:sp>
        <p:nvSpPr>
          <p:cNvPr id="16" name="TextBox 15"/>
          <p:cNvSpPr txBox="1"/>
          <p:nvPr/>
        </p:nvSpPr>
        <p:spPr>
          <a:xfrm>
            <a:off x="3592208" y="3008880"/>
            <a:ext cx="2275184" cy="1861448"/>
          </a:xfrm>
          <a:prstGeom prst="rect">
            <a:avLst/>
          </a:prstGeom>
          <a:noFill/>
        </p:spPr>
        <p:txBody>
          <a:bodyPr wrap="square" lIns="0" tIns="0" rIns="0" bIns="0" anchor="t">
            <a:spAutoFit/>
          </a:bodyPr>
          <a:lstStyle/>
          <a:p>
            <a:pPr algn="l"/>
            <a:r>
              <a:rPr sz="1100" b="0">
                <a:solidFill>
                  <a:srgbClr val="53677C"/>
                </a:solidFill>
                <a:latin typeface="Arial"/>
              </a:rPr>
              <a:t>Set non-secret environment; add the model/provider API key as a versioned secret — stored write-only, never in history.</a:t>
            </a:r>
          </a:p>
        </p:txBody>
      </p:sp>
      <p:sp>
        <p:nvSpPr>
          <p:cNvPr id="17" name="TextBox 16"/>
          <p:cNvSpPr txBox="1"/>
          <p:nvPr/>
        </p:nvSpPr>
        <p:spPr>
          <a:xfrm>
            <a:off x="3592208" y="2651760"/>
            <a:ext cx="2215184" cy="256032"/>
          </a:xfrm>
          <a:prstGeom prst="rect">
            <a:avLst/>
          </a:prstGeom>
          <a:noFill/>
        </p:spPr>
        <p:txBody>
          <a:bodyPr wrap="square" lIns="0" tIns="0" rIns="0" bIns="0" anchor="t">
            <a:spAutoFit/>
          </a:bodyPr>
          <a:lstStyle/>
          <a:p>
            <a:pPr algn="l"/>
            <a:r>
              <a:rPr sz="1300" b="1">
                <a:solidFill>
                  <a:srgbClr val="087F8C"/>
                </a:solidFill>
                <a:latin typeface="Arial"/>
              </a:rPr>
              <a:t>02</a:t>
            </a:r>
          </a:p>
        </p:txBody>
      </p:sp>
      <p:sp>
        <p:nvSpPr>
          <p:cNvPr id="18" name="Rounded Rectangle 17"/>
          <p:cNvSpPr/>
          <p:nvPr/>
        </p:nvSpPr>
        <p:spPr>
          <a:xfrm>
            <a:off x="6190056" y="2468880"/>
            <a:ext cx="2615184" cy="2441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90056" y="2468880"/>
            <a:ext cx="50292" cy="2441448"/>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90056" y="2608880"/>
            <a:ext cx="2275184" cy="400000"/>
          </a:xfrm>
          <a:prstGeom prst="rect">
            <a:avLst/>
          </a:prstGeom>
          <a:noFill/>
        </p:spPr>
        <p:txBody>
          <a:bodyPr wrap="square" lIns="0" tIns="0" rIns="0" bIns="0" anchor="t">
            <a:spAutoFit/>
          </a:bodyPr>
          <a:lstStyle/>
          <a:p>
            <a:pPr algn="l"/>
            <a:r>
              <a:rPr sz="1500" b="1">
                <a:solidFill>
                  <a:srgbClr val="172C43"/>
                </a:solidFill>
                <a:latin typeface="Arial"/>
              </a:rPr>
              <a:t>Deploy</a:t>
            </a:r>
          </a:p>
        </p:txBody>
      </p:sp>
      <p:sp>
        <p:nvSpPr>
          <p:cNvPr id="21" name="TextBox 20"/>
          <p:cNvSpPr txBox="1"/>
          <p:nvPr/>
        </p:nvSpPr>
        <p:spPr>
          <a:xfrm>
            <a:off x="6390056" y="3008880"/>
            <a:ext cx="2275184" cy="1861448"/>
          </a:xfrm>
          <a:prstGeom prst="rect">
            <a:avLst/>
          </a:prstGeom>
          <a:noFill/>
        </p:spPr>
        <p:txBody>
          <a:bodyPr wrap="square" lIns="0" tIns="0" rIns="0" bIns="0" anchor="t">
            <a:spAutoFit/>
          </a:bodyPr>
          <a:lstStyle/>
          <a:p>
            <a:pPr algn="l"/>
            <a:r>
              <a:rPr sz="1100" b="0">
                <a:solidFill>
                  <a:srgbClr val="53677C"/>
                </a:solidFill>
                <a:latin typeface="Arial"/>
              </a:rPr>
              <a:t>The platform freezes the image digest, applies the chart, and watches readiness — accepted first, verified after.</a:t>
            </a:r>
          </a:p>
        </p:txBody>
      </p:sp>
      <p:sp>
        <p:nvSpPr>
          <p:cNvPr id="22" name="TextBox 21"/>
          <p:cNvSpPr txBox="1"/>
          <p:nvPr/>
        </p:nvSpPr>
        <p:spPr>
          <a:xfrm>
            <a:off x="6390056" y="2651760"/>
            <a:ext cx="2215184" cy="256032"/>
          </a:xfrm>
          <a:prstGeom prst="rect">
            <a:avLst/>
          </a:prstGeom>
          <a:noFill/>
        </p:spPr>
        <p:txBody>
          <a:bodyPr wrap="square" lIns="0" tIns="0" rIns="0" bIns="0" anchor="t">
            <a:spAutoFit/>
          </a:bodyPr>
          <a:lstStyle/>
          <a:p>
            <a:pPr algn="l"/>
            <a:r>
              <a:rPr sz="1300" b="1">
                <a:solidFill>
                  <a:srgbClr val="087F8C"/>
                </a:solidFill>
                <a:latin typeface="Arial"/>
              </a:rPr>
              <a:t>03</a:t>
            </a:r>
          </a:p>
        </p:txBody>
      </p:sp>
      <p:sp>
        <p:nvSpPr>
          <p:cNvPr id="23" name="Rounded Rectangle 22"/>
          <p:cNvSpPr/>
          <p:nvPr/>
        </p:nvSpPr>
        <p:spPr>
          <a:xfrm>
            <a:off x="8987904" y="2468880"/>
            <a:ext cx="2615184" cy="2441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87904" y="2468880"/>
            <a:ext cx="50292" cy="2441448"/>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87904" y="2608880"/>
            <a:ext cx="2275184" cy="400000"/>
          </a:xfrm>
          <a:prstGeom prst="rect">
            <a:avLst/>
          </a:prstGeom>
          <a:noFill/>
        </p:spPr>
        <p:txBody>
          <a:bodyPr wrap="square" lIns="0" tIns="0" rIns="0" bIns="0" anchor="t">
            <a:spAutoFit/>
          </a:bodyPr>
          <a:lstStyle/>
          <a:p>
            <a:pPr algn="l"/>
            <a:r>
              <a:rPr sz="1500" b="1">
                <a:solidFill>
                  <a:srgbClr val="172C43"/>
                </a:solidFill>
                <a:latin typeface="Arial"/>
              </a:rPr>
              <a:t>Operate</a:t>
            </a:r>
          </a:p>
        </p:txBody>
      </p:sp>
      <p:sp>
        <p:nvSpPr>
          <p:cNvPr id="26" name="TextBox 25"/>
          <p:cNvSpPr txBox="1"/>
          <p:nvPr/>
        </p:nvSpPr>
        <p:spPr>
          <a:xfrm>
            <a:off x="9187904" y="3008880"/>
            <a:ext cx="2275184" cy="1861448"/>
          </a:xfrm>
          <a:prstGeom prst="rect">
            <a:avLst/>
          </a:prstGeom>
          <a:noFill/>
        </p:spPr>
        <p:txBody>
          <a:bodyPr wrap="square" lIns="0" tIns="0" rIns="0" bIns="0" anchor="t">
            <a:spAutoFit/>
          </a:bodyPr>
          <a:lstStyle/>
          <a:p>
            <a:pPr algn="l"/>
            <a:r>
              <a:rPr sz="1100" b="0">
                <a:solidFill>
                  <a:srgbClr val="53677C"/>
                </a:solidFill>
                <a:latin typeface="Arial"/>
              </a:rPr>
              <a:t>A private URL on the LAN, live logs and status, and a one-click update to a new agent version with recorded history.</a:t>
            </a:r>
          </a:p>
        </p:txBody>
      </p:sp>
      <p:sp>
        <p:nvSpPr>
          <p:cNvPr id="27" name="TextBox 26"/>
          <p:cNvSpPr txBox="1"/>
          <p:nvPr/>
        </p:nvSpPr>
        <p:spPr>
          <a:xfrm>
            <a:off x="9187904" y="2651760"/>
            <a:ext cx="2215184" cy="256032"/>
          </a:xfrm>
          <a:prstGeom prst="rect">
            <a:avLst/>
          </a:prstGeom>
          <a:noFill/>
        </p:spPr>
        <p:txBody>
          <a:bodyPr wrap="square" lIns="0" tIns="0" rIns="0" bIns="0" anchor="t">
            <a:spAutoFit/>
          </a:bodyPr>
          <a:lstStyle/>
          <a:p>
            <a:pPr algn="l"/>
            <a:r>
              <a:rPr sz="1300" b="1">
                <a:solidFill>
                  <a:srgbClr val="087F8C"/>
                </a:solidFill>
                <a:latin typeface="Arial"/>
              </a:rPr>
              <a:t>04</a:t>
            </a:r>
          </a:p>
        </p:txBody>
      </p:sp>
      <p:sp>
        <p:nvSpPr>
          <p:cNvPr id="28" name="Rectangle 27"/>
          <p:cNvSpPr/>
          <p:nvPr/>
        </p:nvSpPr>
        <p:spPr>
          <a:xfrm>
            <a:off x="594360" y="5257800"/>
            <a:ext cx="10991088" cy="603504"/>
          </a:xfrm>
          <a:prstGeom prst="rect">
            <a:avLst/>
          </a:prstGeom>
          <a:solidFill>
            <a:srgbClr val="E4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4360" y="5257800"/>
            <a:ext cx="50292" cy="603504"/>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 y="5257800"/>
            <a:ext cx="1300000" cy="603504"/>
          </a:xfrm>
          <a:prstGeom prst="rect">
            <a:avLst/>
          </a:prstGeom>
          <a:noFill/>
        </p:spPr>
        <p:txBody>
          <a:bodyPr wrap="square" lIns="0" tIns="0" rIns="0" bIns="0" anchor="ctr">
            <a:spAutoFit/>
          </a:bodyPr>
          <a:lstStyle/>
          <a:p>
            <a:pPr algn="l"/>
            <a:r>
              <a:rPr sz="1300" b="1" spc="160">
                <a:solidFill>
                  <a:srgbClr val="087F8C"/>
                </a:solidFill>
                <a:latin typeface="Arial"/>
              </a:rPr>
              <a:t>RESULT</a:t>
            </a:r>
          </a:p>
        </p:txBody>
      </p:sp>
      <p:sp>
        <p:nvSpPr>
          <p:cNvPr id="31" name="TextBox 30"/>
          <p:cNvSpPr txBox="1"/>
          <p:nvPr/>
        </p:nvSpPr>
        <p:spPr>
          <a:xfrm>
            <a:off x="2100000" y="5257800"/>
            <a:ext cx="9200000" cy="603504"/>
          </a:xfrm>
          <a:prstGeom prst="rect">
            <a:avLst/>
          </a:prstGeom>
          <a:noFill/>
        </p:spPr>
        <p:txBody>
          <a:bodyPr wrap="square" lIns="0" tIns="0" rIns="0" bIns="0" anchor="ctr">
            <a:spAutoFit/>
          </a:bodyPr>
          <a:lstStyle/>
          <a:p>
            <a:pPr algn="l"/>
            <a:r>
              <a:rPr sz="1300" b="0">
                <a:solidFill>
                  <a:srgbClr val="172C43"/>
                </a:solidFill>
                <a:latin typeface="Arial"/>
              </a:rPr>
              <a:t>A controlled agent service with managed updates and recovery — data stays on the operator's own cluster.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91088" cy="201168"/>
          </a:xfrm>
          <a:prstGeom prst="rect">
            <a:avLst/>
          </a:prstGeom>
          <a:noFill/>
        </p:spPr>
        <p:txBody>
          <a:bodyPr wrap="square" lIns="0" tIns="0" rIns="0" bIns="0" anchor="t">
            <a:spAutoFit/>
          </a:bodyPr>
          <a:lstStyle/>
          <a:p>
            <a:pPr algn="l"/>
            <a:r>
              <a:rPr sz="1300" b="1" spc="180">
                <a:solidFill>
                  <a:srgbClr val="087F8C"/>
                </a:solidFill>
                <a:latin typeface="Arial"/>
              </a:rPr>
              <a:t>EXAMPLE · THE AGENT CASE</a:t>
            </a:r>
          </a:p>
        </p:txBody>
      </p:sp>
      <p:sp>
        <p:nvSpPr>
          <p:cNvPr id="3" name="TextBox 2"/>
          <p:cNvSpPr txBox="1"/>
          <p:nvPr/>
        </p:nvSpPr>
        <p:spPr>
          <a:xfrm>
            <a:off x="566928" y="758952"/>
            <a:ext cx="11064240" cy="820000"/>
          </a:xfrm>
          <a:prstGeom prst="rect">
            <a:avLst/>
          </a:prstGeom>
          <a:noFill/>
        </p:spPr>
        <p:txBody>
          <a:bodyPr wrap="square" lIns="0" tIns="0" rIns="0" bIns="0" anchor="t">
            <a:spAutoFit/>
          </a:bodyPr>
          <a:lstStyle/>
          <a:p>
            <a:pPr algn="l"/>
            <a:r>
              <a:rPr sz="3000" b="1">
                <a:solidFill>
                  <a:srgbClr val="172C43"/>
                </a:solidFill>
                <a:latin typeface="Arial"/>
              </a:rPr>
              <a:t>Why self-host agents and automation</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r>
              <a:rPr sz="1500" b="0">
                <a:solidFill>
                  <a:srgbClr val="53677C"/>
                </a:solidFill>
                <a:latin typeface="Arial"/>
              </a:rPr>
              <a:t>Agent workloads sharpen the same reasons this project targets operator-controlled infrastructure.</a:t>
            </a:r>
          </a:p>
        </p:txBody>
      </p:sp>
      <p:sp>
        <p:nvSpPr>
          <p:cNvPr id="5" name="Rectangle 4"/>
          <p:cNvSpPr/>
          <p:nvPr/>
        </p:nvSpPr>
        <p:spPr>
          <a:xfrm>
            <a:off x="576072" y="6446520"/>
            <a:ext cx="11018520" cy="10972"/>
          </a:xfrm>
          <a:prstGeom prst="rect">
            <a:avLst/>
          </a:prstGeom>
          <a:solidFill>
            <a:srgbClr val="D6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r>
              <a:rPr sz="800" b="0" spc="12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r>
              <a:rPr sz="1200" b="1">
                <a:solidFill>
                  <a:srgbClr val="53677C"/>
                </a:solidFill>
                <a:latin typeface="Arial"/>
              </a:rPr>
              <a:t>17</a:t>
            </a:r>
          </a:p>
        </p:txBody>
      </p:sp>
      <p:sp>
        <p:nvSpPr>
          <p:cNvPr id="8" name="Rounded Rectangle 7"/>
          <p:cNvSpPr/>
          <p:nvPr/>
        </p:nvSpPr>
        <p:spPr>
          <a:xfrm>
            <a:off x="594360" y="2340000"/>
            <a:ext cx="5400000" cy="184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340000"/>
            <a:ext cx="50292" cy="184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4360" y="2480000"/>
            <a:ext cx="5060000" cy="400000"/>
          </a:xfrm>
          <a:prstGeom prst="rect">
            <a:avLst/>
          </a:prstGeom>
          <a:noFill/>
        </p:spPr>
        <p:txBody>
          <a:bodyPr wrap="square" lIns="0" tIns="0" rIns="0" bIns="0" anchor="t">
            <a:spAutoFit/>
          </a:bodyPr>
          <a:lstStyle/>
          <a:p>
            <a:pPr algn="l"/>
            <a:r>
              <a:rPr sz="1500" b="1">
                <a:solidFill>
                  <a:srgbClr val="172C43"/>
                </a:solidFill>
                <a:latin typeface="Arial"/>
              </a:rPr>
              <a:t>Data stays in-house</a:t>
            </a:r>
          </a:p>
        </p:txBody>
      </p:sp>
      <p:sp>
        <p:nvSpPr>
          <p:cNvPr id="11" name="TextBox 10"/>
          <p:cNvSpPr txBox="1"/>
          <p:nvPr/>
        </p:nvSpPr>
        <p:spPr>
          <a:xfrm>
            <a:off x="794360" y="2880000"/>
            <a:ext cx="5060000" cy="1260000"/>
          </a:xfrm>
          <a:prstGeom prst="rect">
            <a:avLst/>
          </a:prstGeom>
          <a:noFill/>
        </p:spPr>
        <p:txBody>
          <a:bodyPr wrap="square" lIns="0" tIns="0" rIns="0" bIns="0" anchor="t">
            <a:spAutoFit/>
          </a:bodyPr>
          <a:lstStyle/>
          <a:p>
            <a:pPr algn="l"/>
            <a:r>
              <a:rPr sz="1100" b="0">
                <a:solidFill>
                  <a:srgbClr val="53677C"/>
                </a:solidFill>
                <a:latin typeface="Arial"/>
              </a:rPr>
              <a:t>Prompts, documents and tool inputs often contain sensitive or regulated data; keeping the agent on a controlled cluster avoids sending them to an external platform.</a:t>
            </a:r>
          </a:p>
        </p:txBody>
      </p:sp>
      <p:sp>
        <p:nvSpPr>
          <p:cNvPr id="12" name="Rounded Rectangle 11"/>
          <p:cNvSpPr/>
          <p:nvPr/>
        </p:nvSpPr>
        <p:spPr>
          <a:xfrm>
            <a:off x="6190488" y="2340000"/>
            <a:ext cx="5400000" cy="184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0488" y="2340000"/>
            <a:ext cx="50292" cy="184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90488" y="2480000"/>
            <a:ext cx="5060000" cy="400000"/>
          </a:xfrm>
          <a:prstGeom prst="rect">
            <a:avLst/>
          </a:prstGeom>
          <a:noFill/>
        </p:spPr>
        <p:txBody>
          <a:bodyPr wrap="square" lIns="0" tIns="0" rIns="0" bIns="0" anchor="t">
            <a:spAutoFit/>
          </a:bodyPr>
          <a:lstStyle/>
          <a:p>
            <a:pPr algn="l"/>
            <a:r>
              <a:rPr sz="1500" b="1">
                <a:solidFill>
                  <a:srgbClr val="172C43"/>
                </a:solidFill>
                <a:latin typeface="Arial"/>
              </a:rPr>
              <a:t>Predictable cost</a:t>
            </a:r>
          </a:p>
        </p:txBody>
      </p:sp>
      <p:sp>
        <p:nvSpPr>
          <p:cNvPr id="15" name="TextBox 14"/>
          <p:cNvSpPr txBox="1"/>
          <p:nvPr/>
        </p:nvSpPr>
        <p:spPr>
          <a:xfrm>
            <a:off x="6390488" y="2880000"/>
            <a:ext cx="5060000" cy="1260000"/>
          </a:xfrm>
          <a:prstGeom prst="rect">
            <a:avLst/>
          </a:prstGeom>
          <a:noFill/>
        </p:spPr>
        <p:txBody>
          <a:bodyPr wrap="square" lIns="0" tIns="0" rIns="0" bIns="0" anchor="t">
            <a:spAutoFit/>
          </a:bodyPr>
          <a:lstStyle/>
          <a:p>
            <a:pPr algn="l"/>
            <a:r>
              <a:rPr sz="1100" b="0">
                <a:solidFill>
                  <a:srgbClr val="53677C"/>
                </a:solidFill>
                <a:latin typeface="Arial"/>
              </a:rPr>
              <a:t>An always-on automation agent is a steady, small workload — a fixed-cost Pi or VPS suits it better than per-request or per-service cloud pricing.</a:t>
            </a:r>
          </a:p>
        </p:txBody>
      </p:sp>
      <p:sp>
        <p:nvSpPr>
          <p:cNvPr id="16" name="Rounded Rectangle 15"/>
          <p:cNvSpPr/>
          <p:nvPr/>
        </p:nvSpPr>
        <p:spPr>
          <a:xfrm>
            <a:off x="594360" y="4330000"/>
            <a:ext cx="5400000" cy="184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4330000"/>
            <a:ext cx="50292" cy="1840000"/>
          </a:xfrm>
          <a:prstGeom prst="rect">
            <a:avLst/>
          </a:prstGeom>
          <a:solidFill>
            <a:srgbClr val="08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4360" y="4470000"/>
            <a:ext cx="5060000" cy="400000"/>
          </a:xfrm>
          <a:prstGeom prst="rect">
            <a:avLst/>
          </a:prstGeom>
          <a:noFill/>
        </p:spPr>
        <p:txBody>
          <a:bodyPr wrap="square" lIns="0" tIns="0" rIns="0" bIns="0" anchor="t">
            <a:spAutoFit/>
          </a:bodyPr>
          <a:lstStyle/>
          <a:p>
            <a:pPr algn="l"/>
            <a:r>
              <a:rPr sz="1500" b="1">
                <a:solidFill>
                  <a:srgbClr val="172C43"/>
                </a:solidFill>
                <a:latin typeface="Arial"/>
              </a:rPr>
              <a:t>Portable &amp; composable</a:t>
            </a:r>
          </a:p>
        </p:txBody>
      </p:sp>
      <p:sp>
        <p:nvSpPr>
          <p:cNvPr id="19" name="TextBox 18"/>
          <p:cNvSpPr txBox="1"/>
          <p:nvPr/>
        </p:nvSpPr>
        <p:spPr>
          <a:xfrm>
            <a:off x="794360" y="4870000"/>
            <a:ext cx="5060000" cy="1260000"/>
          </a:xfrm>
          <a:prstGeom prst="rect">
            <a:avLst/>
          </a:prstGeom>
          <a:noFill/>
        </p:spPr>
        <p:txBody>
          <a:bodyPr wrap="square" lIns="0" tIns="0" rIns="0" bIns="0" anchor="t">
            <a:spAutoFit/>
          </a:bodyPr>
          <a:lstStyle/>
          <a:p>
            <a:pPr algn="l"/>
            <a:r>
              <a:rPr sz="1100" b="0">
                <a:solidFill>
                  <a:srgbClr val="53677C"/>
                </a:solidFill>
                <a:latin typeface="Arial"/>
              </a:rPr>
              <a:t>Agent, vector store and a small web UI deploy as separate connected applications in the same cluster, movable between a Pi, a VPS and institutional hardware.</a:t>
            </a:r>
          </a:p>
        </p:txBody>
      </p:sp>
      <p:sp>
        <p:nvSpPr>
          <p:cNvPr id="20" name="Rounded Rectangle 19"/>
          <p:cNvSpPr/>
          <p:nvPr/>
        </p:nvSpPr>
        <p:spPr>
          <a:xfrm>
            <a:off x="6190488" y="4330000"/>
            <a:ext cx="5400000" cy="184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90488" y="4330000"/>
            <a:ext cx="50292" cy="1840000"/>
          </a:xfrm>
          <a:prstGeom prst="rect">
            <a:avLst/>
          </a:prstGeom>
          <a:solidFill>
            <a:srgbClr val="5367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90488" y="4470000"/>
            <a:ext cx="5060000" cy="400000"/>
          </a:xfrm>
          <a:prstGeom prst="rect">
            <a:avLst/>
          </a:prstGeom>
          <a:noFill/>
        </p:spPr>
        <p:txBody>
          <a:bodyPr wrap="square" lIns="0" tIns="0" rIns="0" bIns="0" anchor="t">
            <a:spAutoFit/>
          </a:bodyPr>
          <a:lstStyle/>
          <a:p>
            <a:pPr algn="l"/>
            <a:r>
              <a:rPr sz="1500" b="1">
                <a:solidFill>
                  <a:srgbClr val="172C43"/>
                </a:solidFill>
                <a:latin typeface="Arial"/>
              </a:rPr>
              <a:t>Honest boundary</a:t>
            </a:r>
          </a:p>
        </p:txBody>
      </p:sp>
      <p:sp>
        <p:nvSpPr>
          <p:cNvPr id="23" name="TextBox 22"/>
          <p:cNvSpPr txBox="1"/>
          <p:nvPr/>
        </p:nvSpPr>
        <p:spPr>
          <a:xfrm>
            <a:off x="6390488" y="4870000"/>
            <a:ext cx="5060000" cy="1260000"/>
          </a:xfrm>
          <a:prstGeom prst="rect">
            <a:avLst/>
          </a:prstGeom>
          <a:noFill/>
        </p:spPr>
        <p:txBody>
          <a:bodyPr wrap="square" lIns="0" tIns="0" rIns="0" bIns="0" anchor="t">
            <a:spAutoFit/>
          </a:bodyPr>
          <a:lstStyle/>
          <a:p>
            <a:pPr algn="l"/>
            <a:r>
              <a:rPr sz="1100" b="0">
                <a:solidFill>
                  <a:srgbClr val="53677C"/>
                </a:solidFill>
                <a:latin typeface="Arial"/>
              </a:rPr>
              <a:t>Local GPU model serving needs more capable hardware than the reference Pi; the platform targets agent and tooling services that run as ordinary HTTP containers.</a:t>
            </a:r>
          </a:p>
        </p:txBody>
      </p:sp>
      <p:sp>
        <p:nvSpPr>
          <p:cNvPr id="24" name="TextBox 23"/>
          <p:cNvSpPr txBox="1"/>
          <p:nvPr/>
        </p:nvSpPr>
        <p:spPr>
          <a:xfrm>
            <a:off x="594360" y="6210000"/>
            <a:ext cx="10991088" cy="200000"/>
          </a:xfrm>
          <a:prstGeom prst="rect">
            <a:avLst/>
          </a:prstGeom>
          <a:noFill/>
        </p:spPr>
        <p:txBody>
          <a:bodyPr wrap="square" lIns="0" tIns="0" rIns="0" bIns="0" anchor="t">
            <a:spAutoFit/>
          </a:bodyPr>
          <a:lstStyle/>
          <a:p>
            <a:pPr algn="l"/>
            <a:r>
              <a:rPr sz="1100" b="0">
                <a:solidFill>
                  <a:srgbClr val="53677C"/>
                </a:solidFill>
                <a:latin typeface="Arial"/>
              </a:rPr>
              <a:t>This connects the examples back to the project's thesis: a managed lifecycle for controlled, measurable self-hosting.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91088" cy="201168"/>
          </a:xfrm>
          <a:prstGeom prst="rect">
            <a:avLst/>
          </a:prstGeom>
          <a:noFill/>
        </p:spPr>
        <p:txBody>
          <a:bodyPr wrap="square" lIns="0" tIns="0" rIns="0" bIns="0" anchor="t">
            <a:spAutoFit/>
          </a:bodyPr>
          <a:lstStyle/>
          <a:p>
            <a:pPr algn="l"/>
            <a:r>
              <a:rPr sz="1300" b="1" spc="180">
                <a:solidFill>
                  <a:srgbClr val="087F8C"/>
                </a:solidFill>
                <a:latin typeface="Arial"/>
              </a:rPr>
              <a:t>SCOPE &amp; LIMITATIONS</a:t>
            </a:r>
          </a:p>
        </p:txBody>
      </p:sp>
      <p:sp>
        <p:nvSpPr>
          <p:cNvPr id="3" name="TextBox 2"/>
          <p:cNvSpPr txBox="1"/>
          <p:nvPr/>
        </p:nvSpPr>
        <p:spPr>
          <a:xfrm>
            <a:off x="566928" y="758952"/>
            <a:ext cx="11064240" cy="820000"/>
          </a:xfrm>
          <a:prstGeom prst="rect">
            <a:avLst/>
          </a:prstGeom>
          <a:noFill/>
        </p:spPr>
        <p:txBody>
          <a:bodyPr wrap="square" lIns="0" tIns="0" rIns="0" bIns="0" anchor="t">
            <a:spAutoFit/>
          </a:bodyPr>
          <a:lstStyle/>
          <a:p>
            <a:pPr algn="l"/>
            <a:r>
              <a:rPr sz="3000" b="1">
                <a:solidFill>
                  <a:srgbClr val="172C43"/>
                </a:solidFill>
                <a:latin typeface="Arial"/>
              </a:rPr>
              <a:t>What the prototype deliberately does not claim</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r>
              <a:rPr sz="1500" b="0">
                <a:solidFill>
                  <a:srgbClr val="53677C"/>
                </a:solidFill>
                <a:latin typeface="Arial"/>
              </a:rPr>
              <a:t>Stating the boundaries honestly is part of the contribution and frames the evaluation.</a:t>
            </a:r>
          </a:p>
        </p:txBody>
      </p:sp>
      <p:sp>
        <p:nvSpPr>
          <p:cNvPr id="5" name="Rectangle 4"/>
          <p:cNvSpPr/>
          <p:nvPr/>
        </p:nvSpPr>
        <p:spPr>
          <a:xfrm>
            <a:off x="576072" y="6446520"/>
            <a:ext cx="11018520" cy="10972"/>
          </a:xfrm>
          <a:prstGeom prst="rect">
            <a:avLst/>
          </a:prstGeom>
          <a:solidFill>
            <a:srgbClr val="D6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r>
              <a:rPr sz="800" b="0" spc="12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r>
              <a:rPr sz="1200" b="1">
                <a:solidFill>
                  <a:srgbClr val="53677C"/>
                </a:solidFill>
                <a:latin typeface="Arial"/>
              </a:rPr>
              <a:t>18</a:t>
            </a:r>
          </a:p>
        </p:txBody>
      </p:sp>
      <p:sp>
        <p:nvSpPr>
          <p:cNvPr id="8" name="Rounded Rectangle 7"/>
          <p:cNvSpPr/>
          <p:nvPr/>
        </p:nvSpPr>
        <p:spPr>
          <a:xfrm>
            <a:off x="594360" y="2340000"/>
            <a:ext cx="5400000" cy="1840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340000"/>
            <a:ext cx="50292" cy="1840000"/>
          </a:xfrm>
          <a:prstGeom prst="rect">
            <a:avLst/>
          </a:prstGeom>
          <a:solidFill>
            <a:srgbClr val="5367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360" y="2490000"/>
            <a:ext cx="5040000" cy="430000"/>
          </a:xfrm>
          <a:prstGeom prst="rect">
            <a:avLst/>
          </a:prstGeom>
          <a:noFill/>
        </p:spPr>
        <p:txBody>
          <a:bodyPr wrap="square" lIns="0" tIns="0" rIns="0" bIns="0" anchor="t">
            <a:spAutoFit/>
          </a:bodyPr>
          <a:lstStyle/>
          <a:p>
            <a:pPr algn="l"/>
            <a:r>
              <a:rPr sz="1600" b="1">
                <a:solidFill>
                  <a:srgbClr val="172C43"/>
                </a:solidFill>
                <a:latin typeface="Arial"/>
              </a:rPr>
              <a:t>Not highly available</a:t>
            </a:r>
          </a:p>
        </p:txBody>
      </p:sp>
      <p:sp>
        <p:nvSpPr>
          <p:cNvPr id="11" name="TextBox 10"/>
          <p:cNvSpPr txBox="1"/>
          <p:nvPr/>
        </p:nvSpPr>
        <p:spPr>
          <a:xfrm>
            <a:off x="804360" y="2920000"/>
            <a:ext cx="5040000" cy="1220000"/>
          </a:xfrm>
          <a:prstGeom prst="rect">
            <a:avLst/>
          </a:prstGeom>
          <a:noFill/>
        </p:spPr>
        <p:txBody>
          <a:bodyPr wrap="square" lIns="0" tIns="0" rIns="0" bIns="0" anchor="t">
            <a:spAutoFit/>
          </a:bodyPr>
          <a:lstStyle/>
          <a:p>
            <a:pPr algn="l"/>
            <a:r>
              <a:rPr sz="1100" b="0">
                <a:solidFill>
                  <a:srgbClr val="53677C"/>
                </a:solidFill>
                <a:latin typeface="Arial"/>
              </a:rPr>
              <a:t>A single host runs the control plane and the workloads. Host or storage failure affects the whole installation; replicas on one node are not fault tolerance.</a:t>
            </a:r>
          </a:p>
        </p:txBody>
      </p:sp>
      <p:sp>
        <p:nvSpPr>
          <p:cNvPr id="12" name="Rounded Rectangle 11"/>
          <p:cNvSpPr/>
          <p:nvPr/>
        </p:nvSpPr>
        <p:spPr>
          <a:xfrm>
            <a:off x="6190488" y="2340000"/>
            <a:ext cx="5400000" cy="1840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0488" y="2340000"/>
            <a:ext cx="50292" cy="1840000"/>
          </a:xfrm>
          <a:prstGeom prst="rect">
            <a:avLst/>
          </a:prstGeom>
          <a:solidFill>
            <a:srgbClr val="5367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488" y="2490000"/>
            <a:ext cx="5040000" cy="430000"/>
          </a:xfrm>
          <a:prstGeom prst="rect">
            <a:avLst/>
          </a:prstGeom>
          <a:noFill/>
        </p:spPr>
        <p:txBody>
          <a:bodyPr wrap="square" lIns="0" tIns="0" rIns="0" bIns="0" anchor="t">
            <a:spAutoFit/>
          </a:bodyPr>
          <a:lstStyle/>
          <a:p>
            <a:pPr algn="l"/>
            <a:r>
              <a:rPr sz="1600" b="1">
                <a:solidFill>
                  <a:srgbClr val="172C43"/>
                </a:solidFill>
                <a:latin typeface="Arial"/>
              </a:rPr>
              <a:t>Not multi-tenant</a:t>
            </a:r>
          </a:p>
        </p:txBody>
      </p:sp>
      <p:sp>
        <p:nvSpPr>
          <p:cNvPr id="15" name="TextBox 14"/>
          <p:cNvSpPr txBox="1"/>
          <p:nvPr/>
        </p:nvSpPr>
        <p:spPr>
          <a:xfrm>
            <a:off x="6400488" y="2920000"/>
            <a:ext cx="5040000" cy="1220000"/>
          </a:xfrm>
          <a:prstGeom prst="rect">
            <a:avLst/>
          </a:prstGeom>
          <a:noFill/>
        </p:spPr>
        <p:txBody>
          <a:bodyPr wrap="square" lIns="0" tIns="0" rIns="0" bIns="0" anchor="t">
            <a:spAutoFit/>
          </a:bodyPr>
          <a:lstStyle/>
          <a:p>
            <a:pPr algn="l"/>
            <a:r>
              <a:rPr sz="1100" b="0">
                <a:solidFill>
                  <a:srgbClr val="53677C"/>
                </a:solidFill>
                <a:latin typeface="Arial"/>
              </a:rPr>
              <a:t>One trusted administrator. The first release is not a security boundary for hostile tenants or untrusted code.</a:t>
            </a:r>
          </a:p>
        </p:txBody>
      </p:sp>
      <p:sp>
        <p:nvSpPr>
          <p:cNvPr id="16" name="Rounded Rectangle 15"/>
          <p:cNvSpPr/>
          <p:nvPr/>
        </p:nvSpPr>
        <p:spPr>
          <a:xfrm>
            <a:off x="594360" y="4330000"/>
            <a:ext cx="5400000" cy="1840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4330000"/>
            <a:ext cx="50292" cy="1840000"/>
          </a:xfrm>
          <a:prstGeom prst="rect">
            <a:avLst/>
          </a:prstGeom>
          <a:solidFill>
            <a:srgbClr val="5367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360" y="4480000"/>
            <a:ext cx="5040000" cy="430000"/>
          </a:xfrm>
          <a:prstGeom prst="rect">
            <a:avLst/>
          </a:prstGeom>
          <a:noFill/>
        </p:spPr>
        <p:txBody>
          <a:bodyPr wrap="square" lIns="0" tIns="0" rIns="0" bIns="0" anchor="t">
            <a:spAutoFit/>
          </a:bodyPr>
          <a:lstStyle/>
          <a:p>
            <a:pPr algn="l"/>
            <a:r>
              <a:rPr sz="1600" b="1">
                <a:solidFill>
                  <a:srgbClr val="172C43"/>
                </a:solidFill>
                <a:latin typeface="Arial"/>
              </a:rPr>
              <a:t>Not a build service</a:t>
            </a:r>
          </a:p>
        </p:txBody>
      </p:sp>
      <p:sp>
        <p:nvSpPr>
          <p:cNvPr id="19" name="TextBox 18"/>
          <p:cNvSpPr txBox="1"/>
          <p:nvPr/>
        </p:nvSpPr>
        <p:spPr>
          <a:xfrm>
            <a:off x="804360" y="4910000"/>
            <a:ext cx="5040000" cy="1220000"/>
          </a:xfrm>
          <a:prstGeom prst="rect">
            <a:avLst/>
          </a:prstGeom>
          <a:noFill/>
        </p:spPr>
        <p:txBody>
          <a:bodyPr wrap="square" lIns="0" tIns="0" rIns="0" bIns="0" anchor="t">
            <a:spAutoFit/>
          </a:bodyPr>
          <a:lstStyle/>
          <a:p>
            <a:pPr algn="l"/>
            <a:r>
              <a:rPr sz="1100" b="0">
                <a:solidFill>
                  <a:srgbClr val="53677C"/>
                </a:solidFill>
                <a:latin typeface="Arial"/>
              </a:rPr>
              <a:t>Applications start from existing container images; building from source and importing Compose are out of scope for the first version.</a:t>
            </a:r>
          </a:p>
        </p:txBody>
      </p:sp>
      <p:sp>
        <p:nvSpPr>
          <p:cNvPr id="20" name="Rounded Rectangle 19"/>
          <p:cNvSpPr/>
          <p:nvPr/>
        </p:nvSpPr>
        <p:spPr>
          <a:xfrm>
            <a:off x="6190488" y="4330000"/>
            <a:ext cx="5400000" cy="1840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90488" y="4330000"/>
            <a:ext cx="50292" cy="1840000"/>
          </a:xfrm>
          <a:prstGeom prst="rect">
            <a:avLst/>
          </a:prstGeom>
          <a:solidFill>
            <a:srgbClr val="5367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488" y="4480000"/>
            <a:ext cx="5040000" cy="430000"/>
          </a:xfrm>
          <a:prstGeom prst="rect">
            <a:avLst/>
          </a:prstGeom>
          <a:noFill/>
        </p:spPr>
        <p:txBody>
          <a:bodyPr wrap="square" lIns="0" tIns="0" rIns="0" bIns="0" anchor="t">
            <a:spAutoFit/>
          </a:bodyPr>
          <a:lstStyle/>
          <a:p>
            <a:pPr algn="l"/>
            <a:r>
              <a:rPr sz="1600" b="1">
                <a:solidFill>
                  <a:srgbClr val="172C43"/>
                </a:solidFill>
                <a:latin typeface="Arial"/>
              </a:rPr>
              <a:t>Not a managed cloud</a:t>
            </a:r>
          </a:p>
        </p:txBody>
      </p:sp>
      <p:sp>
        <p:nvSpPr>
          <p:cNvPr id="23" name="TextBox 22"/>
          <p:cNvSpPr txBox="1"/>
          <p:nvPr/>
        </p:nvSpPr>
        <p:spPr>
          <a:xfrm>
            <a:off x="6400488" y="4910000"/>
            <a:ext cx="5040000" cy="1220000"/>
          </a:xfrm>
          <a:prstGeom prst="rect">
            <a:avLst/>
          </a:prstGeom>
          <a:noFill/>
        </p:spPr>
        <p:txBody>
          <a:bodyPr wrap="square" lIns="0" tIns="0" rIns="0" bIns="0" anchor="t">
            <a:spAutoFit/>
          </a:bodyPr>
          <a:lstStyle/>
          <a:p>
            <a:pPr algn="l"/>
            <a:r>
              <a:rPr sz="1100" b="0">
                <a:solidFill>
                  <a:srgbClr val="53677C"/>
                </a:solidFill>
                <a:latin typeface="Arial"/>
              </a:rPr>
              <a:t>No automatic node autoscaling, distributed storage or provider-operated control plane; OS and K3s maintenance remain the administrator's responsibility.</a:t>
            </a:r>
          </a:p>
        </p:txBody>
      </p:sp>
      <p:sp>
        <p:nvSpPr>
          <p:cNvPr id="24" name="TextBox 23"/>
          <p:cNvSpPr txBox="1"/>
          <p:nvPr/>
        </p:nvSpPr>
        <p:spPr>
          <a:xfrm>
            <a:off x="594360" y="6210000"/>
            <a:ext cx="10991088" cy="200000"/>
          </a:xfrm>
          <a:prstGeom prst="rect">
            <a:avLst/>
          </a:prstGeom>
          <a:noFill/>
        </p:spPr>
        <p:txBody>
          <a:bodyPr wrap="square" lIns="0" tIns="0" rIns="0" bIns="0" anchor="t">
            <a:spAutoFit/>
          </a:bodyPr>
          <a:lstStyle/>
          <a:p>
            <a:pPr algn="l"/>
            <a:r>
              <a:rPr sz="1100" b="0">
                <a:solidFill>
                  <a:srgbClr val="53677C"/>
                </a:solidFill>
                <a:latin typeface="Arial"/>
              </a:rPr>
              <a:t>These boundaries match the target users and keep the design implementable and measurable within the thesis.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438"/>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67D4D1"/>
                </a:solidFill>
                <a:latin typeface="Arial"/>
              </a:rPr>
              <a:t>PROJECT GOAL</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FFFFFF"/>
                </a:solidFill>
                <a:latin typeface="Arial"/>
              </a:rPr>
              <a:t>Simpler deployment with retained infrastructure control</a:t>
            </a:r>
          </a:p>
        </p:txBody>
      </p:sp>
      <p:sp>
        <p:nvSpPr>
          <p:cNvPr id="4" name="Rectangle 3"/>
          <p:cNvSpPr/>
          <p:nvPr/>
        </p:nvSpPr>
        <p:spPr>
          <a:xfrm>
            <a:off x="576072" y="6446520"/>
            <a:ext cx="11018520" cy="10972"/>
          </a:xfrm>
          <a:prstGeom prst="rect">
            <a:avLst/>
          </a:prstGeom>
          <a:solidFill>
            <a:srgbClr val="3A4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B9C9D9"/>
                </a:solidFill>
                <a:latin typeface="Arial"/>
              </a:rPr>
              <a:t>SELF-HOSTED KUBERNETES APPLICATION PLATFORM</a:t>
            </a:r>
          </a:p>
        </p:txBody>
      </p:sp>
      <p:sp>
        <p:nvSpPr>
          <p:cNvPr id="6" name="TextBox 5"/>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FFFFFF"/>
                </a:solidFill>
                <a:latin typeface="Arial"/>
              </a:rPr>
              <a:t>19</a:t>
            </a:r>
          </a:p>
        </p:txBody>
      </p:sp>
      <p:sp>
        <p:nvSpPr>
          <p:cNvPr id="7" name="TextBox 6"/>
          <p:cNvSpPr txBox="1"/>
          <p:nvPr/>
        </p:nvSpPr>
        <p:spPr>
          <a:xfrm>
            <a:off x="731520" y="2258568"/>
            <a:ext cx="548640" cy="365760"/>
          </a:xfrm>
          <a:prstGeom prst="rect">
            <a:avLst/>
          </a:prstGeom>
          <a:noFill/>
        </p:spPr>
        <p:txBody>
          <a:bodyPr wrap="square" lIns="0" tIns="0" rIns="0" bIns="0" anchor="t">
            <a:spAutoFit/>
          </a:bodyPr>
          <a:lstStyle/>
          <a:p>
            <a:pPr algn="l">
              <a:lnSpc>
                <a:spcPct val="108000"/>
              </a:lnSpc>
              <a:spcBef>
                <a:spcPts val="0"/>
              </a:spcBef>
              <a:spcAft>
                <a:spcPts val="500"/>
              </a:spcAft>
            </a:pPr>
            <a:r>
              <a:rPr sz="2400" b="1">
                <a:solidFill>
                  <a:srgbClr val="67D4D1"/>
                </a:solidFill>
                <a:latin typeface="Arial"/>
              </a:rPr>
              <a:t>01</a:t>
            </a:r>
          </a:p>
        </p:txBody>
      </p:sp>
      <p:sp>
        <p:nvSpPr>
          <p:cNvPr id="8" name="TextBox 7"/>
          <p:cNvSpPr txBox="1"/>
          <p:nvPr/>
        </p:nvSpPr>
        <p:spPr>
          <a:xfrm>
            <a:off x="1508760" y="2258568"/>
            <a:ext cx="9966960" cy="36576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FFFFFF"/>
                </a:solidFill>
                <a:latin typeface="Arial"/>
              </a:rPr>
              <a:t>A clear application workflow</a:t>
            </a:r>
          </a:p>
        </p:txBody>
      </p:sp>
      <p:sp>
        <p:nvSpPr>
          <p:cNvPr id="9" name="TextBox 8"/>
          <p:cNvSpPr txBox="1"/>
          <p:nvPr/>
        </p:nvSpPr>
        <p:spPr>
          <a:xfrm>
            <a:off x="1508760" y="2734056"/>
            <a:ext cx="9966960" cy="393192"/>
          </a:xfrm>
          <a:prstGeom prst="rect">
            <a:avLst/>
          </a:prstGeom>
          <a:noFill/>
        </p:spPr>
        <p:txBody>
          <a:bodyPr wrap="square" lIns="0" tIns="0" rIns="0" bIns="0" anchor="t">
            <a:spAutoFit/>
          </a:bodyPr>
          <a:lstStyle/>
          <a:p>
            <a:pPr algn="l">
              <a:lnSpc>
                <a:spcPct val="108000"/>
              </a:lnSpc>
              <a:spcBef>
                <a:spcPts val="0"/>
              </a:spcBef>
              <a:spcAft>
                <a:spcPts val="500"/>
              </a:spcAft>
            </a:pPr>
            <a:r>
              <a:rPr sz="1900" b="0">
                <a:solidFill>
                  <a:srgbClr val="B9C9D9"/>
                </a:solidFill>
                <a:latin typeface="Arial"/>
              </a:rPr>
              <a:t>From an image reference to deployment, updates and recovery.</a:t>
            </a:r>
          </a:p>
        </p:txBody>
      </p:sp>
      <p:sp>
        <p:nvSpPr>
          <p:cNvPr id="10" name="TextBox 9"/>
          <p:cNvSpPr txBox="1"/>
          <p:nvPr/>
        </p:nvSpPr>
        <p:spPr>
          <a:xfrm>
            <a:off x="731520" y="3282696"/>
            <a:ext cx="548640" cy="365760"/>
          </a:xfrm>
          <a:prstGeom prst="rect">
            <a:avLst/>
          </a:prstGeom>
          <a:noFill/>
        </p:spPr>
        <p:txBody>
          <a:bodyPr wrap="square" lIns="0" tIns="0" rIns="0" bIns="0" anchor="t">
            <a:spAutoFit/>
          </a:bodyPr>
          <a:lstStyle/>
          <a:p>
            <a:pPr algn="l">
              <a:lnSpc>
                <a:spcPct val="108000"/>
              </a:lnSpc>
              <a:spcBef>
                <a:spcPts val="0"/>
              </a:spcBef>
              <a:spcAft>
                <a:spcPts val="500"/>
              </a:spcAft>
            </a:pPr>
            <a:r>
              <a:rPr sz="2400" b="1">
                <a:solidFill>
                  <a:srgbClr val="67D4D1"/>
                </a:solidFill>
                <a:latin typeface="Arial"/>
              </a:rPr>
              <a:t>02</a:t>
            </a:r>
          </a:p>
        </p:txBody>
      </p:sp>
      <p:sp>
        <p:nvSpPr>
          <p:cNvPr id="11" name="TextBox 10"/>
          <p:cNvSpPr txBox="1"/>
          <p:nvPr/>
        </p:nvSpPr>
        <p:spPr>
          <a:xfrm>
            <a:off x="1508760" y="3282696"/>
            <a:ext cx="9966960" cy="36576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FFFFFF"/>
                </a:solidFill>
                <a:latin typeface="Arial"/>
              </a:rPr>
              <a:t>A choice of operating environment</a:t>
            </a:r>
          </a:p>
        </p:txBody>
      </p:sp>
      <p:sp>
        <p:nvSpPr>
          <p:cNvPr id="12" name="TextBox 11"/>
          <p:cNvSpPr txBox="1"/>
          <p:nvPr/>
        </p:nvSpPr>
        <p:spPr>
          <a:xfrm>
            <a:off x="1508760" y="3758184"/>
            <a:ext cx="9966960" cy="393192"/>
          </a:xfrm>
          <a:prstGeom prst="rect">
            <a:avLst/>
          </a:prstGeom>
          <a:noFill/>
        </p:spPr>
        <p:txBody>
          <a:bodyPr wrap="square" lIns="0" tIns="0" rIns="0" bIns="0" anchor="t">
            <a:spAutoFit/>
          </a:bodyPr>
          <a:lstStyle/>
          <a:p>
            <a:pPr algn="l">
              <a:lnSpc>
                <a:spcPct val="108000"/>
              </a:lnSpc>
              <a:spcBef>
                <a:spcPts val="0"/>
              </a:spcBef>
              <a:spcAft>
                <a:spcPts val="500"/>
              </a:spcAft>
            </a:pPr>
            <a:r>
              <a:rPr sz="1900" b="0">
                <a:solidFill>
                  <a:srgbClr val="B9C9D9"/>
                </a:solidFill>
                <a:latin typeface="Arial"/>
              </a:rPr>
              <a:t>Private institutional infrastructure, a Raspberry Pi or a Linux VPS.</a:t>
            </a:r>
          </a:p>
        </p:txBody>
      </p:sp>
      <p:sp>
        <p:nvSpPr>
          <p:cNvPr id="13" name="TextBox 12"/>
          <p:cNvSpPr txBox="1"/>
          <p:nvPr/>
        </p:nvSpPr>
        <p:spPr>
          <a:xfrm>
            <a:off x="731520" y="4306824"/>
            <a:ext cx="548640" cy="365760"/>
          </a:xfrm>
          <a:prstGeom prst="rect">
            <a:avLst/>
          </a:prstGeom>
          <a:noFill/>
        </p:spPr>
        <p:txBody>
          <a:bodyPr wrap="square" lIns="0" tIns="0" rIns="0" bIns="0" anchor="t">
            <a:spAutoFit/>
          </a:bodyPr>
          <a:lstStyle/>
          <a:p>
            <a:pPr algn="l">
              <a:lnSpc>
                <a:spcPct val="108000"/>
              </a:lnSpc>
              <a:spcBef>
                <a:spcPts val="0"/>
              </a:spcBef>
              <a:spcAft>
                <a:spcPts val="500"/>
              </a:spcAft>
            </a:pPr>
            <a:r>
              <a:rPr sz="2400" b="1">
                <a:solidFill>
                  <a:srgbClr val="67D4D1"/>
                </a:solidFill>
                <a:latin typeface="Arial"/>
              </a:rPr>
              <a:t>03</a:t>
            </a:r>
          </a:p>
        </p:txBody>
      </p:sp>
      <p:sp>
        <p:nvSpPr>
          <p:cNvPr id="14" name="TextBox 13"/>
          <p:cNvSpPr txBox="1"/>
          <p:nvPr/>
        </p:nvSpPr>
        <p:spPr>
          <a:xfrm>
            <a:off x="1508760" y="4306824"/>
            <a:ext cx="9966960" cy="365760"/>
          </a:xfrm>
          <a:prstGeom prst="rect">
            <a:avLst/>
          </a:prstGeom>
          <a:noFill/>
        </p:spPr>
        <p:txBody>
          <a:bodyPr wrap="square" lIns="0" tIns="0" rIns="0" bIns="0" anchor="t">
            <a:spAutoFit/>
          </a:bodyPr>
          <a:lstStyle/>
          <a:p>
            <a:pPr algn="l">
              <a:lnSpc>
                <a:spcPct val="108000"/>
              </a:lnSpc>
              <a:spcBef>
                <a:spcPts val="0"/>
              </a:spcBef>
              <a:spcAft>
                <a:spcPts val="500"/>
              </a:spcAft>
            </a:pPr>
            <a:r>
              <a:rPr sz="2500" b="1">
                <a:solidFill>
                  <a:srgbClr val="FFFFFF"/>
                </a:solidFill>
                <a:latin typeface="Arial"/>
              </a:rPr>
              <a:t>Evidence for the chosen design</a:t>
            </a:r>
          </a:p>
        </p:txBody>
      </p:sp>
      <p:sp>
        <p:nvSpPr>
          <p:cNvPr id="15" name="TextBox 14"/>
          <p:cNvSpPr txBox="1"/>
          <p:nvPr/>
        </p:nvSpPr>
        <p:spPr>
          <a:xfrm>
            <a:off x="1508760" y="4782312"/>
            <a:ext cx="9966960" cy="393192"/>
          </a:xfrm>
          <a:prstGeom prst="rect">
            <a:avLst/>
          </a:prstGeom>
          <a:noFill/>
        </p:spPr>
        <p:txBody>
          <a:bodyPr wrap="square" lIns="0" tIns="0" rIns="0" bIns="0" anchor="t">
            <a:spAutoFit/>
          </a:bodyPr>
          <a:lstStyle/>
          <a:p>
            <a:pPr algn="l">
              <a:lnSpc>
                <a:spcPct val="108000"/>
              </a:lnSpc>
              <a:spcBef>
                <a:spcPts val="0"/>
              </a:spcBef>
              <a:spcAft>
                <a:spcPts val="500"/>
              </a:spcAft>
            </a:pPr>
            <a:r>
              <a:rPr sz="1900" b="0">
                <a:solidFill>
                  <a:srgbClr val="B9C9D9"/>
                </a:solidFill>
                <a:latin typeface="Arial"/>
              </a:rPr>
              <a:t>Measured behaviour, resource use and improvement over the baseline.</a:t>
            </a:r>
          </a:p>
        </p:txBody>
      </p:sp>
      <p:sp>
        <p:nvSpPr>
          <p:cNvPr id="16" name="TextBox 15"/>
          <p:cNvSpPr txBox="1"/>
          <p:nvPr/>
        </p:nvSpPr>
        <p:spPr>
          <a:xfrm>
            <a:off x="749808" y="5824728"/>
            <a:ext cx="10881360" cy="310896"/>
          </a:xfrm>
          <a:prstGeom prst="rect">
            <a:avLst/>
          </a:prstGeom>
          <a:noFill/>
        </p:spPr>
        <p:txBody>
          <a:bodyPr wrap="square" lIns="0" tIns="0" rIns="0" bIns="0" anchor="t">
            <a:spAutoFit/>
          </a:bodyPr>
          <a:lstStyle/>
          <a:p>
            <a:pPr algn="l">
              <a:lnSpc>
                <a:spcPct val="108000"/>
              </a:lnSpc>
              <a:spcBef>
                <a:spcPts val="0"/>
              </a:spcBef>
              <a:spcAft>
                <a:spcPts val="500"/>
              </a:spcAft>
            </a:pPr>
            <a:r>
              <a:rPr sz="1600" b="1">
                <a:solidFill>
                  <a:srgbClr val="67D4D1"/>
                </a:solidFill>
                <a:latin typeface="Arial"/>
              </a:rPr>
              <a:t>NEXT: automate the verified lifecycle through the Go broker and administrator UI.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789920" cy="201168"/>
          </a:xfrm>
          <a:prstGeom prst="rect">
            <a:avLst/>
          </a:prstGeom>
          <a:noFill/>
        </p:spPr>
        <p:txBody>
          <a:bodyPr wrap="square" lIns="0" tIns="0" rIns="0" bIns="0" anchor="t">
            <a:spAutoFit/>
          </a:bodyPr>
          <a:lstStyle/>
          <a:p>
            <a:pPr algn="l">
              <a:lnSpc>
                <a:spcPct val="108000"/>
              </a:lnSpc>
              <a:spcBef>
                <a:spcPts val="0"/>
              </a:spcBef>
              <a:spcAft>
                <a:spcPts val="500"/>
              </a:spcAft>
            </a:pPr>
            <a:r>
              <a:rPr sz="1050" b="1">
                <a:solidFill>
                  <a:srgbClr val="087F8C"/>
                </a:solidFill>
                <a:latin typeface="Arial"/>
              </a:rPr>
              <a:t>REFERENCES</a:t>
            </a:r>
          </a:p>
        </p:txBody>
      </p:sp>
      <p:sp>
        <p:nvSpPr>
          <p:cNvPr id="3" name="TextBox 2"/>
          <p:cNvSpPr txBox="1"/>
          <p:nvPr/>
        </p:nvSpPr>
        <p:spPr>
          <a:xfrm>
            <a:off x="566928" y="758952"/>
            <a:ext cx="11064240" cy="1005840"/>
          </a:xfrm>
          <a:prstGeom prst="rect">
            <a:avLst/>
          </a:prstGeom>
          <a:noFill/>
        </p:spPr>
        <p:txBody>
          <a:bodyPr wrap="square" lIns="0" tIns="0" rIns="0" bIns="0" anchor="t">
            <a:spAutoFit/>
          </a:bodyPr>
          <a:lstStyle/>
          <a:p>
            <a:pPr algn="l">
              <a:lnSpc>
                <a:spcPct val="108000"/>
              </a:lnSpc>
              <a:spcBef>
                <a:spcPts val="0"/>
              </a:spcBef>
              <a:spcAft>
                <a:spcPts val="500"/>
              </a:spcAft>
            </a:pPr>
            <a:r>
              <a:rPr sz="3100" b="1">
                <a:solidFill>
                  <a:srgbClr val="172C43"/>
                </a:solidFill>
                <a:latin typeface="Arial"/>
              </a:rPr>
              <a:t>Primary sources and selected research</a:t>
            </a:r>
          </a:p>
        </p:txBody>
      </p:sp>
      <p:sp>
        <p:nvSpPr>
          <p:cNvPr id="4" name="TextBox 3"/>
          <p:cNvSpPr txBox="1"/>
          <p:nvPr/>
        </p:nvSpPr>
        <p:spPr>
          <a:xfrm>
            <a:off x="594360" y="1636776"/>
            <a:ext cx="10972800" cy="548640"/>
          </a:xfrm>
          <a:prstGeom prst="rect">
            <a:avLst/>
          </a:prstGeom>
          <a:noFill/>
        </p:spPr>
        <p:txBody>
          <a:bodyPr wrap="square" lIns="0" tIns="0" rIns="0" bIns="0" anchor="t">
            <a:spAutoFit/>
          </a:bodyPr>
          <a:lstStyle/>
          <a:p>
            <a:pPr algn="l">
              <a:lnSpc>
                <a:spcPct val="108000"/>
              </a:lnSpc>
              <a:spcBef>
                <a:spcPts val="0"/>
              </a:spcBef>
              <a:spcAft>
                <a:spcPts val="500"/>
              </a:spcAft>
            </a:pPr>
            <a:r>
              <a:rPr sz="1600" b="0">
                <a:solidFill>
                  <a:srgbClr val="53677C"/>
                </a:solidFill>
                <a:latin typeface="Arial"/>
              </a:rPr>
              <a:t>Product documentation, peer-reviewed research and project evidence · accessed 27 October 2026</a:t>
            </a:r>
          </a:p>
        </p:txBody>
      </p:sp>
      <p:sp>
        <p:nvSpPr>
          <p:cNvPr id="5" name="Rectangle 4"/>
          <p:cNvSpPr/>
          <p:nvPr/>
        </p:nvSpPr>
        <p:spPr>
          <a:xfrm>
            <a:off x="576072" y="6446520"/>
            <a:ext cx="11018520" cy="10972"/>
          </a:xfrm>
          <a:prstGeom prst="rect">
            <a:avLst/>
          </a:prstGeom>
          <a:solidFill>
            <a:srgbClr val="D6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56248"/>
            <a:ext cx="8229600" cy="155448"/>
          </a:xfrm>
          <a:prstGeom prst="rect">
            <a:avLst/>
          </a:prstGeom>
          <a:noFill/>
        </p:spPr>
        <p:txBody>
          <a:bodyPr wrap="square" lIns="0" tIns="0" rIns="0" bIns="0" anchor="t">
            <a:spAutoFit/>
          </a:bodyPr>
          <a:lstStyle/>
          <a:p>
            <a:pPr algn="l">
              <a:lnSpc>
                <a:spcPct val="108000"/>
              </a:lnSpc>
              <a:spcBef>
                <a:spcPts val="0"/>
              </a:spcBef>
              <a:spcAft>
                <a:spcPts val="500"/>
              </a:spcAft>
            </a:pPr>
            <a:r>
              <a:rPr sz="850" b="0">
                <a:solidFill>
                  <a:srgbClr val="53677C"/>
                </a:solidFill>
                <a:latin typeface="Arial"/>
              </a:rPr>
              <a:t>SELF-HOSTED KUBERNETES APPLICATION PLATFORM</a:t>
            </a:r>
          </a:p>
        </p:txBody>
      </p:sp>
      <p:sp>
        <p:nvSpPr>
          <p:cNvPr id="7" name="TextBox 6"/>
          <p:cNvSpPr txBox="1"/>
          <p:nvPr/>
        </p:nvSpPr>
        <p:spPr>
          <a:xfrm>
            <a:off x="11064240" y="6510528"/>
            <a:ext cx="502920" cy="228600"/>
          </a:xfrm>
          <a:prstGeom prst="rect">
            <a:avLst/>
          </a:prstGeom>
          <a:noFill/>
        </p:spPr>
        <p:txBody>
          <a:bodyPr wrap="square" lIns="0" tIns="0" rIns="0" bIns="0" anchor="t">
            <a:spAutoFit/>
          </a:bodyPr>
          <a:lstStyle/>
          <a:p>
            <a:pPr algn="r">
              <a:lnSpc>
                <a:spcPct val="108000"/>
              </a:lnSpc>
              <a:spcBef>
                <a:spcPts val="0"/>
              </a:spcBef>
              <a:spcAft>
                <a:spcPts val="500"/>
              </a:spcAft>
            </a:pPr>
            <a:r>
              <a:rPr sz="1200" b="0">
                <a:solidFill>
                  <a:srgbClr val="53677C"/>
                </a:solidFill>
                <a:latin typeface="Arial"/>
              </a:rPr>
              <a:t>20</a:t>
            </a:r>
          </a:p>
        </p:txBody>
      </p:sp>
      <p:sp>
        <p:nvSpPr>
          <p:cNvPr id="8" name="TextBox 7"/>
          <p:cNvSpPr txBox="1"/>
          <p:nvPr/>
        </p:nvSpPr>
        <p:spPr>
          <a:xfrm>
            <a:off x="694944" y="2377440"/>
            <a:ext cx="5212080" cy="393192"/>
          </a:xfrm>
          <a:prstGeom prst="rect">
            <a:avLst/>
          </a:prstGeom>
          <a:noFill/>
        </p:spPr>
        <p:txBody>
          <a:bodyPr wrap="square" lIns="0" tIns="0" rIns="0" bIns="0" anchor="t">
            <a:spAutoFit/>
          </a:bodyPr>
          <a:lstStyle/>
          <a:p>
            <a:pPr algn="l">
              <a:lnSpc>
                <a:spcPct val="108000"/>
              </a:lnSpc>
              <a:spcBef>
                <a:spcPts val="0"/>
              </a:spcBef>
              <a:spcAft>
                <a:spcPts val="500"/>
              </a:spcAft>
            </a:pPr>
            <a:r>
              <a:rPr sz="1700" b="1">
                <a:solidFill>
                  <a:srgbClr val="172C43"/>
                </a:solidFill>
                <a:latin typeface="Arial"/>
                <a:hlinkClick r:id="rId3"/>
              </a:rPr>
              <a:t>[1] Kubernetes — Overview</a:t>
            </a:r>
          </a:p>
        </p:txBody>
      </p:sp>
      <p:sp>
        <p:nvSpPr>
          <p:cNvPr id="9" name="TextBox 8"/>
          <p:cNvSpPr txBox="1"/>
          <p:nvPr/>
        </p:nvSpPr>
        <p:spPr>
          <a:xfrm>
            <a:off x="694944" y="2770632"/>
            <a:ext cx="5138928" cy="393192"/>
          </a:xfrm>
          <a:prstGeom prst="rect">
            <a:avLst/>
          </a:prstGeom>
          <a:noFill/>
        </p:spPr>
        <p:txBody>
          <a:bodyPr wrap="square" lIns="0" tIns="0" rIns="0" bIns="0" anchor="t">
            <a:spAutoFit/>
          </a:bodyPr>
          <a:lstStyle/>
          <a:p>
            <a:pPr algn="l">
              <a:lnSpc>
                <a:spcPct val="108000"/>
              </a:lnSpc>
              <a:spcBef>
                <a:spcPts val="0"/>
              </a:spcBef>
              <a:spcAft>
                <a:spcPts val="500"/>
              </a:spcAft>
            </a:pPr>
            <a:r>
              <a:rPr sz="1050" b="0">
                <a:solidFill>
                  <a:srgbClr val="2457D6"/>
                </a:solidFill>
                <a:latin typeface="Arial"/>
                <a:hlinkClick r:id="rId3"/>
              </a:rPr>
              <a:t>https://kubernetes.io/docs/concepts/overview/</a:t>
            </a:r>
          </a:p>
        </p:txBody>
      </p:sp>
      <p:sp>
        <p:nvSpPr>
          <p:cNvPr id="10" name="TextBox 9"/>
          <p:cNvSpPr txBox="1"/>
          <p:nvPr/>
        </p:nvSpPr>
        <p:spPr>
          <a:xfrm>
            <a:off x="694944" y="3236976"/>
            <a:ext cx="5212080" cy="393192"/>
          </a:xfrm>
          <a:prstGeom prst="rect">
            <a:avLst/>
          </a:prstGeom>
          <a:noFill/>
        </p:spPr>
        <p:txBody>
          <a:bodyPr wrap="square" lIns="0" tIns="0" rIns="0" bIns="0" anchor="t">
            <a:spAutoFit/>
          </a:bodyPr>
          <a:lstStyle/>
          <a:p>
            <a:pPr algn="l">
              <a:lnSpc>
                <a:spcPct val="108000"/>
              </a:lnSpc>
              <a:spcBef>
                <a:spcPts val="0"/>
              </a:spcBef>
              <a:spcAft>
                <a:spcPts val="500"/>
              </a:spcAft>
            </a:pPr>
            <a:r>
              <a:rPr sz="1700" b="1">
                <a:solidFill>
                  <a:srgbClr val="172C43"/>
                </a:solidFill>
                <a:latin typeface="Arial"/>
                <a:hlinkClick r:id="rId4"/>
              </a:rPr>
              <a:t>[2] K3s — Lightweight Kubernetes</a:t>
            </a:r>
          </a:p>
        </p:txBody>
      </p:sp>
      <p:sp>
        <p:nvSpPr>
          <p:cNvPr id="11" name="TextBox 10"/>
          <p:cNvSpPr txBox="1"/>
          <p:nvPr/>
        </p:nvSpPr>
        <p:spPr>
          <a:xfrm>
            <a:off x="694944" y="3630168"/>
            <a:ext cx="5138928" cy="393192"/>
          </a:xfrm>
          <a:prstGeom prst="rect">
            <a:avLst/>
          </a:prstGeom>
          <a:noFill/>
        </p:spPr>
        <p:txBody>
          <a:bodyPr wrap="square" lIns="0" tIns="0" rIns="0" bIns="0" anchor="t">
            <a:spAutoFit/>
          </a:bodyPr>
          <a:lstStyle/>
          <a:p>
            <a:pPr algn="l">
              <a:lnSpc>
                <a:spcPct val="108000"/>
              </a:lnSpc>
              <a:spcBef>
                <a:spcPts val="0"/>
              </a:spcBef>
              <a:spcAft>
                <a:spcPts val="500"/>
              </a:spcAft>
            </a:pPr>
            <a:r>
              <a:rPr sz="1050" b="0">
                <a:solidFill>
                  <a:srgbClr val="2457D6"/>
                </a:solidFill>
                <a:latin typeface="Arial"/>
                <a:hlinkClick r:id="rId4"/>
              </a:rPr>
              <a:t>https://docs.k3s.io/</a:t>
            </a:r>
          </a:p>
        </p:txBody>
      </p:sp>
      <p:sp>
        <p:nvSpPr>
          <p:cNvPr id="12" name="TextBox 11"/>
          <p:cNvSpPr txBox="1"/>
          <p:nvPr/>
        </p:nvSpPr>
        <p:spPr>
          <a:xfrm>
            <a:off x="694944" y="4096512"/>
            <a:ext cx="5212080" cy="393192"/>
          </a:xfrm>
          <a:prstGeom prst="rect">
            <a:avLst/>
          </a:prstGeom>
          <a:noFill/>
        </p:spPr>
        <p:txBody>
          <a:bodyPr wrap="square" lIns="0" tIns="0" rIns="0" bIns="0" anchor="t">
            <a:spAutoFit/>
          </a:bodyPr>
          <a:lstStyle/>
          <a:p>
            <a:pPr algn="l">
              <a:lnSpc>
                <a:spcPct val="108000"/>
              </a:lnSpc>
              <a:spcBef>
                <a:spcPts val="0"/>
              </a:spcBef>
              <a:spcAft>
                <a:spcPts val="500"/>
              </a:spcAft>
            </a:pPr>
            <a:r>
              <a:rPr sz="1700" b="1" dirty="0">
                <a:solidFill>
                  <a:srgbClr val="172C43"/>
                </a:solidFill>
                <a:latin typeface="Arial"/>
                <a:hlinkClick r:id="rId5"/>
              </a:rPr>
              <a:t>[3] Coolify — What is Coolify?</a:t>
            </a:r>
          </a:p>
        </p:txBody>
      </p:sp>
      <p:sp>
        <p:nvSpPr>
          <p:cNvPr id="13" name="TextBox 12"/>
          <p:cNvSpPr txBox="1"/>
          <p:nvPr/>
        </p:nvSpPr>
        <p:spPr>
          <a:xfrm>
            <a:off x="694944" y="4489704"/>
            <a:ext cx="5138928" cy="393192"/>
          </a:xfrm>
          <a:prstGeom prst="rect">
            <a:avLst/>
          </a:prstGeom>
          <a:noFill/>
        </p:spPr>
        <p:txBody>
          <a:bodyPr wrap="square" lIns="0" tIns="0" rIns="0" bIns="0" anchor="t">
            <a:spAutoFit/>
          </a:bodyPr>
          <a:lstStyle/>
          <a:p>
            <a:pPr algn="l">
              <a:lnSpc>
                <a:spcPct val="108000"/>
              </a:lnSpc>
              <a:spcBef>
                <a:spcPts val="0"/>
              </a:spcBef>
              <a:spcAft>
                <a:spcPts val="500"/>
              </a:spcAft>
            </a:pPr>
            <a:r>
              <a:rPr sz="1050" b="0" dirty="0">
                <a:solidFill>
                  <a:srgbClr val="2457D6"/>
                </a:solidFill>
                <a:latin typeface="Arial"/>
                <a:hlinkClick r:id="rId5"/>
              </a:rPr>
              <a:t>https://coolify.io/docs/core/what-is-coolify</a:t>
            </a:r>
          </a:p>
        </p:txBody>
      </p:sp>
      <p:sp>
        <p:nvSpPr>
          <p:cNvPr id="14" name="TextBox 13"/>
          <p:cNvSpPr txBox="1"/>
          <p:nvPr/>
        </p:nvSpPr>
        <p:spPr>
          <a:xfrm>
            <a:off x="694944" y="4956048"/>
            <a:ext cx="5212080" cy="393192"/>
          </a:xfrm>
          <a:prstGeom prst="rect">
            <a:avLst/>
          </a:prstGeom>
          <a:noFill/>
        </p:spPr>
        <p:txBody>
          <a:bodyPr wrap="square" lIns="0" tIns="0" rIns="0" bIns="0" anchor="t">
            <a:spAutoFit/>
          </a:bodyPr>
          <a:lstStyle/>
          <a:p>
            <a:pPr algn="l">
              <a:lnSpc>
                <a:spcPct val="108000"/>
              </a:lnSpc>
              <a:spcBef>
                <a:spcPts val="0"/>
              </a:spcBef>
              <a:spcAft>
                <a:spcPts val="500"/>
              </a:spcAft>
            </a:pPr>
            <a:r>
              <a:rPr sz="1700" b="1">
                <a:solidFill>
                  <a:srgbClr val="172C43"/>
                </a:solidFill>
                <a:latin typeface="Arial"/>
                <a:hlinkClick r:id="rId6"/>
              </a:rPr>
              <a:t>[4] Portainer — Add a Kubernetes application</a:t>
            </a:r>
          </a:p>
        </p:txBody>
      </p:sp>
      <p:sp>
        <p:nvSpPr>
          <p:cNvPr id="15" name="TextBox 14"/>
          <p:cNvSpPr txBox="1"/>
          <p:nvPr/>
        </p:nvSpPr>
        <p:spPr>
          <a:xfrm>
            <a:off x="694944" y="5349240"/>
            <a:ext cx="5138928" cy="393192"/>
          </a:xfrm>
          <a:prstGeom prst="rect">
            <a:avLst/>
          </a:prstGeom>
          <a:noFill/>
        </p:spPr>
        <p:txBody>
          <a:bodyPr wrap="square" lIns="0" tIns="0" rIns="0" bIns="0" anchor="t">
            <a:spAutoFit/>
          </a:bodyPr>
          <a:lstStyle/>
          <a:p>
            <a:pPr algn="l">
              <a:lnSpc>
                <a:spcPct val="108000"/>
              </a:lnSpc>
              <a:spcBef>
                <a:spcPts val="0"/>
              </a:spcBef>
              <a:spcAft>
                <a:spcPts val="500"/>
              </a:spcAft>
            </a:pPr>
            <a:r>
              <a:rPr sz="1050" b="0" dirty="0">
                <a:solidFill>
                  <a:srgbClr val="2457D6"/>
                </a:solidFill>
                <a:latin typeface="Arial"/>
                <a:hlinkClick r:id="rId6"/>
              </a:rPr>
              <a:t>https://docs.portainer.io/user/kubernetes/applications/add</a:t>
            </a:r>
          </a:p>
        </p:txBody>
      </p:sp>
      <p:sp>
        <p:nvSpPr>
          <p:cNvPr id="16" name="TextBox 15"/>
          <p:cNvSpPr txBox="1"/>
          <p:nvPr/>
        </p:nvSpPr>
        <p:spPr>
          <a:xfrm>
            <a:off x="6291072" y="2377440"/>
            <a:ext cx="5212080" cy="393192"/>
          </a:xfrm>
          <a:prstGeom prst="rect">
            <a:avLst/>
          </a:prstGeom>
          <a:noFill/>
        </p:spPr>
        <p:txBody>
          <a:bodyPr wrap="square" lIns="0" tIns="0" rIns="0" bIns="0" anchor="t">
            <a:spAutoFit/>
          </a:bodyPr>
          <a:lstStyle/>
          <a:p>
            <a:pPr algn="l">
              <a:lnSpc>
                <a:spcPct val="108000"/>
              </a:lnSpc>
              <a:spcBef>
                <a:spcPts val="0"/>
              </a:spcBef>
              <a:spcAft>
                <a:spcPts val="500"/>
              </a:spcAft>
            </a:pPr>
            <a:r>
              <a:rPr sz="1700" b="1">
                <a:solidFill>
                  <a:srgbClr val="172C43"/>
                </a:solidFill>
                <a:latin typeface="Arial"/>
                <a:hlinkClick r:id="rId7"/>
              </a:rPr>
              <a:t>[5] Red Hat — OpenShift Container Platform</a:t>
            </a:r>
          </a:p>
        </p:txBody>
      </p:sp>
      <p:sp>
        <p:nvSpPr>
          <p:cNvPr id="17" name="TextBox 16"/>
          <p:cNvSpPr txBox="1"/>
          <p:nvPr/>
        </p:nvSpPr>
        <p:spPr>
          <a:xfrm>
            <a:off x="6291072" y="2770632"/>
            <a:ext cx="5138928" cy="393192"/>
          </a:xfrm>
          <a:prstGeom prst="rect">
            <a:avLst/>
          </a:prstGeom>
          <a:noFill/>
        </p:spPr>
        <p:txBody>
          <a:bodyPr wrap="square" lIns="0" tIns="0" rIns="0" bIns="0" anchor="t">
            <a:spAutoFit/>
          </a:bodyPr>
          <a:lstStyle/>
          <a:p>
            <a:pPr algn="l">
              <a:lnSpc>
                <a:spcPct val="108000"/>
              </a:lnSpc>
              <a:spcBef>
                <a:spcPts val="0"/>
              </a:spcBef>
              <a:spcAft>
                <a:spcPts val="500"/>
              </a:spcAft>
            </a:pPr>
            <a:r>
              <a:rPr sz="1050" b="0">
                <a:solidFill>
                  <a:srgbClr val="2457D6"/>
                </a:solidFill>
                <a:latin typeface="Arial"/>
                <a:hlinkClick r:id="rId7"/>
              </a:rPr>
              <a:t>https://www.redhat.com/en/technologies/cloud-computing/openshift/container-platform</a:t>
            </a:r>
          </a:p>
        </p:txBody>
      </p:sp>
      <p:sp>
        <p:nvSpPr>
          <p:cNvPr id="18" name="TextBox 17"/>
          <p:cNvSpPr txBox="1"/>
          <p:nvPr/>
        </p:nvSpPr>
        <p:spPr>
          <a:xfrm>
            <a:off x="6291072" y="3236976"/>
            <a:ext cx="5212080" cy="393192"/>
          </a:xfrm>
          <a:prstGeom prst="rect">
            <a:avLst/>
          </a:prstGeom>
          <a:noFill/>
        </p:spPr>
        <p:txBody>
          <a:bodyPr wrap="square" lIns="0" tIns="0" rIns="0" bIns="0" anchor="t">
            <a:spAutoFit/>
          </a:bodyPr>
          <a:lstStyle/>
          <a:p>
            <a:pPr algn="l">
              <a:lnSpc>
                <a:spcPct val="108000"/>
              </a:lnSpc>
              <a:spcBef>
                <a:spcPts val="0"/>
              </a:spcBef>
              <a:spcAft>
                <a:spcPts val="500"/>
              </a:spcAft>
            </a:pPr>
            <a:r>
              <a:rPr sz="1700" b="1">
                <a:solidFill>
                  <a:srgbClr val="172C43"/>
                </a:solidFill>
                <a:latin typeface="Arial"/>
                <a:hlinkClick r:id="rId8"/>
              </a:rPr>
              <a:t>[6] K3s — Installation requirements</a:t>
            </a:r>
          </a:p>
        </p:txBody>
      </p:sp>
      <p:sp>
        <p:nvSpPr>
          <p:cNvPr id="19" name="TextBox 18"/>
          <p:cNvSpPr txBox="1"/>
          <p:nvPr/>
        </p:nvSpPr>
        <p:spPr>
          <a:xfrm>
            <a:off x="6291072" y="3630168"/>
            <a:ext cx="5138928" cy="393192"/>
          </a:xfrm>
          <a:prstGeom prst="rect">
            <a:avLst/>
          </a:prstGeom>
          <a:noFill/>
        </p:spPr>
        <p:txBody>
          <a:bodyPr wrap="square" lIns="0" tIns="0" rIns="0" bIns="0" anchor="t">
            <a:spAutoFit/>
          </a:bodyPr>
          <a:lstStyle/>
          <a:p>
            <a:pPr algn="l">
              <a:lnSpc>
                <a:spcPct val="108000"/>
              </a:lnSpc>
              <a:spcBef>
                <a:spcPts val="0"/>
              </a:spcBef>
              <a:spcAft>
                <a:spcPts val="500"/>
              </a:spcAft>
            </a:pPr>
            <a:r>
              <a:rPr sz="1050" b="0">
                <a:solidFill>
                  <a:srgbClr val="2457D6"/>
                </a:solidFill>
                <a:latin typeface="Arial"/>
                <a:hlinkClick r:id="rId8"/>
              </a:rPr>
              <a:t>https://docs.k3s.io/installation/requirements</a:t>
            </a:r>
          </a:p>
        </p:txBody>
      </p:sp>
      <p:sp>
        <p:nvSpPr>
          <p:cNvPr id="20" name="TextBox 19"/>
          <p:cNvSpPr txBox="1"/>
          <p:nvPr/>
        </p:nvSpPr>
        <p:spPr>
          <a:xfrm>
            <a:off x="6291072" y="4096512"/>
            <a:ext cx="5212080" cy="393192"/>
          </a:xfrm>
          <a:prstGeom prst="rect">
            <a:avLst/>
          </a:prstGeom>
          <a:noFill/>
        </p:spPr>
        <p:txBody>
          <a:bodyPr wrap="square" lIns="0" tIns="0" rIns="0" bIns="0" anchor="t">
            <a:spAutoFit/>
          </a:bodyPr>
          <a:lstStyle/>
          <a:p>
            <a:pPr algn="l">
              <a:lnSpc>
                <a:spcPct val="108000"/>
              </a:lnSpc>
              <a:spcBef>
                <a:spcPts val="0"/>
              </a:spcBef>
              <a:spcAft>
                <a:spcPts val="500"/>
              </a:spcAft>
            </a:pPr>
            <a:r>
              <a:rPr sz="1700" b="1">
                <a:solidFill>
                  <a:srgbClr val="172C43"/>
                </a:solidFill>
                <a:latin typeface="Arial"/>
                <a:hlinkClick r:id="rId9"/>
              </a:rPr>
              <a:t>[7] Project — Design and verification evidence</a:t>
            </a:r>
          </a:p>
        </p:txBody>
      </p:sp>
      <p:sp>
        <p:nvSpPr>
          <p:cNvPr id="21" name="TextBox 20"/>
          <p:cNvSpPr txBox="1"/>
          <p:nvPr/>
        </p:nvSpPr>
        <p:spPr>
          <a:xfrm>
            <a:off x="6291072" y="4489704"/>
            <a:ext cx="5138928" cy="393192"/>
          </a:xfrm>
          <a:prstGeom prst="rect">
            <a:avLst/>
          </a:prstGeom>
          <a:noFill/>
        </p:spPr>
        <p:txBody>
          <a:bodyPr wrap="square" lIns="0" tIns="0" rIns="0" bIns="0" anchor="t">
            <a:spAutoFit/>
          </a:bodyPr>
          <a:lstStyle/>
          <a:p>
            <a:pPr algn="l">
              <a:lnSpc>
                <a:spcPct val="108000"/>
              </a:lnSpc>
              <a:spcBef>
                <a:spcPts val="0"/>
              </a:spcBef>
              <a:spcAft>
                <a:spcPts val="500"/>
              </a:spcAft>
            </a:pPr>
            <a:r>
              <a:rPr sz="1050" b="0">
                <a:solidFill>
                  <a:srgbClr val="2457D6"/>
                </a:solidFill>
                <a:latin typeface="Arial"/>
                <a:hlinkClick r:id="rId9"/>
              </a:rPr>
              <a:t>https://github.com/piotrek1459/k8s-internal-platform</a:t>
            </a:r>
          </a:p>
        </p:txBody>
      </p:sp>
      <p:sp>
        <p:nvSpPr>
          <p:cNvPr id="22" name="TextBox 21"/>
          <p:cNvSpPr txBox="1"/>
          <p:nvPr/>
        </p:nvSpPr>
        <p:spPr>
          <a:xfrm>
            <a:off x="731520" y="5980176"/>
            <a:ext cx="10789920" cy="228600"/>
          </a:xfrm>
          <a:prstGeom prst="rect">
            <a:avLst/>
          </a:prstGeom>
          <a:noFill/>
        </p:spPr>
        <p:txBody>
          <a:bodyPr wrap="square" lIns="0" tIns="0" rIns="0" bIns="0" anchor="t">
            <a:spAutoFit/>
          </a:bodyPr>
          <a:lstStyle/>
          <a:p>
            <a:pPr algn="l">
              <a:lnSpc>
                <a:spcPct val="108000"/>
              </a:lnSpc>
              <a:spcBef>
                <a:spcPts val="0"/>
              </a:spcBef>
              <a:spcAft>
                <a:spcPts val="500"/>
              </a:spcAft>
            </a:pPr>
            <a:r>
              <a:rPr sz="1200" b="0">
                <a:solidFill>
                  <a:srgbClr val="53677C"/>
                </a:solidFill>
                <a:latin typeface="Arial"/>
              </a:rPr>
              <a:t>Project documents: app-plan.md · architecture.md · milestones.md · local verification reports</a:t>
            </a:r>
          </a:p>
        </p:txBody>
      </p:sp>
      <p:sp>
        <p:nvSpPr>
          <p:cNvPr id="23" name="TextBox 22"/>
          <p:cNvSpPr txBox="1"/>
          <p:nvPr/>
        </p:nvSpPr>
        <p:spPr>
          <a:xfrm>
            <a:off x="6291072" y="4960000"/>
            <a:ext cx="5300000" cy="1000000"/>
          </a:xfrm>
          <a:prstGeom prst="rect">
            <a:avLst/>
          </a:prstGeom>
          <a:noFill/>
        </p:spPr>
        <p:txBody>
          <a:bodyPr wrap="square" lIns="0" tIns="0" rIns="0" bIns="0" anchor="t">
            <a:spAutoFit/>
          </a:bodyPr>
          <a:lstStyle/>
          <a:p>
            <a:pPr algn="l">
              <a:spcAft>
                <a:spcPts val="300"/>
              </a:spcAft>
            </a:pPr>
            <a:r>
              <a:rPr sz="1000" b="1" spc="120">
                <a:solidFill>
                  <a:srgbClr val="087F8C"/>
                </a:solidFill>
                <a:latin typeface="Arial"/>
              </a:rPr>
              <a:t>PEER-REVIEWED &amp; RESEARCH SOURCES</a:t>
            </a:r>
          </a:p>
          <a:p>
            <a:pPr algn="l">
              <a:spcAft>
                <a:spcPts val="300"/>
              </a:spcAft>
            </a:pPr>
            <a:r>
              <a:rPr sz="900" b="0">
                <a:solidFill>
                  <a:srgbClr val="53677C"/>
                </a:solidFill>
                <a:latin typeface="Arial"/>
              </a:rPr>
              <a:t>[8] Burns et al. — Borg, Omega, and Kubernetes. ACM Queue, 2016.</a:t>
            </a:r>
          </a:p>
          <a:p>
            <a:pPr algn="l">
              <a:spcAft>
                <a:spcPts val="300"/>
              </a:spcAft>
            </a:pPr>
            <a:r>
              <a:rPr sz="900" b="0">
                <a:solidFill>
                  <a:srgbClr val="53677C"/>
                </a:solidFill>
                <a:latin typeface="Arial"/>
              </a:rPr>
              <a:t>[9] Felter et al. — Performance Comparison of VMs and Linux Containers. IEEE ISPASS, 2015.</a:t>
            </a:r>
          </a:p>
          <a:p>
            <a:pPr algn="l">
              <a:spcAft>
                <a:spcPts val="300"/>
              </a:spcAft>
            </a:pPr>
            <a:r>
              <a:rPr sz="900" b="0">
                <a:solidFill>
                  <a:srgbClr val="53677C"/>
                </a:solidFill>
                <a:latin typeface="Arial"/>
              </a:rPr>
              <a:t>[10] Morabito — Virtualization on IoT Edge Devices with Containers. IEEE Access, 2017.</a:t>
            </a:r>
          </a:p>
          <a:p>
            <a:pPr algn="l">
              <a:spcAft>
                <a:spcPts val="300"/>
              </a:spcAft>
            </a:pPr>
            <a:r>
              <a:rPr sz="900" b="0">
                <a:solidFill>
                  <a:srgbClr val="53677C"/>
                </a:solidFill>
                <a:latin typeface="Arial"/>
              </a:rPr>
              <a:t>[11] Kratzke &amp; Quint — Understanding cloud-native applications. J. Systems &amp; Software, 2017.</a:t>
            </a:r>
          </a:p>
          <a:p>
            <a:pPr algn="l">
              <a:spcAft>
                <a:spcPts val="300"/>
              </a:spcAft>
            </a:pPr>
            <a:r>
              <a:rPr sz="900" b="0">
                <a:solidFill>
                  <a:srgbClr val="53677C"/>
                </a:solidFill>
                <a:latin typeface="Arial"/>
              </a:rPr>
              <a:t>[12] Bernstein — Containers and Cloud: LXC to Docker to Kubernetes. IEEE Cloud Computing, 2014.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4ba9367-eb51-4860-91fd-089945178738}" enabled="1" method="Privilege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14</TotalTime>
  <Words>5251</Words>
  <Application>Microsoft Macintosh PowerPoint</Application>
  <PresentationFormat>Widescreen</PresentationFormat>
  <Paragraphs>458</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implementation of Kubernetes platform for containerized application deployment</dc:title>
  <dc:subject>State of the art, motivation, architecture and evaluation</dc:subject>
  <dc:creator>Piotr</dc:creator>
  <cp:keywords>Kubernetes, K3s, engineering thesis, self-hosted, application platform</cp:keywords>
  <dc:description>generated using python-pptx</dc:description>
  <cp:lastModifiedBy>Krupinski, Piotr</cp:lastModifiedBy>
  <cp:revision>5</cp:revision>
  <dcterms:created xsi:type="dcterms:W3CDTF">2013-01-27T09:14:16Z</dcterms:created>
  <dcterms:modified xsi:type="dcterms:W3CDTF">2026-10-27T20:07:03Z</dcterms:modified>
  <cp:category/>
</cp:coreProperties>
</file>